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DB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87F78"/>
                </a:solidFill>
                <a:latin typeface="Aptos"/>
              </a:rPr>
              <a:t>BIOCLEAN  /  SCHOOL &amp; COMMUNITY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566928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0B1F2A"/>
                </a:solidFill>
                <a:latin typeface="Aptos"/>
              </a:rPr>
              <a:t>Bioclean Smart
Biogas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615184"/>
            <a:ext cx="5303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87F78"/>
                </a:solidFill>
                <a:latin typeface="Aptos"/>
              </a:rPr>
              <a:t>Combating air pollution in schools and communities in Enugu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3493008"/>
            <a:ext cx="5303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717A"/>
                </a:solidFill>
                <a:latin typeface="Aptos"/>
              </a:rPr>
              <a:t>Creating a healthy environment for better learning and healthier living.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4663440"/>
            <a:ext cx="4754880" cy="786384"/>
          </a:xfrm>
          <a:prstGeom prst="roundRect">
            <a:avLst/>
          </a:prstGeom>
          <a:solidFill>
            <a:srgbClr val="E8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482803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55717A"/>
                </a:solidFill>
                <a:latin typeface="Aptos"/>
              </a:rPr>
              <a:t>Presented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5065776"/>
            <a:ext cx="4251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B1F2A"/>
                </a:solidFill>
                <a:latin typeface="Aptos"/>
              </a:rPr>
              <a:t>Chinwuba Chinwendu Jennifer  ·  Head Girl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5330952"/>
            <a:ext cx="4114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5717A"/>
                </a:solidFill>
                <a:latin typeface="Aptos"/>
              </a:rPr>
              <a:t>Federal Government College, Enugu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777240"/>
            <a:ext cx="4983480" cy="5440680"/>
          </a:xfrm>
          <a:prstGeom prst="roundRect">
            <a:avLst/>
          </a:prstGeom>
          <a:solidFill>
            <a:srgbClr val="0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39712" y="1097280"/>
            <a:ext cx="3474720" cy="3474720"/>
          </a:xfrm>
          <a:prstGeom prst="ellipse">
            <a:avLst/>
          </a:prstGeom>
          <a:solidFill>
            <a:srgbClr val="123C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87184" y="14173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9DE5C7"/>
                </a:solidFill>
                <a:latin typeface="Aptos"/>
              </a:rPr>
              <a:t>WASTE  →  ENERGY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01433" y="4213098"/>
            <a:ext cx="4258818" cy="368046"/>
          </a:xfrm>
          <a:prstGeom prst="rect">
            <a:avLst/>
          </a:prstGeom>
          <a:solidFill>
            <a:srgbClr val="12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59168" y="2635758"/>
            <a:ext cx="1629918" cy="1336532"/>
          </a:xfrm>
          <a:prstGeom prst="ellipse">
            <a:avLst/>
          </a:prstGeom>
          <a:solidFill>
            <a:srgbClr val="0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22261" y="2541117"/>
            <a:ext cx="1503730" cy="1173540"/>
          </a:xfrm>
          <a:prstGeom prst="ellipse">
            <a:avLst/>
          </a:prstGeom>
          <a:solidFill>
            <a:srgbClr val="087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416698" y="2740913"/>
            <a:ext cx="277086" cy="130393"/>
          </a:xfrm>
          <a:prstGeom prst="ellipse">
            <a:avLst/>
          </a:prstGeom>
          <a:solidFill>
            <a:srgbClr val="78D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21040" y="2267712"/>
            <a:ext cx="1840229" cy="1508988"/>
          </a:xfrm>
          <a:prstGeom prst="ellipse">
            <a:avLst/>
          </a:prstGeom>
          <a:solidFill>
            <a:srgbClr val="0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84133" y="2173071"/>
            <a:ext cx="1714042" cy="1324965"/>
          </a:xfrm>
          <a:prstGeom prst="ellipse">
            <a:avLst/>
          </a:prstGeom>
          <a:solidFill>
            <a:srgbClr val="087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78570" y="2372868"/>
            <a:ext cx="312839" cy="147218"/>
          </a:xfrm>
          <a:prstGeom prst="ellipse">
            <a:avLst/>
          </a:prstGeom>
          <a:solidFill>
            <a:srgbClr val="78D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740646" y="2740914"/>
            <a:ext cx="1419606" cy="1164076"/>
          </a:xfrm>
          <a:prstGeom prst="ellipse">
            <a:avLst/>
          </a:prstGeom>
          <a:solidFill>
            <a:srgbClr val="0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803739" y="2646273"/>
            <a:ext cx="1293418" cy="1022116"/>
          </a:xfrm>
          <a:prstGeom prst="ellipse">
            <a:avLst/>
          </a:prstGeom>
          <a:solidFill>
            <a:srgbClr val="087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98176" y="2846070"/>
            <a:ext cx="241333" cy="113568"/>
          </a:xfrm>
          <a:prstGeom prst="ellipse">
            <a:avLst/>
          </a:prstGeom>
          <a:solidFill>
            <a:srgbClr val="78D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87050" y="3161538"/>
            <a:ext cx="126187" cy="1051560"/>
          </a:xfrm>
          <a:prstGeom prst="rect">
            <a:avLst/>
          </a:prstGeom>
          <a:solidFill>
            <a:srgbClr val="F2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739628" y="3129991"/>
            <a:ext cx="504748" cy="126187"/>
          </a:xfrm>
          <a:prstGeom prst="rect">
            <a:avLst/>
          </a:prstGeom>
          <a:solidFill>
            <a:srgbClr val="F2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0" y="5138928"/>
            <a:ext cx="3246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ptos"/>
              </a:rPr>
              <a:t>Cleaner air
stronger communities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519672"/>
            <a:ext cx="11155680" cy="10972"/>
          </a:xfrm>
          <a:prstGeom prst="rect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657453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5717A"/>
                </a:solidFill>
                <a:latin typeface="Aptos"/>
              </a:rPr>
              <a:t>BIOCLEAN SMART BIOGAS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087F78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87F78"/>
                </a:solidFill>
                <a:latin typeface="Apto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B1F2A"/>
                </a:solidFill>
                <a:latin typeface="Aptos"/>
              </a:rPr>
              <a:t>Why air pollution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60704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717A"/>
                </a:solidFill>
                <a:latin typeface="Aptos"/>
              </a:rPr>
              <a:t>Pollution affects health, learning, household costs and the balance of nature.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9672"/>
            <a:ext cx="11155680" cy="10972"/>
          </a:xfrm>
          <a:prstGeom prst="rect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7453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5717A"/>
                </a:solidFill>
                <a:latin typeface="Aptos"/>
              </a:rPr>
              <a:t>BIOCLEAN SMART BIOGAS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47104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087F78"/>
                </a:solidFill>
                <a:latin typeface="Aptos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81328"/>
            <a:ext cx="2743200" cy="4370832"/>
          </a:xfrm>
          <a:prstGeom prst="roundRect">
            <a:avLst/>
          </a:prstGeom>
          <a:solidFill>
            <a:srgbClr val="0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2880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500" b="1" i="0">
                <a:solidFill>
                  <a:srgbClr val="F2B544"/>
                </a:solidFill>
                <a:latin typeface="Aptos"/>
              </a:rPr>
              <a:t>6.7M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Aptos"/>
              </a:rPr>
              <a:t>premature deaths annually
cited in the supplied draft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" y="3520440"/>
            <a:ext cx="2148840" cy="1572768"/>
          </a:xfrm>
          <a:prstGeom prst="roundRect">
            <a:avLst/>
          </a:prstGeom>
          <a:solidFill>
            <a:srgbClr val="173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3730752"/>
            <a:ext cx="1783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8F3E8"/>
                </a:solidFill>
                <a:latin typeface="Aptos"/>
              </a:rPr>
              <a:t>Air pollution is the release of substances into the atmosphere in quantities that can harm human health, modify the climate and disturb nature.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9312" y="1481328"/>
            <a:ext cx="3611880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39312" y="1481328"/>
            <a:ext cx="64008" cy="1307592"/>
          </a:xfrm>
          <a:prstGeom prst="rect">
            <a:avLst/>
          </a:prstGeom>
          <a:solidFill>
            <a:srgbClr val="087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840480" y="1664208"/>
            <a:ext cx="347472" cy="347472"/>
          </a:xfrm>
          <a:prstGeom prst="ellipse">
            <a:avLst/>
          </a:prstGeom>
          <a:solidFill>
            <a:srgbClr val="087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0" y="1655064"/>
            <a:ext cx="3474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9392" y="164592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B1F2A"/>
                </a:solidFill>
                <a:latin typeface="Aptos"/>
              </a:rPr>
              <a:t>PM2.5 / PM10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1993392"/>
            <a:ext cx="2715768" cy="685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0" i="0">
                <a:solidFill>
                  <a:srgbClr val="55717A"/>
                </a:solidFill>
                <a:latin typeface="Aptos"/>
              </a:rPr>
              <a:t>Tiny particles from vehicles and generators; can reach the lungs.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71231" y="1481328"/>
            <a:ext cx="3611880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71231" y="1481328"/>
            <a:ext cx="64008" cy="1307592"/>
          </a:xfrm>
          <a:prstGeom prst="rect">
            <a:avLst/>
          </a:prstGeom>
          <a:solidFill>
            <a:srgbClr val="D96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0" y="1664208"/>
            <a:ext cx="347472" cy="347472"/>
          </a:xfrm>
          <a:prstGeom prst="ellipse">
            <a:avLst/>
          </a:prstGeom>
          <a:solidFill>
            <a:srgbClr val="D96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1655064"/>
            <a:ext cx="3474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1" y="164592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B1F2A"/>
                </a:solidFill>
                <a:latin typeface="Aptos"/>
              </a:rPr>
              <a:t>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1" y="1993392"/>
            <a:ext cx="2715768" cy="685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0" i="0">
                <a:solidFill>
                  <a:srgbClr val="55717A"/>
                </a:solidFill>
                <a:latin typeface="Aptos"/>
              </a:rPr>
              <a:t>Carbon monoxide from incomplete burning of coal, firewood, diesel and petrol.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39312" y="3044952"/>
            <a:ext cx="3611880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39312" y="3044952"/>
            <a:ext cx="64008" cy="1307592"/>
          </a:xfrm>
          <a:prstGeom prst="rect">
            <a:avLst/>
          </a:prstGeom>
          <a:solidFill>
            <a:srgbClr val="F2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40480" y="3227832"/>
            <a:ext cx="347472" cy="347472"/>
          </a:xfrm>
          <a:prstGeom prst="ellipse">
            <a:avLst/>
          </a:prstGeom>
          <a:solidFill>
            <a:srgbClr val="F2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0" y="3218688"/>
            <a:ext cx="3474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3209544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B1F2A"/>
                </a:solidFill>
                <a:latin typeface="Aptos"/>
              </a:rPr>
              <a:t>SO₂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9392" y="3557016"/>
            <a:ext cx="2715768" cy="685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0" i="0">
                <a:solidFill>
                  <a:srgbClr val="55717A"/>
                </a:solidFill>
                <a:latin typeface="Aptos"/>
              </a:rPr>
              <a:t>Sulphur dioxide from gas flaring and diesel.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71231" y="3044952"/>
            <a:ext cx="3611880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571231" y="3044952"/>
            <a:ext cx="64008" cy="1307592"/>
          </a:xfrm>
          <a:prstGeom prst="rect">
            <a:avLst/>
          </a:prstGeom>
          <a:solidFill>
            <a:srgbClr val="3E8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72400" y="3227832"/>
            <a:ext cx="347472" cy="347472"/>
          </a:xfrm>
          <a:prstGeom prst="ellipse">
            <a:avLst/>
          </a:prstGeom>
          <a:solidFill>
            <a:srgbClr val="3E8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0" y="3218688"/>
            <a:ext cx="3474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1" y="3209544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B1F2A"/>
                </a:solidFill>
                <a:latin typeface="Aptos"/>
              </a:rPr>
              <a:t>NO₂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11" y="3557016"/>
            <a:ext cx="2715768" cy="685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0" i="0">
                <a:solidFill>
                  <a:srgbClr val="55717A"/>
                </a:solidFill>
                <a:latin typeface="Aptos"/>
              </a:rPr>
              <a:t>Nitrogen dioxide from vehicle engines, generators and gas-flaring industries.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39312" y="4608576"/>
            <a:ext cx="3611880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39312" y="4608576"/>
            <a:ext cx="64008" cy="1307592"/>
          </a:xfrm>
          <a:prstGeom prst="rect">
            <a:avLst/>
          </a:prstGeom>
          <a:solidFill>
            <a:srgbClr val="12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40480" y="4791456"/>
            <a:ext cx="347472" cy="347472"/>
          </a:xfrm>
          <a:prstGeom prst="ellipse">
            <a:avLst/>
          </a:prstGeom>
          <a:solidFill>
            <a:srgbClr val="12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40480" y="4782312"/>
            <a:ext cx="3474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79392" y="4773168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B1F2A"/>
                </a:solidFill>
                <a:latin typeface="Aptos"/>
              </a:rPr>
              <a:t>O₃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79392" y="5120640"/>
            <a:ext cx="2715768" cy="685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0" i="0">
                <a:solidFill>
                  <a:srgbClr val="55717A"/>
                </a:solidFill>
                <a:latin typeface="Aptos"/>
              </a:rPr>
              <a:t>Ground-level ozone, a major part of smog formed when sunlight reacts with pollutants.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571231" y="4608576"/>
            <a:ext cx="3611880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71231" y="4608576"/>
            <a:ext cx="64008" cy="1307592"/>
          </a:xfrm>
          <a:prstGeom prst="rect">
            <a:avLst/>
          </a:prstGeom>
          <a:solidFill>
            <a:srgbClr val="087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72400" y="4791456"/>
            <a:ext cx="347472" cy="347472"/>
          </a:xfrm>
          <a:prstGeom prst="ellipse">
            <a:avLst/>
          </a:prstGeom>
          <a:solidFill>
            <a:srgbClr val="087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0" y="4782312"/>
            <a:ext cx="3474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11311" y="4773168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B1F2A"/>
                </a:solidFill>
                <a:latin typeface="Aptos"/>
              </a:rPr>
              <a:t>CH₄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11311" y="5120640"/>
            <a:ext cx="2715768" cy="685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0" i="0">
                <a:solidFill>
                  <a:srgbClr val="55717A"/>
                </a:solidFill>
                <a:latin typeface="Aptos"/>
              </a:rPr>
              <a:t>Methane from sewage, decomposing waste and gas flaring; contributes to ground-level ozone.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6519672"/>
            <a:ext cx="11155680" cy="10972"/>
          </a:xfrm>
          <a:prstGeom prst="rect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0352" y="657453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5717A"/>
                </a:solidFill>
                <a:latin typeface="Aptos"/>
              </a:rPr>
              <a:t>BIOCLEAN SMART BIOGAS 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09960" y="6547104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087F78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87F78"/>
                </a:solidFill>
                <a:latin typeface="Aptos"/>
              </a:rPr>
              <a:t>THE LOCAL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B1F2A"/>
                </a:solidFill>
                <a:latin typeface="Aptos"/>
              </a:rPr>
              <a:t>Current situation in my school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60704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717A"/>
                </a:solidFill>
                <a:latin typeface="Aptos"/>
              </a:rPr>
              <a:t>What students experience around hostels, open dumps and classrooms.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9672"/>
            <a:ext cx="11155680" cy="10972"/>
          </a:xfrm>
          <a:prstGeom prst="rect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7453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5717A"/>
                </a:solidFill>
                <a:latin typeface="Aptos"/>
              </a:rPr>
              <a:t>BIOCLEAN SMART BIOGAS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47104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087F78"/>
                </a:solidFill>
                <a:latin typeface="Apto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3840480" cy="4462272"/>
          </a:xfrm>
          <a:prstGeom prst="roundRect">
            <a:avLst/>
          </a:prstGeom>
          <a:solidFill>
            <a:srgbClr val="E8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874519"/>
            <a:ext cx="320040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0B1F2A"/>
                </a:solidFill>
                <a:latin typeface="Aptos"/>
              </a:rPr>
              <a:t>A learning environment
under pressure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770632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87F78"/>
                </a:solidFill>
                <a:latin typeface="Aptos"/>
              </a:rPr>
              <a:t>Clean air is not a luxury. It is a learning condition.</a:t>
            </a:r>
          </a:p>
        </p:txBody>
      </p:sp>
      <p:sp>
        <p:nvSpPr>
          <p:cNvPr id="11" name="Oval 10"/>
          <p:cNvSpPr/>
          <p:nvPr/>
        </p:nvSpPr>
        <p:spPr>
          <a:xfrm>
            <a:off x="1051560" y="3822191"/>
            <a:ext cx="914400" cy="914400"/>
          </a:xfrm>
          <a:prstGeom prst="ellipse">
            <a:avLst/>
          </a:prstGeom>
          <a:solidFill>
            <a:srgbClr val="087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11680" y="3822191"/>
            <a:ext cx="914400" cy="914400"/>
          </a:xfrm>
          <a:prstGeom prst="ellipse">
            <a:avLst/>
          </a:prstGeom>
          <a:solidFill>
            <a:srgbClr val="087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44752" y="3675887"/>
            <a:ext cx="219456" cy="1417320"/>
          </a:xfrm>
          <a:prstGeom prst="rect">
            <a:avLst/>
          </a:prstGeom>
          <a:solidFill>
            <a:srgbClr val="0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523951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5717A"/>
                </a:solidFill>
                <a:latin typeface="Aptos"/>
              </a:rPr>
              <a:t>NH₃  ·  H₂S  ·  smoke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28032" y="1554480"/>
            <a:ext cx="6766560" cy="4462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187451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1F2A"/>
                </a:solidFill>
                <a:latin typeface="Aptos"/>
              </a:rPr>
              <a:t>Students report:</a:t>
            </a:r>
          </a:p>
        </p:txBody>
      </p:sp>
      <p:sp>
        <p:nvSpPr>
          <p:cNvPr id="17" name="Oval 16"/>
          <p:cNvSpPr/>
          <p:nvPr/>
        </p:nvSpPr>
        <p:spPr>
          <a:xfrm>
            <a:off x="5212080" y="2386584"/>
            <a:ext cx="118872" cy="118872"/>
          </a:xfrm>
          <a:prstGeom prst="ellipse">
            <a:avLst/>
          </a:prstGeom>
          <a:solidFill>
            <a:srgbClr val="D96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31536" y="2331720"/>
            <a:ext cx="563270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7313A"/>
                </a:solidFill>
                <a:latin typeface="Aptos"/>
              </a:rPr>
              <a:t>Drowsiness and nausea, especially within the hostels.</a:t>
            </a:r>
          </a:p>
        </p:txBody>
      </p:sp>
      <p:sp>
        <p:nvSpPr>
          <p:cNvPr id="19" name="Oval 18"/>
          <p:cNvSpPr/>
          <p:nvPr/>
        </p:nvSpPr>
        <p:spPr>
          <a:xfrm>
            <a:off x="5212080" y="2834640"/>
            <a:ext cx="118872" cy="118872"/>
          </a:xfrm>
          <a:prstGeom prst="ellipse">
            <a:avLst/>
          </a:prstGeom>
          <a:solidFill>
            <a:srgbClr val="D96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1536" y="2779776"/>
            <a:ext cx="5632704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7313A"/>
                </a:solidFill>
                <a:latin typeface="Aptos"/>
              </a:rPr>
              <a:t>Possible exposure to ammonia (NH₃) and hydrogen sulphide (H₂S) from sewage and open dumps.</a:t>
            </a:r>
          </a:p>
        </p:txBody>
      </p:sp>
      <p:sp>
        <p:nvSpPr>
          <p:cNvPr id="21" name="Oval 20"/>
          <p:cNvSpPr/>
          <p:nvPr/>
        </p:nvSpPr>
        <p:spPr>
          <a:xfrm>
            <a:off x="5212080" y="3493008"/>
            <a:ext cx="118872" cy="118872"/>
          </a:xfrm>
          <a:prstGeom prst="ellipse">
            <a:avLst/>
          </a:prstGeom>
          <a:solidFill>
            <a:srgbClr val="D96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31536" y="3438144"/>
            <a:ext cx="563270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7313A"/>
                </a:solidFill>
                <a:latin typeface="Aptos"/>
              </a:rPr>
              <a:t>Discomfort when smoke from burning waste is inhaled.</a:t>
            </a:r>
          </a:p>
        </p:txBody>
      </p:sp>
      <p:sp>
        <p:nvSpPr>
          <p:cNvPr id="23" name="Oval 22"/>
          <p:cNvSpPr/>
          <p:nvPr/>
        </p:nvSpPr>
        <p:spPr>
          <a:xfrm>
            <a:off x="5212080" y="3941063"/>
            <a:ext cx="118872" cy="118872"/>
          </a:xfrm>
          <a:prstGeom prst="ellipse">
            <a:avLst/>
          </a:prstGeom>
          <a:solidFill>
            <a:srgbClr val="D96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31536" y="3886200"/>
            <a:ext cx="5632704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7313A"/>
                </a:solidFill>
                <a:latin typeface="Aptos"/>
              </a:rPr>
              <a:t>Some students avoid classrooms because they cannot breathe comfortably.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12080" y="5029200"/>
            <a:ext cx="5888736" cy="640080"/>
          </a:xfrm>
          <a:prstGeom prst="roundRect">
            <a:avLst/>
          </a:prstGeom>
          <a:solidFill>
            <a:srgbClr val="FFF3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49824" y="5212080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815C20"/>
                </a:solidFill>
                <a:latin typeface="Aptos"/>
              </a:rPr>
              <a:t>The challenge is both environmental and educational.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519672"/>
            <a:ext cx="11155680" cy="10972"/>
          </a:xfrm>
          <a:prstGeom prst="rect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657453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5717A"/>
                </a:solidFill>
                <a:latin typeface="Aptos"/>
              </a:rPr>
              <a:t>BIOCLEAN SMART BIOGAS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087F78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87F78"/>
                </a:solidFill>
                <a:latin typeface="Aptos"/>
              </a:rPr>
              <a:t>THE LOCAL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B1F2A"/>
                </a:solidFill>
                <a:latin typeface="Aptos"/>
              </a:rPr>
              <a:t>My community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60704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717A"/>
                </a:solidFill>
                <a:latin typeface="Aptos"/>
              </a:rPr>
              <a:t>Household energy choices and weak sanitation systems can compound air pollution.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9672"/>
            <a:ext cx="11155680" cy="10972"/>
          </a:xfrm>
          <a:prstGeom prst="rect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7453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5717A"/>
                </a:solidFill>
                <a:latin typeface="Aptos"/>
              </a:rPr>
              <a:t>BIOCLEAN SMART BIOGAS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47104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087F78"/>
                </a:solidFill>
                <a:latin typeface="Apto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349300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27632"/>
            <a:ext cx="64008" cy="3566160"/>
          </a:xfrm>
          <a:prstGeom prst="rect">
            <a:avLst/>
          </a:prstGeom>
          <a:solidFill>
            <a:srgbClr val="D96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9536" y="1810512"/>
            <a:ext cx="347472" cy="347472"/>
          </a:xfrm>
          <a:prstGeom prst="ellipse">
            <a:avLst/>
          </a:prstGeom>
          <a:solidFill>
            <a:srgbClr val="D96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801368"/>
            <a:ext cx="3474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1792224"/>
            <a:ext cx="2670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B1F2A"/>
                </a:solidFill>
                <a:latin typeface="Aptos"/>
              </a:rPr>
              <a:t>Household energy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139696"/>
            <a:ext cx="2596896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5717A"/>
                </a:solidFill>
                <a:latin typeface="Aptos"/>
              </a:rPr>
              <a:t>Many homes use charcoal, stoves and generators for cooking and powering their houses.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1627632"/>
            <a:ext cx="349300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1627632"/>
            <a:ext cx="64008" cy="3566160"/>
          </a:xfrm>
          <a:prstGeom prst="rect">
            <a:avLst/>
          </a:prstGeom>
          <a:solidFill>
            <a:srgbClr val="F2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62855" y="1810512"/>
            <a:ext cx="347472" cy="347472"/>
          </a:xfrm>
          <a:prstGeom prst="ellipse">
            <a:avLst/>
          </a:prstGeom>
          <a:solidFill>
            <a:srgbClr val="F2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5" y="1801368"/>
            <a:ext cx="3474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01768" y="1792224"/>
            <a:ext cx="26700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B1F2A"/>
                </a:solidFill>
                <a:latin typeface="Aptos"/>
              </a:rPr>
              <a:t>Carbon monoxide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01768" y="2139696"/>
            <a:ext cx="2596896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0" i="0">
                <a:solidFill>
                  <a:srgbClr val="55717A"/>
                </a:solidFill>
                <a:latin typeface="Aptos"/>
              </a:rPr>
              <a:t>Incomplete combustion in limited oxygen can release CO. Inhaled CO can form carboxyhaemoglobin and reduce oxygen delivery.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5008" y="1627632"/>
            <a:ext cx="349300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65008" y="1627632"/>
            <a:ext cx="64008" cy="3566160"/>
          </a:xfrm>
          <a:prstGeom prst="rect">
            <a:avLst/>
          </a:prstGeom>
          <a:solidFill>
            <a:srgbClr val="087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66176" y="1810512"/>
            <a:ext cx="347472" cy="347472"/>
          </a:xfrm>
          <a:prstGeom prst="ellipse">
            <a:avLst/>
          </a:prstGeom>
          <a:solidFill>
            <a:srgbClr val="087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6176" y="1801368"/>
            <a:ext cx="3474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05088" y="1792224"/>
            <a:ext cx="2670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B1F2A"/>
                </a:solidFill>
                <a:latin typeface="Aptos"/>
              </a:rPr>
              <a:t>Sanitation challenge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2139696"/>
            <a:ext cx="2596896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5717A"/>
                </a:solidFill>
                <a:latin typeface="Aptos"/>
              </a:rPr>
              <a:t>Broken septic tanks and leaking sewage pipes are reported in many homes, contributing to pollution.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504688"/>
            <a:ext cx="10899648" cy="493776"/>
          </a:xfrm>
          <a:prstGeom prst="roundRect">
            <a:avLst/>
          </a:prstGeom>
          <a:solidFill>
            <a:srgbClr val="0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41848"/>
            <a:ext cx="10378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Community need  →  safer waste handling  +  cleaner energy  +  better sanitation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9672"/>
            <a:ext cx="11155680" cy="10972"/>
          </a:xfrm>
          <a:prstGeom prst="rect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657453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5717A"/>
                </a:solidFill>
                <a:latin typeface="Aptos"/>
              </a:rPr>
              <a:t>BIOCLEAN SMART BIOGAS 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547104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087F78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87F78"/>
                </a:solidFill>
                <a:latin typeface="Aptos"/>
              </a:rPr>
              <a:t>THE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B1F2A"/>
                </a:solidFill>
                <a:latin typeface="Aptos"/>
              </a:rPr>
              <a:t>How air pollution affects schools and communities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60704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717A"/>
                </a:solidFill>
                <a:latin typeface="Aptos"/>
              </a:rPr>
              <a:t>The effects reach beyond the atmosphere.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9672"/>
            <a:ext cx="11155680" cy="10972"/>
          </a:xfrm>
          <a:prstGeom prst="rect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7453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5717A"/>
                </a:solidFill>
                <a:latin typeface="Aptos"/>
              </a:rPr>
              <a:t>BIOCLEAN SMART BIOGAS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47104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087F78"/>
                </a:solidFill>
                <a:latin typeface="Aptos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00200"/>
            <a:ext cx="52578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00200"/>
            <a:ext cx="64008" cy="1874519"/>
          </a:xfrm>
          <a:prstGeom prst="rect">
            <a:avLst/>
          </a:prstGeom>
          <a:solidFill>
            <a:srgbClr val="D96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9536" y="1783080"/>
            <a:ext cx="347472" cy="347472"/>
          </a:xfrm>
          <a:prstGeom prst="ellipse">
            <a:avLst/>
          </a:prstGeom>
          <a:solidFill>
            <a:srgbClr val="D96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773936"/>
            <a:ext cx="3474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1764792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B1F2A"/>
                </a:solidFill>
                <a:latin typeface="Aptos"/>
              </a:rPr>
              <a:t>Health effects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112264"/>
            <a:ext cx="4361688" cy="1252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717A"/>
                </a:solidFill>
                <a:latin typeface="Aptos"/>
              </a:rPr>
              <a:t>Asthma, pneumonia and lung cancer are among the health concerns associated with polluted air.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1600200"/>
            <a:ext cx="52578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1600200"/>
            <a:ext cx="64008" cy="1874519"/>
          </a:xfrm>
          <a:prstGeom prst="rect">
            <a:avLst/>
          </a:prstGeom>
          <a:solidFill>
            <a:srgbClr val="3E8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37376" y="1783080"/>
            <a:ext cx="347472" cy="347472"/>
          </a:xfrm>
          <a:prstGeom prst="ellipse">
            <a:avLst/>
          </a:prstGeom>
          <a:solidFill>
            <a:srgbClr val="3E8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1773936"/>
            <a:ext cx="3474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1764792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B1F2A"/>
                </a:solidFill>
                <a:latin typeface="Aptos"/>
              </a:rPr>
              <a:t>Academic effects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2112264"/>
            <a:ext cx="4361688" cy="1252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717A"/>
                </a:solidFill>
                <a:latin typeface="Aptos"/>
              </a:rPr>
              <a:t>Polluted environments can make learning difficult, contribute to poor grades and reduce educational outcomes.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730752"/>
            <a:ext cx="52578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3730752"/>
            <a:ext cx="64008" cy="1874519"/>
          </a:xfrm>
          <a:prstGeom prst="rect">
            <a:avLst/>
          </a:prstGeom>
          <a:solidFill>
            <a:srgbClr val="F2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9536" y="3913632"/>
            <a:ext cx="347472" cy="347472"/>
          </a:xfrm>
          <a:prstGeom prst="ellipse">
            <a:avLst/>
          </a:prstGeom>
          <a:solidFill>
            <a:srgbClr val="F2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3904488"/>
            <a:ext cx="3474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3895344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B1F2A"/>
                </a:solidFill>
                <a:latin typeface="Aptos"/>
              </a:rPr>
              <a:t>Economic effects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8448" y="4242816"/>
            <a:ext cx="4361688" cy="1252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717A"/>
                </a:solidFill>
                <a:latin typeface="Aptos"/>
              </a:rPr>
              <a:t>Families may spend income on treatment, while illness can reduce workers’ productive days.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8" y="3730752"/>
            <a:ext cx="52578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36208" y="3730752"/>
            <a:ext cx="64008" cy="1874519"/>
          </a:xfrm>
          <a:prstGeom prst="rect">
            <a:avLst/>
          </a:prstGeom>
          <a:solidFill>
            <a:srgbClr val="087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37376" y="3913632"/>
            <a:ext cx="347472" cy="347472"/>
          </a:xfrm>
          <a:prstGeom prst="ellipse">
            <a:avLst/>
          </a:prstGeom>
          <a:solidFill>
            <a:srgbClr val="087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6" y="3904488"/>
            <a:ext cx="3474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6288" y="3895344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B1F2A"/>
                </a:solidFill>
                <a:latin typeface="Aptos"/>
              </a:rPr>
              <a:t>Social effects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4242816"/>
            <a:ext cx="4361688" cy="1252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717A"/>
                </a:solidFill>
                <a:latin typeface="Aptos"/>
              </a:rPr>
              <a:t>Smoke, smog and odour can reduce interaction and contribute to fear, embarrassment and stigma.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519672"/>
            <a:ext cx="11155680" cy="10972"/>
          </a:xfrm>
          <a:prstGeom prst="rect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" y="657453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5717A"/>
                </a:solidFill>
                <a:latin typeface="Aptos"/>
              </a:rPr>
              <a:t>BIOCLEAN SMART BIOGAS SYSTEM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547104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087F78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87F78"/>
                </a:solidFill>
                <a:latin typeface="Aptos"/>
              </a:rPr>
              <a:t>THE SCIENCE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B1F2A"/>
                </a:solidFill>
                <a:latin typeface="Aptos"/>
              </a:rPr>
              <a:t>Research behind the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60704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717A"/>
                </a:solidFill>
                <a:latin typeface="Aptos"/>
              </a:rPr>
              <a:t>BSBS turns organic waste into a clean-energy pathway.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9672"/>
            <a:ext cx="11155680" cy="10972"/>
          </a:xfrm>
          <a:prstGeom prst="rect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7453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5717A"/>
                </a:solidFill>
                <a:latin typeface="Aptos"/>
              </a:rPr>
              <a:t>BIOCLEAN SMART BIOGAS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47104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087F78"/>
                </a:solidFill>
                <a:latin typeface="Aptos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3703320" cy="4434840"/>
          </a:xfrm>
          <a:prstGeom prst="roundRect">
            <a:avLst/>
          </a:prstGeom>
          <a:solidFill>
            <a:srgbClr val="0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74519"/>
            <a:ext cx="3017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800" b="1" i="0">
                <a:solidFill>
                  <a:srgbClr val="2DBE7F"/>
                </a:solidFill>
                <a:latin typeface="Aptos"/>
              </a:rPr>
              <a:t>BSBS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78608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Aptos"/>
              </a:rPr>
              <a:t>Bioclean Smart
Biogas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749039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D8F3E8"/>
                </a:solidFill>
                <a:latin typeface="Aptos"/>
              </a:rPr>
              <a:t>Biogas is a renewable fuel produced when microorganisms break down waste without oxygen.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23036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F2B544"/>
                </a:solidFill>
                <a:latin typeface="Aptos"/>
              </a:rPr>
              <a:t>A local waste problem becomes a local energy resource.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6916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87F78"/>
                </a:solidFill>
                <a:latin typeface="Aptos"/>
              </a:rPr>
              <a:t>THE PROCESS</a:t>
            </a:r>
          </a:p>
        </p:txBody>
      </p:sp>
      <p:sp>
        <p:nvSpPr>
          <p:cNvPr id="14" name="Oval 13"/>
          <p:cNvSpPr/>
          <p:nvPr/>
        </p:nvSpPr>
        <p:spPr>
          <a:xfrm>
            <a:off x="4892040" y="2788920"/>
            <a:ext cx="1042415" cy="1042415"/>
          </a:xfrm>
          <a:prstGeom prst="ellipse">
            <a:avLst/>
          </a:prstGeom>
          <a:solidFill>
            <a:srgbClr val="087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65192" y="3044952"/>
            <a:ext cx="89611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Organic
waste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80759" y="3108960"/>
            <a:ext cx="713232" cy="237744"/>
          </a:xfrm>
          <a:prstGeom prst="rightArrow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19672" y="2788920"/>
            <a:ext cx="1042415" cy="1042415"/>
          </a:xfrm>
          <a:prstGeom prst="ellipse">
            <a:avLst/>
          </a:prstGeom>
          <a:solidFill>
            <a:srgbClr val="3E8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2824" y="3044952"/>
            <a:ext cx="89611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Anaerobic
digestion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708392" y="3108960"/>
            <a:ext cx="713232" cy="237744"/>
          </a:xfrm>
          <a:prstGeom prst="rightArrow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47304" y="2788920"/>
            <a:ext cx="1042415" cy="1042415"/>
          </a:xfrm>
          <a:prstGeom prst="ellipse">
            <a:avLst/>
          </a:prstGeom>
          <a:solidFill>
            <a:srgbClr val="F2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0456" y="3044952"/>
            <a:ext cx="89611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Biogas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36024" y="3108960"/>
            <a:ext cx="713232" cy="237744"/>
          </a:xfrm>
          <a:prstGeom prst="rightArrow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774936" y="2788920"/>
            <a:ext cx="1042415" cy="1042415"/>
          </a:xfrm>
          <a:prstGeom prst="ellipse">
            <a:avLst/>
          </a:prstGeom>
          <a:solidFill>
            <a:srgbClr val="2DB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48088" y="3044952"/>
            <a:ext cx="89611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Clean
energy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1596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717A"/>
                </a:solidFill>
                <a:latin typeface="Aptos"/>
              </a:rPr>
              <a:t>Without oxygen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4663440"/>
            <a:ext cx="635508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B1F2A"/>
                </a:solidFill>
                <a:latin typeface="Aptos"/>
              </a:rPr>
              <a:t>Microorganisms transform biodegradable material into a usable fuel and a nutrient-rich residue.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519672"/>
            <a:ext cx="11155680" cy="10972"/>
          </a:xfrm>
          <a:prstGeom prst="rect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657453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5717A"/>
                </a:solidFill>
                <a:latin typeface="Aptos"/>
              </a:rPr>
              <a:t>BIOCLEAN SMART BIOGAS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087F78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87F78"/>
                </a:solidFill>
                <a:latin typeface="Aptos"/>
              </a:rPr>
              <a:t>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B1F2A"/>
                </a:solidFill>
                <a:latin typeface="Aptos"/>
              </a:rPr>
              <a:t>Key metrics &amp; sustainability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60704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717A"/>
                </a:solidFill>
                <a:latin typeface="Aptos"/>
              </a:rPr>
              <a:t>The handwritten notes point to shared ownership, training and transparent monitoring.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9672"/>
            <a:ext cx="11155680" cy="10972"/>
          </a:xfrm>
          <a:prstGeom prst="rect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7453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5717A"/>
                </a:solidFill>
                <a:latin typeface="Aptos"/>
              </a:rPr>
              <a:t>BIOCLEAN SMART BIOGAS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47104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087F78"/>
                </a:solidFill>
                <a:latin typeface="Aptos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3493008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72768"/>
            <a:ext cx="64008" cy="1847088"/>
          </a:xfrm>
          <a:prstGeom prst="rect">
            <a:avLst/>
          </a:prstGeom>
          <a:solidFill>
            <a:srgbClr val="087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9536" y="1755648"/>
            <a:ext cx="347472" cy="347472"/>
          </a:xfrm>
          <a:prstGeom prst="ellipse">
            <a:avLst/>
          </a:prstGeom>
          <a:solidFill>
            <a:srgbClr val="087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746504"/>
            <a:ext cx="3474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1737360"/>
            <a:ext cx="2670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B1F2A"/>
                </a:solidFill>
                <a:latin typeface="Aptos"/>
              </a:rPr>
              <a:t>Student leadership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084832"/>
            <a:ext cx="2596896" cy="1225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0" i="0">
                <a:solidFill>
                  <a:srgbClr val="55717A"/>
                </a:solidFill>
                <a:latin typeface="Aptos"/>
              </a:rPr>
              <a:t>Organise a reliable student team and Green Club to help manage operations.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1572768"/>
            <a:ext cx="3493008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1572768"/>
            <a:ext cx="64008" cy="1847088"/>
          </a:xfrm>
          <a:prstGeom prst="rect">
            <a:avLst/>
          </a:prstGeom>
          <a:solidFill>
            <a:srgbClr val="3E8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62855" y="1755648"/>
            <a:ext cx="347472" cy="347472"/>
          </a:xfrm>
          <a:prstGeom prst="ellipse">
            <a:avLst/>
          </a:prstGeom>
          <a:solidFill>
            <a:srgbClr val="3E8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5" y="1746504"/>
            <a:ext cx="3474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01768" y="1737360"/>
            <a:ext cx="26700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B1F2A"/>
                </a:solidFill>
                <a:latin typeface="Aptos"/>
              </a:rPr>
              <a:t>Community training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01768" y="2084832"/>
            <a:ext cx="2596896" cy="1225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0" i="0">
                <a:solidFill>
                  <a:srgbClr val="55717A"/>
                </a:solidFill>
                <a:latin typeface="Aptos"/>
              </a:rPr>
              <a:t>Train community members in safe operation, maintenance and installation.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5008" y="1572768"/>
            <a:ext cx="3493008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65008" y="1572768"/>
            <a:ext cx="64008" cy="1847088"/>
          </a:xfrm>
          <a:prstGeom prst="rect">
            <a:avLst/>
          </a:prstGeom>
          <a:solidFill>
            <a:srgbClr val="F2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66176" y="1755648"/>
            <a:ext cx="347472" cy="347472"/>
          </a:xfrm>
          <a:prstGeom prst="ellipse">
            <a:avLst/>
          </a:prstGeom>
          <a:solidFill>
            <a:srgbClr val="F2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6176" y="1746504"/>
            <a:ext cx="3474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05088" y="1737360"/>
            <a:ext cx="2670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B1F2A"/>
                </a:solidFill>
                <a:latin typeface="Aptos"/>
              </a:rPr>
              <a:t>Local partnerships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2084832"/>
            <a:ext cx="2596896" cy="1225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0" i="0">
                <a:solidFill>
                  <a:srgbClr val="55717A"/>
                </a:solidFill>
                <a:latin typeface="Aptos"/>
              </a:rPr>
              <a:t>Engage schools, households, farmers and community partners.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749039"/>
            <a:ext cx="10899648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404164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1F2A"/>
                </a:solidFill>
                <a:latin typeface="Aptos"/>
              </a:rPr>
              <a:t>Suggested measures to track</a:t>
            </a:r>
          </a:p>
        </p:txBody>
      </p:sp>
      <p:sp>
        <p:nvSpPr>
          <p:cNvPr id="28" name="Oval 27"/>
          <p:cNvSpPr/>
          <p:nvPr/>
        </p:nvSpPr>
        <p:spPr>
          <a:xfrm>
            <a:off x="932688" y="4517136"/>
            <a:ext cx="201168" cy="201168"/>
          </a:xfrm>
          <a:prstGeom prst="ellipse">
            <a:avLst/>
          </a:prstGeom>
          <a:solidFill>
            <a:srgbClr val="087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71016" y="4498848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F2A"/>
                </a:solidFill>
                <a:latin typeface="Aptos"/>
              </a:rPr>
              <a:t>Waste diverted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54096" y="4498848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55717A"/>
                </a:solidFill>
                <a:latin typeface="Aptos"/>
              </a:rPr>
              <a:t>Organic material kept out of open dumps</a:t>
            </a:r>
          </a:p>
        </p:txBody>
      </p:sp>
      <p:sp>
        <p:nvSpPr>
          <p:cNvPr id="31" name="Oval 30"/>
          <p:cNvSpPr/>
          <p:nvPr/>
        </p:nvSpPr>
        <p:spPr>
          <a:xfrm>
            <a:off x="6163056" y="4517136"/>
            <a:ext cx="201168" cy="201168"/>
          </a:xfrm>
          <a:prstGeom prst="ellipse">
            <a:avLst/>
          </a:prstGeom>
          <a:solidFill>
            <a:srgbClr val="2DB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1384" y="4498848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F2A"/>
                </a:solidFill>
                <a:latin typeface="Aptos"/>
              </a:rPr>
              <a:t>Clean energy produced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4498848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55717A"/>
                </a:solidFill>
                <a:latin typeface="Aptos"/>
              </a:rPr>
              <a:t>Biogas generated for schools and homes</a:t>
            </a:r>
          </a:p>
        </p:txBody>
      </p:sp>
      <p:sp>
        <p:nvSpPr>
          <p:cNvPr id="34" name="Oval 33"/>
          <p:cNvSpPr/>
          <p:nvPr/>
        </p:nvSpPr>
        <p:spPr>
          <a:xfrm>
            <a:off x="932688" y="5175503"/>
            <a:ext cx="201168" cy="201168"/>
          </a:xfrm>
          <a:prstGeom prst="ellipse">
            <a:avLst/>
          </a:prstGeom>
          <a:solidFill>
            <a:srgbClr val="F2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71016" y="5157216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F2A"/>
                </a:solidFill>
                <a:latin typeface="Aptos"/>
              </a:rPr>
              <a:t>Savings &amp; revenue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54096" y="5157216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55717A"/>
                </a:solidFill>
                <a:latin typeface="Aptos"/>
              </a:rPr>
              <a:t>Financial performance tracked monthly</a:t>
            </a:r>
          </a:p>
        </p:txBody>
      </p:sp>
      <p:sp>
        <p:nvSpPr>
          <p:cNvPr id="37" name="Oval 36"/>
          <p:cNvSpPr/>
          <p:nvPr/>
        </p:nvSpPr>
        <p:spPr>
          <a:xfrm>
            <a:off x="6163056" y="5175503"/>
            <a:ext cx="201168" cy="201168"/>
          </a:xfrm>
          <a:prstGeom prst="ellipse">
            <a:avLst/>
          </a:prstGeom>
          <a:solidFill>
            <a:srgbClr val="3E8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01384" y="5157216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F2A"/>
                </a:solidFill>
                <a:latin typeface="Aptos"/>
              </a:rPr>
              <a:t>People trained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84464" y="5157216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55717A"/>
                </a:solidFill>
                <a:latin typeface="Aptos"/>
              </a:rPr>
              <a:t>Operators and installers supported locally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6519672"/>
            <a:ext cx="11155680" cy="10972"/>
          </a:xfrm>
          <a:prstGeom prst="rect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" y="657453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5717A"/>
                </a:solidFill>
                <a:latin typeface="Aptos"/>
              </a:rPr>
              <a:t>BIOCLEAN SMART BIOGAS SYSTEM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09960" y="6547104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087F78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87F78"/>
                </a:solidFill>
                <a:latin typeface="Aptos"/>
              </a:rPr>
              <a:t>THE BUSINESS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B1F2A"/>
                </a:solidFill>
                <a:latin typeface="Aptos"/>
              </a:rPr>
              <a:t>Financial viability &amp; sustainability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60704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717A"/>
                </a:solidFill>
                <a:latin typeface="Aptos"/>
              </a:rPr>
              <a:t>Draft figures retained from the handwritten notes; reconcile the calculation before formal submission.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9672"/>
            <a:ext cx="11155680" cy="10972"/>
          </a:xfrm>
          <a:prstGeom prst="rect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7453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5717A"/>
                </a:solidFill>
                <a:latin typeface="Aptos"/>
              </a:rPr>
              <a:t>BIOCLEAN SMART BIOGAS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47104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087F78"/>
                </a:solidFill>
                <a:latin typeface="Aptos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3703320" cy="4453128"/>
          </a:xfrm>
          <a:prstGeom prst="roundRect">
            <a:avLst/>
          </a:prstGeom>
          <a:solidFill>
            <a:srgbClr val="0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938528"/>
            <a:ext cx="303580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Aptos"/>
              </a:rPr>
              <a:t>Pays for itself
in 12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962656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DBE7F"/>
                </a:solidFill>
                <a:latin typeface="Aptos"/>
              </a:rPr>
              <a:t>Investment 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383280"/>
            <a:ext cx="30175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D8F3E8"/>
                </a:solidFill>
                <a:latin typeface="Aptos"/>
              </a:rPr>
              <a:t>Savings + revenue can support cleaner energy, community benefits and CSR goals.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7552" y="4690872"/>
            <a:ext cx="3035808" cy="713232"/>
          </a:xfrm>
          <a:prstGeom prst="roundRect">
            <a:avLst/>
          </a:prstGeom>
          <a:solidFill>
            <a:srgbClr val="173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491947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2B544"/>
                </a:solidFill>
                <a:latin typeface="Aptos"/>
              </a:rPr>
              <a:t>Transparent, app-based monitoring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8032" y="1691640"/>
            <a:ext cx="3154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28032" y="1691640"/>
            <a:ext cx="3154680" cy="73152"/>
          </a:xfrm>
          <a:prstGeom prst="rect">
            <a:avLst/>
          </a:prstGeom>
          <a:solidFill>
            <a:srgbClr val="087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56632" y="1965960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B1F2A"/>
                </a:solidFill>
                <a:latin typeface="Aptos"/>
              </a:rPr>
              <a:t>₦1,500,000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6632" y="2459736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87F78"/>
                </a:solidFill>
                <a:latin typeface="Aptos"/>
              </a:rPr>
              <a:t>Savings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6632" y="2752344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9" b="0" i="0">
                <a:solidFill>
                  <a:srgbClr val="55717A"/>
                </a:solidFill>
                <a:latin typeface="Aptos"/>
              </a:rPr>
              <a:t>No waste truck / collection savings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1691640"/>
            <a:ext cx="3154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1691640"/>
            <a:ext cx="3154680" cy="73152"/>
          </a:xfrm>
          <a:prstGeom prst="rect">
            <a:avLst/>
          </a:prstGeom>
          <a:solidFill>
            <a:srgbClr val="2DB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13064" y="1965960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B1F2A"/>
                </a:solidFill>
                <a:latin typeface="Aptos"/>
              </a:rPr>
              <a:t>₦320,000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13064" y="2459736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DBE7F"/>
                </a:solidFill>
                <a:latin typeface="Aptos"/>
              </a:rPr>
              <a:t>Revenue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13064" y="2752344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9" b="0" i="0">
                <a:solidFill>
                  <a:srgbClr val="55717A"/>
                </a:solidFill>
                <a:latin typeface="Aptos"/>
              </a:rPr>
              <a:t>Organic fertiliser + carbon credits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28032" y="3749039"/>
            <a:ext cx="3154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28032" y="3749039"/>
            <a:ext cx="3154680" cy="73152"/>
          </a:xfrm>
          <a:prstGeom prst="rect">
            <a:avLst/>
          </a:prstGeom>
          <a:solidFill>
            <a:srgbClr val="D96B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56632" y="4023359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B1F2A"/>
                </a:solidFill>
                <a:latin typeface="Aptos"/>
              </a:rPr>
              <a:t>₦50,000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56632" y="4517136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D96B5F"/>
                </a:solidFill>
                <a:latin typeface="Aptos"/>
              </a:rPr>
              <a:t>Running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56632" y="4809744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9" b="0" i="0">
                <a:solidFill>
                  <a:srgbClr val="55717A"/>
                </a:solidFill>
                <a:latin typeface="Aptos"/>
              </a:rPr>
              <a:t>Maintenance and operating costs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84464" y="3749039"/>
            <a:ext cx="3154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84464" y="3749039"/>
            <a:ext cx="3154680" cy="73152"/>
          </a:xfrm>
          <a:prstGeom prst="rect">
            <a:avLst/>
          </a:prstGeom>
          <a:solidFill>
            <a:srgbClr val="F2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13064" y="4023359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B1F2A"/>
                </a:solidFill>
                <a:latin typeface="Aptos"/>
              </a:rPr>
              <a:t>₦1,580,000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13064" y="4517136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2B544"/>
                </a:solidFill>
                <a:latin typeface="Aptos"/>
              </a:rPr>
              <a:t>Reported net gain / year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13064" y="4809744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9" b="0" i="0">
                <a:solidFill>
                  <a:srgbClr val="55717A"/>
                </a:solidFill>
                <a:latin typeface="Aptos"/>
              </a:rPr>
              <a:t>Figure transcribed from notes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28032" y="5870448"/>
            <a:ext cx="6492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6B5F"/>
                </a:solidFill>
                <a:latin typeface="Aptos"/>
              </a:rPr>
              <a:t>Note: the reported figures do not currently reconcile arithmetically; confirm the final model before presenting.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6519672"/>
            <a:ext cx="11155680" cy="10972"/>
          </a:xfrm>
          <a:prstGeom prst="rect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657453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5717A"/>
                </a:solidFill>
                <a:latin typeface="Aptos"/>
              </a:rPr>
              <a:t>BIOCLEAN SMART BIOGAS SYSTEM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47104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087F78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87F78"/>
                </a:solidFill>
                <a:latin typeface="Aptos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B1F2A"/>
                </a:solidFill>
                <a:latin typeface="Aptos"/>
              </a:rPr>
              <a:t>How BSBS combats air pollution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060704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717A"/>
                </a:solidFill>
                <a:latin typeface="Aptos"/>
              </a:rPr>
              <a:t>A clear before-and-after pathway from waste to cleaner living.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9672"/>
            <a:ext cx="11155680" cy="10972"/>
          </a:xfrm>
          <a:prstGeom prst="rect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7453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5717A"/>
                </a:solidFill>
                <a:latin typeface="Aptos"/>
              </a:rPr>
              <a:t>BIOCLEAN SMART BIOGAS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47104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087F78"/>
                </a:solidFill>
                <a:latin typeface="Aptos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5047488" cy="1078992"/>
          </a:xfrm>
          <a:prstGeom prst="roundRect">
            <a:avLst/>
          </a:prstGeom>
          <a:solidFill>
            <a:srgbClr val="FFF0ED"/>
          </a:solidFill>
          <a:ln w="12700">
            <a:solidFill>
              <a:srgbClr val="F4C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73936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6B5F"/>
                </a:solidFill>
                <a:latin typeface="Aptos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746504"/>
            <a:ext cx="3593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B1F2A"/>
                </a:solidFill>
                <a:latin typeface="Aptos"/>
              </a:rPr>
              <a:t>Waste burning  →  Smoke  →  Air pollution  →  Health problems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852928"/>
            <a:ext cx="5047488" cy="107899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B6E5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054096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87F78"/>
                </a:solidFill>
                <a:latin typeface="Aptos"/>
              </a:rPr>
              <a:t>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026664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 i="0">
                <a:solidFill>
                  <a:srgbClr val="0B1F2A"/>
                </a:solidFill>
                <a:latin typeface="Aptos"/>
              </a:rPr>
              <a:t>Waste collection  →  Biogas  →  Clean energy  →  Clean environment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572768"/>
            <a:ext cx="5559552" cy="45171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84708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1F2A"/>
                </a:solidFill>
                <a:latin typeface="Aptos"/>
              </a:rPr>
              <a:t>Benefits of the BSBS model</a:t>
            </a:r>
          </a:p>
        </p:txBody>
      </p:sp>
      <p:sp>
        <p:nvSpPr>
          <p:cNvPr id="16" name="Oval 15"/>
          <p:cNvSpPr/>
          <p:nvPr/>
        </p:nvSpPr>
        <p:spPr>
          <a:xfrm>
            <a:off x="6327648" y="2414016"/>
            <a:ext cx="118872" cy="118872"/>
          </a:xfrm>
          <a:prstGeom prst="ellipse">
            <a:avLst/>
          </a:prstGeom>
          <a:solidFill>
            <a:srgbClr val="2DB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359152"/>
            <a:ext cx="451713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13A"/>
                </a:solidFill>
                <a:latin typeface="Aptos"/>
              </a:rPr>
              <a:t>Health: less smoke from firewood, charcoal and generators.</a:t>
            </a:r>
          </a:p>
        </p:txBody>
      </p:sp>
      <p:sp>
        <p:nvSpPr>
          <p:cNvPr id="18" name="Oval 17"/>
          <p:cNvSpPr/>
          <p:nvPr/>
        </p:nvSpPr>
        <p:spPr>
          <a:xfrm>
            <a:off x="6327648" y="2980944"/>
            <a:ext cx="118872" cy="118872"/>
          </a:xfrm>
          <a:prstGeom prst="ellipse">
            <a:avLst/>
          </a:prstGeom>
          <a:solidFill>
            <a:srgbClr val="2DB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7104" y="2926080"/>
            <a:ext cx="451713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13A"/>
                </a:solidFill>
                <a:latin typeface="Aptos"/>
              </a:rPr>
              <a:t>Access: intended to be affordable for families and schools.</a:t>
            </a:r>
          </a:p>
        </p:txBody>
      </p:sp>
      <p:sp>
        <p:nvSpPr>
          <p:cNvPr id="20" name="Oval 19"/>
          <p:cNvSpPr/>
          <p:nvPr/>
        </p:nvSpPr>
        <p:spPr>
          <a:xfrm>
            <a:off x="6327648" y="3547872"/>
            <a:ext cx="118872" cy="118872"/>
          </a:xfrm>
          <a:prstGeom prst="ellipse">
            <a:avLst/>
          </a:prstGeom>
          <a:solidFill>
            <a:srgbClr val="2DB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47104" y="3493008"/>
            <a:ext cx="451713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13A"/>
                </a:solidFill>
                <a:latin typeface="Aptos"/>
              </a:rPr>
              <a:t>Reported net benefit: ₦1,850,000 per model in a home or community.</a:t>
            </a:r>
          </a:p>
        </p:txBody>
      </p:sp>
      <p:sp>
        <p:nvSpPr>
          <p:cNvPr id="22" name="Oval 21"/>
          <p:cNvSpPr/>
          <p:nvPr/>
        </p:nvSpPr>
        <p:spPr>
          <a:xfrm>
            <a:off x="6327648" y="4114800"/>
            <a:ext cx="118872" cy="118872"/>
          </a:xfrm>
          <a:prstGeom prst="ellipse">
            <a:avLst/>
          </a:prstGeom>
          <a:solidFill>
            <a:srgbClr val="2DB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4059936"/>
            <a:ext cx="451713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13A"/>
                </a:solidFill>
                <a:latin typeface="Aptos"/>
              </a:rPr>
              <a:t>Jobs: creates opportunities for trained local installers.</a:t>
            </a:r>
          </a:p>
        </p:txBody>
      </p:sp>
      <p:sp>
        <p:nvSpPr>
          <p:cNvPr id="24" name="Oval 23"/>
          <p:cNvSpPr/>
          <p:nvPr/>
        </p:nvSpPr>
        <p:spPr>
          <a:xfrm>
            <a:off x="6327648" y="4681728"/>
            <a:ext cx="118872" cy="118872"/>
          </a:xfrm>
          <a:prstGeom prst="ellipse">
            <a:avLst/>
          </a:prstGeom>
          <a:solidFill>
            <a:srgbClr val="2DB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4626864"/>
            <a:ext cx="451713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13A"/>
                </a:solidFill>
                <a:latin typeface="Aptos"/>
              </a:rPr>
              <a:t>Environment: slurry can be dried and sold to farmers.</a:t>
            </a:r>
          </a:p>
        </p:txBody>
      </p:sp>
      <p:sp>
        <p:nvSpPr>
          <p:cNvPr id="26" name="Oval 25"/>
          <p:cNvSpPr/>
          <p:nvPr/>
        </p:nvSpPr>
        <p:spPr>
          <a:xfrm>
            <a:off x="6327648" y="5248656"/>
            <a:ext cx="118872" cy="118872"/>
          </a:xfrm>
          <a:prstGeom prst="ellipse">
            <a:avLst/>
          </a:prstGeom>
          <a:solidFill>
            <a:srgbClr val="2DB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5193792"/>
            <a:ext cx="451713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13A"/>
                </a:solidFill>
                <a:latin typeface="Aptos"/>
              </a:rPr>
              <a:t>Accountability: app-based monitoring supports transparency.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9672"/>
            <a:ext cx="11155680" cy="10972"/>
          </a:xfrm>
          <a:prstGeom prst="rect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657453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5717A"/>
                </a:solidFill>
                <a:latin typeface="Aptos"/>
              </a:rPr>
              <a:t>BIOCLEAN SMART BIOGAS 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547104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087F78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DBE7F"/>
                </a:solidFill>
                <a:latin typeface="Aptos"/>
              </a:rPr>
              <a:t>THE WAY FORWARD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05840"/>
            <a:ext cx="5760720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Aptos"/>
              </a:rPr>
              <a:t>Cleaner schools.
Healthier communities.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542032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D8F3E8"/>
                </a:solidFill>
                <a:latin typeface="Aptos"/>
              </a:rPr>
              <a:t>Bioclean Smart Biogas Systems can connect waste management, clean energy, better learning conditions and local opportunity.</a:t>
            </a:r>
          </a:p>
        </p:txBody>
      </p:sp>
      <p:sp>
        <p:nvSpPr>
          <p:cNvPr id="5" name="Oval 4"/>
          <p:cNvSpPr/>
          <p:nvPr/>
        </p:nvSpPr>
        <p:spPr>
          <a:xfrm>
            <a:off x="6766560" y="3767328"/>
            <a:ext cx="310896" cy="310896"/>
          </a:xfrm>
          <a:prstGeom prst="ellipse">
            <a:avLst/>
          </a:prstGeom>
          <a:solidFill>
            <a:srgbClr val="2DB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3785615"/>
            <a:ext cx="3108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B1F2A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69480" y="3758184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ptos"/>
              </a:rPr>
              <a:t>Confirm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4464" y="3758184"/>
            <a:ext cx="3154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D8F3E8"/>
                </a:solidFill>
                <a:latin typeface="Aptos"/>
              </a:rPr>
              <a:t>Reconcile the financial model and final figures.</a:t>
            </a:r>
          </a:p>
        </p:txBody>
      </p:sp>
      <p:sp>
        <p:nvSpPr>
          <p:cNvPr id="9" name="Oval 8"/>
          <p:cNvSpPr/>
          <p:nvPr/>
        </p:nvSpPr>
        <p:spPr>
          <a:xfrm>
            <a:off x="6766560" y="4334256"/>
            <a:ext cx="310896" cy="310896"/>
          </a:xfrm>
          <a:prstGeom prst="ellipse">
            <a:avLst/>
          </a:prstGeom>
          <a:solidFill>
            <a:srgbClr val="2DB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4352544"/>
            <a:ext cx="3108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B1F2A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432511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ptos"/>
              </a:rPr>
              <a:t>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4325112"/>
            <a:ext cx="3154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D8F3E8"/>
                </a:solidFill>
                <a:latin typeface="Aptos"/>
              </a:rPr>
              <a:t>Test the system in a school or community setting.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0" y="4901184"/>
            <a:ext cx="310896" cy="310896"/>
          </a:xfrm>
          <a:prstGeom prst="ellipse">
            <a:avLst/>
          </a:prstGeom>
          <a:solidFill>
            <a:srgbClr val="2DB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4919472"/>
            <a:ext cx="3108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B1F2A"/>
                </a:solidFill>
                <a:latin typeface="Apto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4892040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ptos"/>
              </a:rPr>
              <a:t>Train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4892040"/>
            <a:ext cx="3154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D8F3E8"/>
                </a:solidFill>
                <a:latin typeface="Aptos"/>
              </a:rPr>
              <a:t>Equip the Green Club and local operators.</a:t>
            </a:r>
          </a:p>
        </p:txBody>
      </p:sp>
      <p:sp>
        <p:nvSpPr>
          <p:cNvPr id="17" name="Oval 16"/>
          <p:cNvSpPr/>
          <p:nvPr/>
        </p:nvSpPr>
        <p:spPr>
          <a:xfrm>
            <a:off x="6766560" y="5468112"/>
            <a:ext cx="310896" cy="310896"/>
          </a:xfrm>
          <a:prstGeom prst="ellipse">
            <a:avLst/>
          </a:prstGeom>
          <a:solidFill>
            <a:srgbClr val="2DB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5486400"/>
            <a:ext cx="3108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B1F2A"/>
                </a:solidFill>
                <a:latin typeface="Apto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5458968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ptos"/>
              </a:rPr>
              <a:t>Measure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5458968"/>
            <a:ext cx="3154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D8F3E8"/>
                </a:solidFill>
                <a:latin typeface="Aptos"/>
              </a:rPr>
              <a:t>Track air quality, savings, energy and slurry use.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5943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2B544"/>
                </a:solidFill>
                <a:latin typeface="Aptos"/>
              </a:rPr>
              <a:t>Thank you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519672"/>
            <a:ext cx="11155680" cy="10972"/>
          </a:xfrm>
          <a:prstGeom prst="rect">
            <a:avLst/>
          </a:prstGeom>
          <a:solidFill>
            <a:srgbClr val="DD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657453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5717A"/>
                </a:solidFill>
                <a:latin typeface="Aptos"/>
              </a:rPr>
              <a:t>BIOCLEAN SMART BIOGAS SYSTEM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47104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087F78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