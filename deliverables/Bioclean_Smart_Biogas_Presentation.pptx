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Equipment</c:v>
                </c:pt>
                <c:pt idx="1">
                  <c:v>Installation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21</c:v>
                </c:pt>
                <c:pt idx="2">
                  <c:v>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Chart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Funding (₦)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LILAN</c:v>
                </c:pt>
                <c:pt idx="1">
                  <c:v>Partners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1000000</c:v>
                </c:pt>
                <c:pt idx="1">
                  <c:v>1650000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34440"/>
            <a:ext cx="10362895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 i="0">
                <a:solidFill>
                  <a:srgbClr val="E99A00"/>
                </a:solidFill>
                <a:latin typeface="Calibri"/>
              </a:rPr>
              <a:t>BIOCLEAN  ·  SCHOOL &amp; COMMUNITY INNOVATION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 i="0">
                <a:solidFill>
                  <a:srgbClr val="FFFFFF"/>
                </a:solidFill>
                <a:latin typeface="Calibri"/>
              </a:rPr>
              <a:t>BIOCLEAN SMART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5200" b="1" i="0">
                <a:solidFill>
                  <a:srgbClr val="FFFFFF"/>
                </a:solidFill>
                <a:latin typeface="Calibri"/>
              </a:rPr>
              <a:t>BIOGAS SYSTEM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2E8B57"/>
                </a:solidFill>
                <a:latin typeface="Calibri"/>
              </a:rPr>
              <a:t>(BSBS)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E8F3EC"/>
                </a:solidFill>
                <a:latin typeface="Calibri"/>
              </a:rPr>
              <a:t>Combating Air Pollution in Schools and Communities in Enugu State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8F3EC"/>
                </a:solidFill>
                <a:latin typeface="Calibri"/>
              </a:rPr>
              <a:t>Creating a healthy environment for better learning and healthier living.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983480"/>
            <a:ext cx="1036289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A6B66"/>
                </a:solidFill>
                <a:latin typeface="Calibri"/>
              </a:rPr>
              <a:t>Presented by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Chinwuba Chinwendu Jennifer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8F3EC"/>
                </a:solidFill>
                <a:latin typeface="Calibri"/>
              </a:rPr>
              <a:t>Head Girl  ·  Federal Government College, Enugu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56048" y="5806440"/>
            <a:ext cx="2286000" cy="566928"/>
          </a:xfrm>
          <a:prstGeom prst="roundRect">
            <a:avLst>
              <a:gd name="adj" fmla="val 10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WASTE  →  ENERGY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128016" cy="713232"/>
          </a:xfrm>
          <a:prstGeom prst="roundRect">
            <a:avLst>
              <a:gd name="adj" fmla="val 50000"/>
            </a:avLst>
          </a:prstGeom>
          <a:solidFill>
            <a:srgbClr val="E9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65760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B7A4E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3327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E3B2E"/>
                </a:solidFill>
                <a:latin typeface="Calibri"/>
              </a:rPr>
              <a:t>Introduction to Air Pollution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444752"/>
            <a:ext cx="10515600" cy="25603"/>
          </a:xfrm>
          <a:prstGeom prst="rect">
            <a:avLst/>
          </a:prstGeom>
          <a:solidFill>
            <a:srgbClr val="1B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28832" y="411480"/>
            <a:ext cx="658368" cy="658368"/>
          </a:xfrm>
          <a:prstGeom prst="ellipse">
            <a:avLst/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473952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A6B66"/>
                </a:solidFill>
                <a:latin typeface="Calibri"/>
              </a:rPr>
              <a:t>BIOCLEAN SMART BIOGAS SYSTEM  ·  BSBS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572768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A2B26"/>
                </a:solidFill>
                <a:latin typeface="Calibri"/>
              </a:rPr>
              <a:t>Air pollution is the release of substances into the atmosphere in quantities that can harm human health, modify the climate and disturb the balance of nature.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30428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3B2E"/>
                </a:solidFill>
                <a:latin typeface="Calibri"/>
              </a:rPr>
              <a:t>Major pollutants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2615184"/>
            <a:ext cx="5257800" cy="1078992"/>
          </a:xfrm>
          <a:prstGeom prst="roundRect">
            <a:avLst>
              <a:gd name="adj" fmla="val 14000"/>
            </a:avLst>
          </a:prstGeom>
          <a:solidFill>
            <a:srgbClr val="F4F9F6"/>
          </a:solidFill>
          <a:ln w="12700">
            <a:solidFill>
              <a:srgbClr val="E8F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99A00"/>
                </a:solidFill>
                <a:latin typeface="Calibri"/>
              </a:rPr>
              <a:t>01</a:t>
            </a:r>
            <a:r>
              <a:rPr sz="1300" b="1" i="0">
                <a:solidFill>
                  <a:srgbClr val="0E3B2E"/>
                </a:solidFill>
                <a:latin typeface="Calibri"/>
              </a:rPr>
              <a:t>   PM2.5 &amp; PM10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A2B26"/>
                </a:solidFill>
                <a:latin typeface="Calibri"/>
              </a:rPr>
              <a:t>Tiny dust particles from vehicles and generators; the most dangerous because they reach our lungs.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2615184"/>
            <a:ext cx="5257800" cy="1078992"/>
          </a:xfrm>
          <a:prstGeom prst="roundRect">
            <a:avLst>
              <a:gd name="adj" fmla="val 14000"/>
            </a:avLst>
          </a:prstGeom>
          <a:solidFill>
            <a:srgbClr val="F4F9F6"/>
          </a:solidFill>
          <a:ln w="12700">
            <a:solidFill>
              <a:srgbClr val="E8F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99A00"/>
                </a:solidFill>
                <a:latin typeface="Calibri"/>
              </a:rPr>
              <a:t>02</a:t>
            </a:r>
            <a:r>
              <a:rPr sz="1300" b="1" i="0">
                <a:solidFill>
                  <a:srgbClr val="0E3B2E"/>
                </a:solidFill>
                <a:latin typeface="Calibri"/>
              </a:rPr>
              <a:t>   Carbon Monoxide (CO)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A2B26"/>
                </a:solidFill>
                <a:latin typeface="Calibri"/>
              </a:rPr>
              <a:t>From the incomplete burning of fuel such as coal, firewood, diesel and petrol.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3776472"/>
            <a:ext cx="5257800" cy="1078992"/>
          </a:xfrm>
          <a:prstGeom prst="roundRect">
            <a:avLst>
              <a:gd name="adj" fmla="val 14000"/>
            </a:avLst>
          </a:prstGeom>
          <a:solidFill>
            <a:srgbClr val="F4F9F6"/>
          </a:solidFill>
          <a:ln w="12700">
            <a:solidFill>
              <a:srgbClr val="E8F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99A00"/>
                </a:solidFill>
                <a:latin typeface="Calibri"/>
              </a:rPr>
              <a:t>03</a:t>
            </a:r>
            <a:r>
              <a:rPr sz="1300" b="1" i="0">
                <a:solidFill>
                  <a:srgbClr val="0E3B2E"/>
                </a:solidFill>
                <a:latin typeface="Calibri"/>
              </a:rPr>
              <a:t>   Sulphur Dioxide (SO₂)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A2B26"/>
                </a:solidFill>
                <a:latin typeface="Calibri"/>
              </a:rPr>
              <a:t>From gas flaring and diesel.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3776472"/>
            <a:ext cx="5257800" cy="1078992"/>
          </a:xfrm>
          <a:prstGeom prst="roundRect">
            <a:avLst>
              <a:gd name="adj" fmla="val 14000"/>
            </a:avLst>
          </a:prstGeom>
          <a:solidFill>
            <a:srgbClr val="F4F9F6"/>
          </a:solidFill>
          <a:ln w="12700">
            <a:solidFill>
              <a:srgbClr val="E8F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99A00"/>
                </a:solidFill>
                <a:latin typeface="Calibri"/>
              </a:rPr>
              <a:t>04</a:t>
            </a:r>
            <a:r>
              <a:rPr sz="1300" b="1" i="0">
                <a:solidFill>
                  <a:srgbClr val="0E3B2E"/>
                </a:solidFill>
                <a:latin typeface="Calibri"/>
              </a:rPr>
              <a:t>   Nitrogen Dioxide (NO₂)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A2B26"/>
                </a:solidFill>
                <a:latin typeface="Calibri"/>
              </a:rPr>
              <a:t>A reddish-brown gas from vehicle engines, generators and gas-flaring industries.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4937760"/>
            <a:ext cx="5257800" cy="1078992"/>
          </a:xfrm>
          <a:prstGeom prst="roundRect">
            <a:avLst>
              <a:gd name="adj" fmla="val 14000"/>
            </a:avLst>
          </a:prstGeom>
          <a:solidFill>
            <a:srgbClr val="F4F9F6"/>
          </a:solidFill>
          <a:ln w="12700">
            <a:solidFill>
              <a:srgbClr val="E8F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99A00"/>
                </a:solidFill>
                <a:latin typeface="Calibri"/>
              </a:rPr>
              <a:t>05</a:t>
            </a:r>
            <a:r>
              <a:rPr sz="1300" b="1" i="0">
                <a:solidFill>
                  <a:srgbClr val="0E3B2E"/>
                </a:solidFill>
                <a:latin typeface="Calibri"/>
              </a:rPr>
              <a:t>   Ground-level Ozone (O₃)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A2B26"/>
                </a:solidFill>
                <a:latin typeface="Calibri"/>
              </a:rPr>
              <a:t>A major part of smog, formed when sunlight reacts with other pollutants.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4937760"/>
            <a:ext cx="5257800" cy="1078992"/>
          </a:xfrm>
          <a:prstGeom prst="roundRect">
            <a:avLst>
              <a:gd name="adj" fmla="val 14000"/>
            </a:avLst>
          </a:prstGeom>
          <a:solidFill>
            <a:srgbClr val="F4F9F6"/>
          </a:solidFill>
          <a:ln w="12700">
            <a:solidFill>
              <a:srgbClr val="E8F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99A00"/>
                </a:solidFill>
                <a:latin typeface="Calibri"/>
              </a:rPr>
              <a:t>06</a:t>
            </a:r>
            <a:r>
              <a:rPr sz="1300" b="1" i="0">
                <a:solidFill>
                  <a:srgbClr val="0E3B2E"/>
                </a:solidFill>
                <a:latin typeface="Calibri"/>
              </a:rPr>
              <a:t>   Methane (CH₄)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A2B26"/>
                </a:solidFill>
                <a:latin typeface="Calibri"/>
              </a:rPr>
              <a:t>A colourless, odourless gas from sewage, decomposing waste and gas flaring; forms ground-level ozone in sunlight.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6053328"/>
            <a:ext cx="10424160" cy="475488"/>
          </a:xfrm>
          <a:prstGeom prst="roundRect">
            <a:avLst>
              <a:gd name="adj" fmla="val 35000"/>
            </a:avLst>
          </a:prstGeom>
          <a:solidFill>
            <a:srgbClr val="FCEFDC"/>
          </a:solidFill>
          <a:ln w="12700">
            <a:solidFill>
              <a:srgbClr val="E99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A2B26"/>
                </a:solidFill>
                <a:latin typeface="Calibri"/>
              </a:rPr>
              <a:t>WHO reports about </a:t>
            </a:r>
            <a:r>
              <a:rPr sz="1250" b="1" i="0">
                <a:solidFill>
                  <a:srgbClr val="0E3B2E"/>
                </a:solidFill>
                <a:latin typeface="Calibri"/>
              </a:rPr>
              <a:t>6.7 million premature deaths every year</a:t>
            </a:r>
            <a:r>
              <a:rPr sz="1250" b="0" i="0">
                <a:solidFill>
                  <a:srgbClr val="1A2B26"/>
                </a:solidFill>
                <a:latin typeface="Calibri"/>
              </a:rPr>
              <a:t> are caused by air pollution.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128016" cy="713232"/>
          </a:xfrm>
          <a:prstGeom prst="roundRect">
            <a:avLst>
              <a:gd name="adj" fmla="val 50000"/>
            </a:avLst>
          </a:prstGeom>
          <a:solidFill>
            <a:srgbClr val="E9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65760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B7A4E"/>
                </a:solidFill>
                <a:latin typeface="Calibri"/>
              </a:rPr>
              <a:t>THE LOCAL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3327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E3B2E"/>
                </a:solidFill>
                <a:latin typeface="Calibri"/>
              </a:rPr>
              <a:t>Current Situation in My School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444752"/>
            <a:ext cx="10515600" cy="25603"/>
          </a:xfrm>
          <a:prstGeom prst="rect">
            <a:avLst/>
          </a:prstGeom>
          <a:solidFill>
            <a:srgbClr val="1B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28832" y="411480"/>
            <a:ext cx="658368" cy="658368"/>
          </a:xfrm>
          <a:prstGeom prst="ellipse">
            <a:avLst/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473952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A6B66"/>
                </a:solidFill>
                <a:latin typeface="Calibri"/>
              </a:rPr>
              <a:t>BIOCLEAN SMART BIOGAS SYSTEM  ·  BSBS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627632"/>
            <a:ext cx="10424160" cy="4206240"/>
          </a:xfrm>
          <a:prstGeom prst="roundRect">
            <a:avLst>
              <a:gd name="adj" fmla="val 6000"/>
            </a:avLst>
          </a:prstGeom>
          <a:solidFill>
            <a:srgbClr val="F4F9F6"/>
          </a:solidFill>
          <a:ln w="12700">
            <a:solidFill>
              <a:srgbClr val="E8F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37744" b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2B26"/>
                </a:solidFill>
                <a:latin typeface="Calibri"/>
              </a:rPr>
              <a:t>Most days in my school — especially within the hostels — my fellow students complain of drowsiness and nausea. This is due to the presence of ammonia (NH₃) and hydrogen sulphide (H₂S) gas from sewage and open dumps.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743200"/>
            <a:ext cx="96926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B7A4E"/>
                </a:solidFill>
                <a:latin typeface="Calibri"/>
              </a:rPr>
              <a:t>Students report: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9A00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A2B26"/>
                </a:solidFill>
                <a:latin typeface="Calibri"/>
              </a:rPr>
              <a:t>Drowsiness and nausea, especially within the hostels.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9A00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A2B26"/>
                </a:solidFill>
                <a:latin typeface="Calibri"/>
              </a:rPr>
              <a:t>Discomfort when inhaling smoke that comes from burning waste.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9A00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A2B26"/>
                </a:solidFill>
                <a:latin typeface="Calibri"/>
              </a:rPr>
              <a:t>Some students avoid entering classrooms because they cannot breathe comfortably.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98932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3B2E"/>
                </a:solidFill>
                <a:latin typeface="Calibri"/>
              </a:rPr>
              <a:t>Clean air is not a luxury — it is a learning condition.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128016" cy="713232"/>
          </a:xfrm>
          <a:prstGeom prst="roundRect">
            <a:avLst>
              <a:gd name="adj" fmla="val 50000"/>
            </a:avLst>
          </a:prstGeom>
          <a:solidFill>
            <a:srgbClr val="E9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65760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B7A4E"/>
                </a:solidFill>
                <a:latin typeface="Calibri"/>
              </a:rPr>
              <a:t>THE LOCAL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3327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E3B2E"/>
                </a:solidFill>
                <a:latin typeface="Calibri"/>
              </a:rPr>
              <a:t>My Community Challenge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444752"/>
            <a:ext cx="10515600" cy="25603"/>
          </a:xfrm>
          <a:prstGeom prst="rect">
            <a:avLst/>
          </a:prstGeom>
          <a:solidFill>
            <a:srgbClr val="1B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28832" y="411480"/>
            <a:ext cx="658368" cy="658368"/>
          </a:xfrm>
          <a:prstGeom prst="ellipse">
            <a:avLst/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473952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A6B66"/>
                </a:solidFill>
                <a:latin typeface="Calibri"/>
              </a:rPr>
              <a:t>BIOCLEAN SMART BIOGAS SYSTEM  ·  BSBS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591056"/>
            <a:ext cx="104241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A2B26"/>
                </a:solidFill>
                <a:latin typeface="Calibri"/>
              </a:rPr>
              <a:t>Nowadays, most homes in my community utilise </a:t>
            </a:r>
            <a:r>
              <a:rPr sz="1350" b="1" i="0">
                <a:solidFill>
                  <a:srgbClr val="0E3B2E"/>
                </a:solidFill>
                <a:latin typeface="Calibri"/>
              </a:rPr>
              <a:t>charcoal, stoves and generators</a:t>
            </a:r>
            <a:r>
              <a:rPr sz="1350" b="0" i="0">
                <a:solidFill>
                  <a:srgbClr val="1A2B26"/>
                </a:solidFill>
                <a:latin typeface="Calibri"/>
              </a:rPr>
              <a:t> for cooking and powering their houses. As we all know, coal burns in a limited supply of air to release </a:t>
            </a:r>
            <a:r>
              <a:rPr sz="1350" b="1" i="0">
                <a:solidFill>
                  <a:srgbClr val="0E3B2E"/>
                </a:solidFill>
                <a:latin typeface="Calibri"/>
              </a:rPr>
              <a:t>carbon monoxide (CO)</a:t>
            </a:r>
            <a:r>
              <a:rPr sz="1350" b="0" i="0">
                <a:solidFill>
                  <a:srgbClr val="1A2B26"/>
                </a:solidFill>
                <a:latin typeface="Calibri"/>
              </a:rPr>
              <a:t>, a colourless and odourless gas which, when inhaled excessively, accumulates in the body and reacts with the haemoglobin in our blood to form </a:t>
            </a:r>
            <a:r>
              <a:rPr sz="1350" b="1" i="0">
                <a:solidFill>
                  <a:srgbClr val="0E3B2E"/>
                </a:solidFill>
                <a:latin typeface="Calibri"/>
              </a:rPr>
              <a:t>carboxyhaemoglobin</a:t>
            </a:r>
            <a:r>
              <a:rPr sz="1350" b="0" i="0">
                <a:solidFill>
                  <a:srgbClr val="1A2B26"/>
                </a:solidFill>
                <a:latin typeface="Calibri"/>
              </a:rPr>
              <a:t>. This cuts down the level of oxygen delivered in the body, leading to severe cardiovascular issues or even death.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5661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A2B26"/>
                </a:solidFill>
                <a:latin typeface="Calibri"/>
              </a:rPr>
              <a:t>Furthermore, most houses in my community still use poor sewage systems. These include </a:t>
            </a:r>
            <a:r>
              <a:rPr sz="1350" b="1" i="0">
                <a:solidFill>
                  <a:srgbClr val="0E3B2E"/>
                </a:solidFill>
                <a:latin typeface="Calibri"/>
              </a:rPr>
              <a:t>broken septic tanks and leaking sewage pipes</a:t>
            </a:r>
            <a:r>
              <a:rPr sz="1350" b="0" i="0">
                <a:solidFill>
                  <a:srgbClr val="1A2B26"/>
                </a:solidFill>
                <a:latin typeface="Calibri"/>
              </a:rPr>
              <a:t>, which cause air pollution.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4709160"/>
            <a:ext cx="10424160" cy="1371600"/>
          </a:xfrm>
          <a:prstGeom prst="roundRect">
            <a:avLst>
              <a:gd name="adj" fmla="val 10000"/>
            </a:avLst>
          </a:prstGeom>
          <a:solidFill>
            <a:srgbClr val="E8F3EC"/>
          </a:solidFill>
          <a:ln w="12700">
            <a:solidFill>
              <a:srgbClr val="1B7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B7A4E"/>
                </a:solidFill>
                <a:latin typeface="Calibri"/>
              </a:rPr>
              <a:t>The community need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0E3B2E"/>
                </a:solidFill>
                <a:latin typeface="Calibri"/>
              </a:rPr>
              <a:t>Safer waste handling  +  cleaner energy  +  better sanitation  →  healthier, more productive homes and schools.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128016" cy="713232"/>
          </a:xfrm>
          <a:prstGeom prst="roundRect">
            <a:avLst>
              <a:gd name="adj" fmla="val 50000"/>
            </a:avLst>
          </a:prstGeom>
          <a:solidFill>
            <a:srgbClr val="E9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65760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B7A4E"/>
                </a:solidFill>
                <a:latin typeface="Calibri"/>
              </a:rPr>
              <a:t>THE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3327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E3B2E"/>
                </a:solidFill>
                <a:latin typeface="Calibri"/>
              </a:rPr>
              <a:t>The Effects of Air Pollution in Our Schools and Communities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444752"/>
            <a:ext cx="10515600" cy="25603"/>
          </a:xfrm>
          <a:prstGeom prst="rect">
            <a:avLst/>
          </a:prstGeom>
          <a:solidFill>
            <a:srgbClr val="1B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28832" y="411480"/>
            <a:ext cx="658368" cy="658368"/>
          </a:xfrm>
          <a:prstGeom prst="ellipse">
            <a:avLst/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473952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A6B66"/>
                </a:solidFill>
                <a:latin typeface="Calibri"/>
              </a:rPr>
              <a:t>BIOCLEAN SMART BIOGAS SYSTEM  ·  BSBS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627632"/>
            <a:ext cx="5257800" cy="2048256"/>
          </a:xfrm>
          <a:prstGeom prst="roundRect">
            <a:avLst>
              <a:gd name="adj" fmla="val 8000"/>
            </a:avLst>
          </a:prstGeom>
          <a:solidFill>
            <a:srgbClr val="F4F9F6"/>
          </a:solidFill>
          <a:ln w="12700">
            <a:solidFill>
              <a:srgbClr val="E8F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99A00"/>
                </a:solidFill>
                <a:latin typeface="Calibri"/>
              </a:rPr>
              <a:t>01</a:t>
            </a:r>
            <a:r>
              <a:rPr sz="1500" b="1" i="0">
                <a:solidFill>
                  <a:srgbClr val="0E3B2E"/>
                </a:solidFill>
                <a:latin typeface="Calibri"/>
              </a:rPr>
              <a:t>   Health effects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A2B26"/>
                </a:solidFill>
                <a:latin typeface="Calibri"/>
              </a:rPr>
              <a:t>Air pollution affects our health through diseases like asthma, pneumonia and lung cancer.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27632"/>
            <a:ext cx="5257800" cy="2048256"/>
          </a:xfrm>
          <a:prstGeom prst="roundRect">
            <a:avLst>
              <a:gd name="adj" fmla="val 8000"/>
            </a:avLst>
          </a:prstGeom>
          <a:solidFill>
            <a:srgbClr val="F4F9F6"/>
          </a:solidFill>
          <a:ln w="12700">
            <a:solidFill>
              <a:srgbClr val="E8F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99A00"/>
                </a:solidFill>
                <a:latin typeface="Calibri"/>
              </a:rPr>
              <a:t>02</a:t>
            </a:r>
            <a:r>
              <a:rPr sz="1500" b="1" i="0">
                <a:solidFill>
                  <a:srgbClr val="0E3B2E"/>
                </a:solidFill>
                <a:latin typeface="Calibri"/>
              </a:rPr>
              <a:t>   Academic effects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A2B26"/>
                </a:solidFill>
                <a:latin typeface="Calibri"/>
              </a:rPr>
              <a:t>Students find it difficult to learn in polluted environments, leading to poor grades; teachers may also lose interest in teaching.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3794760"/>
            <a:ext cx="5257800" cy="2048256"/>
          </a:xfrm>
          <a:prstGeom prst="roundRect">
            <a:avLst>
              <a:gd name="adj" fmla="val 8000"/>
            </a:avLst>
          </a:prstGeom>
          <a:solidFill>
            <a:srgbClr val="F4F9F6"/>
          </a:solidFill>
          <a:ln w="12700">
            <a:solidFill>
              <a:srgbClr val="E8F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99A00"/>
                </a:solidFill>
                <a:latin typeface="Calibri"/>
              </a:rPr>
              <a:t>03</a:t>
            </a:r>
            <a:r>
              <a:rPr sz="1500" b="1" i="0">
                <a:solidFill>
                  <a:srgbClr val="0E3B2E"/>
                </a:solidFill>
                <a:latin typeface="Calibri"/>
              </a:rPr>
              <a:t>   Economic effects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A2B26"/>
                </a:solidFill>
                <a:latin typeface="Calibri"/>
              </a:rPr>
              <a:t>Families spend income on treatment and medical expenses, while illness reduces workers’ productive days.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3794760"/>
            <a:ext cx="5257800" cy="2048256"/>
          </a:xfrm>
          <a:prstGeom prst="roundRect">
            <a:avLst>
              <a:gd name="adj" fmla="val 8000"/>
            </a:avLst>
          </a:prstGeom>
          <a:solidFill>
            <a:srgbClr val="F4F9F6"/>
          </a:solidFill>
          <a:ln w="12700">
            <a:solidFill>
              <a:srgbClr val="E8F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99A00"/>
                </a:solidFill>
                <a:latin typeface="Calibri"/>
              </a:rPr>
              <a:t>04</a:t>
            </a:r>
            <a:r>
              <a:rPr sz="1500" b="1" i="0">
                <a:solidFill>
                  <a:srgbClr val="0E3B2E"/>
                </a:solidFill>
                <a:latin typeface="Calibri"/>
              </a:rPr>
              <a:t>   Social effects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A2B26"/>
                </a:solidFill>
                <a:latin typeface="Calibri"/>
              </a:rPr>
              <a:t>Smoke, smog and bad odour reduce interaction; students face embarrassment and stigma over fears of airborne disease.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128016" cy="713232"/>
          </a:xfrm>
          <a:prstGeom prst="roundRect">
            <a:avLst>
              <a:gd name="adj" fmla="val 50000"/>
            </a:avLst>
          </a:prstGeom>
          <a:solidFill>
            <a:srgbClr val="E9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65760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B7A4E"/>
                </a:solidFill>
                <a:latin typeface="Calibri"/>
              </a:rPr>
              <a:t>THE SCIENCE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3327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B2E"/>
                </a:solidFill>
                <a:latin typeface="Calibri"/>
              </a:rPr>
              <a:t>The Research and Science Behind the Innovation: Bioclean Smart Biogas System (BSBS)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444752"/>
            <a:ext cx="10515600" cy="25603"/>
          </a:xfrm>
          <a:prstGeom prst="rect">
            <a:avLst/>
          </a:prstGeom>
          <a:solidFill>
            <a:srgbClr val="1B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28832" y="411480"/>
            <a:ext cx="658368" cy="658368"/>
          </a:xfrm>
          <a:prstGeom prst="ellipse">
            <a:avLst/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473952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A6B66"/>
                </a:solidFill>
                <a:latin typeface="Calibri"/>
              </a:rPr>
              <a:t>BIOCLEAN SMART BIOGAS SYSTEM  ·  BSBS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B7A4E"/>
                </a:solidFill>
                <a:latin typeface="Calibri"/>
              </a:rPr>
              <a:t>What is biogas?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88366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A2B26"/>
                </a:solidFill>
                <a:latin typeface="Calibri"/>
              </a:rPr>
              <a:t>Biogas is a renewable fuel produced when microorganisms break down waste without oxygen.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48716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B7A4E"/>
                </a:solidFill>
                <a:latin typeface="Calibri"/>
              </a:rPr>
              <a:t>The process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2816352"/>
            <a:ext cx="2395728" cy="566928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Organic Waste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4408" y="2816352"/>
            <a:ext cx="3657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99A00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30168" y="2816352"/>
            <a:ext cx="2395728" cy="566928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Anaerobic Digestion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25896" y="2816352"/>
            <a:ext cx="3657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99A00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91656" y="2816352"/>
            <a:ext cx="2395728" cy="566928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Biogas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87384" y="2816352"/>
            <a:ext cx="3657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99A00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53144" y="2816352"/>
            <a:ext cx="2395728" cy="566928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Clean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61188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7A4E"/>
                </a:solidFill>
                <a:latin typeface="Calibri"/>
              </a:rPr>
              <a:t>Comparison table</a:t>
            </a:r>
            <a:r>
              <a:rPr sz="1100" b="0" i="0">
                <a:solidFill>
                  <a:srgbClr val="5A6B66"/>
                </a:solidFill>
                <a:latin typeface="Calibri"/>
              </a:rPr>
              <a:t>   (type your content here)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868680" y="3950208"/>
          <a:ext cx="104241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3474720"/>
                <a:gridCol w="347472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36576" marB="36576">
                    <a:solidFill>
                      <a:srgbClr val="1B7A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36576" marB="36576">
                    <a:solidFill>
                      <a:srgbClr val="1B7A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36576" marB="36576">
                    <a:solidFill>
                      <a:srgbClr val="1B7A4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/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4F9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/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4F9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128016" cy="713232"/>
          </a:xfrm>
          <a:prstGeom prst="roundRect">
            <a:avLst>
              <a:gd name="adj" fmla="val 50000"/>
            </a:avLst>
          </a:prstGeom>
          <a:solidFill>
            <a:srgbClr val="E9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65760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B7A4E"/>
                </a:solidFill>
                <a:latin typeface="Calibri"/>
              </a:rPr>
              <a:t>THE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3327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E3B2E"/>
                </a:solidFill>
                <a:latin typeface="Calibri"/>
              </a:rPr>
              <a:t>The Bioclean Smart Biogas System — How It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444752"/>
            <a:ext cx="10515600" cy="25603"/>
          </a:xfrm>
          <a:prstGeom prst="rect">
            <a:avLst/>
          </a:prstGeom>
          <a:solidFill>
            <a:srgbClr val="1B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28832" y="411480"/>
            <a:ext cx="658368" cy="658368"/>
          </a:xfrm>
          <a:prstGeom prst="ellipse">
            <a:avLst/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473952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A6B66"/>
                </a:solidFill>
                <a:latin typeface="Calibri"/>
              </a:rPr>
              <a:t>BIOCLEAN SMART BIOGAS SYSTEM  ·  BSBS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1691640"/>
            <a:ext cx="9235440" cy="3931920"/>
          </a:xfrm>
          <a:prstGeom prst="roundRect">
            <a:avLst>
              <a:gd name="adj" fmla="val 3000"/>
            </a:avLst>
          </a:prstGeom>
          <a:solidFill>
            <a:srgbClr val="F4F9F6"/>
          </a:solidFill>
          <a:ln w="19050">
            <a:solidFill>
              <a:srgbClr val="1B7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920240"/>
            <a:ext cx="9235440" cy="3474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A6B66"/>
                </a:solidFill>
                <a:latin typeface="Calibri"/>
              </a:rPr>
              <a:t>INSERT BIOGAS SYSTEM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5A6B66"/>
                </a:solidFill>
                <a:latin typeface="Calibri"/>
              </a:rPr>
              <a:t>DIAGRAM / PICTURE HERE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B66"/>
                </a:solidFill>
                <a:latin typeface="Calibri"/>
              </a:rPr>
              <a:t>Drop in the biogas system diagram or photo.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89788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2B26"/>
                </a:solidFill>
                <a:latin typeface="Calibri"/>
              </a:rPr>
              <a:t>A visual overview of how organic waste becomes clean, renewable energy.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128016" cy="713232"/>
          </a:xfrm>
          <a:prstGeom prst="roundRect">
            <a:avLst>
              <a:gd name="adj" fmla="val 50000"/>
            </a:avLst>
          </a:prstGeom>
          <a:solidFill>
            <a:srgbClr val="E9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65760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B7A4E"/>
                </a:solidFill>
                <a:latin typeface="Calibri"/>
              </a:rPr>
              <a:t>THE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3327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E3B2E"/>
                </a:solidFill>
                <a:latin typeface="Calibri"/>
              </a:rPr>
              <a:t>Project Cost and Funding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444752"/>
            <a:ext cx="10515600" cy="25603"/>
          </a:xfrm>
          <a:prstGeom prst="rect">
            <a:avLst/>
          </a:prstGeom>
          <a:solidFill>
            <a:srgbClr val="1B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28832" y="411480"/>
            <a:ext cx="658368" cy="658368"/>
          </a:xfrm>
          <a:prstGeom prst="ellipse">
            <a:avLst/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473952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A6B66"/>
                </a:solidFill>
                <a:latin typeface="Calibri"/>
              </a:rPr>
              <a:t>BIOCLEAN SMART BIOGAS SYSTEM  ·  BSBS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600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7A4E"/>
                </a:solidFill>
                <a:latin typeface="Calibri"/>
              </a:rPr>
              <a:t>Funding breakdown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965960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4F9F6"/>
          </a:solidFill>
          <a:ln w="12700">
            <a:solidFill>
              <a:srgbClr val="E8F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46304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A2B26"/>
                </a:solidFill>
                <a:latin typeface="Calibri"/>
              </a:rPr>
              <a:t>LILAN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112264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7A4E"/>
                </a:solidFill>
                <a:latin typeface="Calibri"/>
              </a:rPr>
              <a:t>₦1,000,000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2752344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4F9F6"/>
          </a:solidFill>
          <a:ln w="12700">
            <a:solidFill>
              <a:srgbClr val="E8F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46304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A2B26"/>
                </a:solidFill>
                <a:latin typeface="Calibri"/>
              </a:rPr>
              <a:t>School Management, P.T.A. &amp; CSR Partners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898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3B2E"/>
                </a:solidFill>
                <a:latin typeface="Calibri"/>
              </a:rPr>
              <a:t>₦1,650,000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3538727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46304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Total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685031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99A00"/>
                </a:solidFill>
                <a:latin typeface="Calibri"/>
              </a:rPr>
              <a:t>₦2,650,000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407407"/>
            <a:ext cx="5486400" cy="1051560"/>
          </a:xfrm>
          <a:prstGeom prst="roundRect">
            <a:avLst>
              <a:gd name="adj" fmla="val 10000"/>
            </a:avLst>
          </a:prstGeom>
          <a:solidFill>
            <a:srgbClr val="FCEFDC"/>
          </a:solidFill>
          <a:ln w="12700">
            <a:solidFill>
              <a:srgbClr val="E99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33A2E"/>
                </a:solidFill>
                <a:latin typeface="Calibri"/>
              </a:rPr>
              <a:t>Motto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0E3B2E"/>
                </a:solidFill>
                <a:latin typeface="Calibri"/>
              </a:rPr>
              <a:t>This investment pays for itself in 17 months and generates savings for 15 years.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160020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B7A4E"/>
                </a:solidFill>
                <a:latin typeface="Calibri"/>
              </a:rPr>
              <a:t>Cost allocation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6629400" y="1920240"/>
          <a:ext cx="228600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9052560" y="1920240"/>
          <a:ext cx="237744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29400" y="4572000"/>
            <a:ext cx="4754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A6B66"/>
                </a:solidFill>
                <a:latin typeface="Calibri"/>
              </a:rPr>
              <a:t>Pie chart: 70% equipment, 21% installation, 9% others.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B66"/>
                </a:solidFill>
                <a:latin typeface="Calibri"/>
              </a:rPr>
              <a:t>Bar chart: LILAN ₦1,000,000 vs Partners ₦1,650,000.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128016" cy="713232"/>
          </a:xfrm>
          <a:prstGeom prst="roundRect">
            <a:avLst>
              <a:gd name="adj" fmla="val 50000"/>
            </a:avLst>
          </a:prstGeom>
          <a:solidFill>
            <a:srgbClr val="E9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65760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B7A4E"/>
                </a:solidFill>
                <a:latin typeface="Calibri"/>
              </a:rPr>
              <a:t>THE BUSINESS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3327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E3B2E"/>
                </a:solidFill>
                <a:latin typeface="Calibri"/>
              </a:rPr>
              <a:t>Financial Viability and Sustainability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444752"/>
            <a:ext cx="10515600" cy="25603"/>
          </a:xfrm>
          <a:prstGeom prst="rect">
            <a:avLst/>
          </a:prstGeom>
          <a:solidFill>
            <a:srgbClr val="1B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28832" y="411480"/>
            <a:ext cx="658368" cy="658368"/>
          </a:xfrm>
          <a:prstGeom prst="ellipse">
            <a:avLst/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473952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A6B66"/>
                </a:solidFill>
                <a:latin typeface="Calibri"/>
              </a:rPr>
              <a:t>BIOCLEAN SMART BIOGAS SYSTEM  ·  BSBS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591056"/>
            <a:ext cx="10424160" cy="868680"/>
          </a:xfrm>
          <a:prstGeom prst="roundRect">
            <a:avLst>
              <a:gd name="adj" fmla="val 8000"/>
            </a:avLst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46304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E8F3EC"/>
                </a:solidFill>
                <a:latin typeface="Calibri"/>
              </a:rPr>
              <a:t>Annual net benefit to school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E99A00"/>
                </a:solidFill>
                <a:latin typeface="Calibri"/>
              </a:rPr>
              <a:t>₦1,880,000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0604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7A4E"/>
                </a:solidFill>
                <a:latin typeface="Calibri"/>
              </a:rPr>
              <a:t>How we make / save money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2926080"/>
            <a:ext cx="10424160" cy="566928"/>
          </a:xfrm>
          <a:prstGeom prst="roundRect">
            <a:avLst>
              <a:gd name="adj" fmla="val 10000"/>
            </a:avLst>
          </a:prstGeom>
          <a:solidFill>
            <a:srgbClr val="F4F9F6"/>
          </a:solidFill>
          <a:ln w="12700">
            <a:solidFill>
              <a:srgbClr val="E8F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46304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B7A4E"/>
                </a:solidFill>
                <a:latin typeface="Calibri"/>
              </a:rPr>
              <a:t>₦1,860,000</a:t>
            </a:r>
            <a:r>
              <a:rPr sz="1350" b="1" i="0">
                <a:solidFill>
                  <a:srgbClr val="0E3B2E"/>
                </a:solidFill>
                <a:latin typeface="Calibri"/>
              </a:rPr>
              <a:t>   Savings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063240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B66"/>
                </a:solidFill>
                <a:latin typeface="Calibri"/>
              </a:rPr>
              <a:t>No LPG and no waste-truck fees.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3593592"/>
            <a:ext cx="10424160" cy="566928"/>
          </a:xfrm>
          <a:prstGeom prst="roundRect">
            <a:avLst>
              <a:gd name="adj" fmla="val 10000"/>
            </a:avLst>
          </a:prstGeom>
          <a:solidFill>
            <a:srgbClr val="F4F9F6"/>
          </a:solidFill>
          <a:ln w="12700">
            <a:solidFill>
              <a:srgbClr val="E8F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46304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2E8B57"/>
                </a:solidFill>
                <a:latin typeface="Calibri"/>
              </a:rPr>
              <a:t>₦320,000</a:t>
            </a:r>
            <a:r>
              <a:rPr sz="1350" b="1" i="0">
                <a:solidFill>
                  <a:srgbClr val="0E3B2E"/>
                </a:solidFill>
                <a:latin typeface="Calibri"/>
              </a:rPr>
              <a:t>   Revenue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730752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B66"/>
                </a:solidFill>
                <a:latin typeface="Calibri"/>
              </a:rPr>
              <a:t>Organic fertilisers and carbon credits.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4261104"/>
            <a:ext cx="10424160" cy="566928"/>
          </a:xfrm>
          <a:prstGeom prst="roundRect">
            <a:avLst>
              <a:gd name="adj" fmla="val 10000"/>
            </a:avLst>
          </a:prstGeom>
          <a:solidFill>
            <a:srgbClr val="F4F9F6"/>
          </a:solidFill>
          <a:ln w="12700">
            <a:solidFill>
              <a:srgbClr val="E8F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46304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B33A2E"/>
                </a:solidFill>
                <a:latin typeface="Calibri"/>
              </a:rPr>
              <a:t>₦80,000</a:t>
            </a:r>
            <a:r>
              <a:rPr sz="1350" b="1" i="0">
                <a:solidFill>
                  <a:srgbClr val="0E3B2E"/>
                </a:solidFill>
                <a:latin typeface="Calibri"/>
              </a:rPr>
              <a:t>   Running cost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398264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B66"/>
                </a:solidFill>
                <a:latin typeface="Calibri"/>
              </a:rPr>
              <a:t>Maintenance and stipends.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928616"/>
            <a:ext cx="10424160" cy="566928"/>
          </a:xfrm>
          <a:prstGeom prst="roundRect">
            <a:avLst>
              <a:gd name="adj" fmla="val 10000"/>
            </a:avLst>
          </a:prstGeom>
          <a:solidFill>
            <a:srgbClr val="F4F9F6"/>
          </a:solidFill>
          <a:ln w="12700">
            <a:solidFill>
              <a:srgbClr val="E8F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46304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0E3B2E"/>
                </a:solidFill>
                <a:latin typeface="Calibri"/>
              </a:rPr>
              <a:t>₦1,880,000</a:t>
            </a:r>
            <a:r>
              <a:rPr sz="1350" b="1" i="0">
                <a:solidFill>
                  <a:srgbClr val="0E3B2E"/>
                </a:solidFill>
                <a:latin typeface="Calibri"/>
              </a:rPr>
              <a:t>   Net gain every year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5065776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B66"/>
                </a:solidFill>
                <a:latin typeface="Calibri"/>
              </a:rPr>
              <a:t>Reported annual net benefit.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5596128"/>
            <a:ext cx="3291840" cy="777240"/>
          </a:xfrm>
          <a:prstGeom prst="roundRect">
            <a:avLst>
              <a:gd name="adj" fmla="val 12000"/>
            </a:avLst>
          </a:prstGeom>
          <a:solidFill>
            <a:srgbClr val="E8F3EC"/>
          </a:solidFill>
          <a:ln w="12700">
            <a:solidFill>
              <a:srgbClr val="1B7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E3B2E"/>
                </a:solidFill>
                <a:latin typeface="Calibri"/>
              </a:rPr>
              <a:t>₦1,880,000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A6B66"/>
                </a:solidFill>
                <a:latin typeface="Calibri"/>
              </a:rPr>
              <a:t>Net benefit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34840" y="5596128"/>
            <a:ext cx="3291840" cy="777240"/>
          </a:xfrm>
          <a:prstGeom prst="roundRect">
            <a:avLst>
              <a:gd name="adj" fmla="val 12000"/>
            </a:avLst>
          </a:prstGeom>
          <a:solidFill>
            <a:srgbClr val="E8F3EC"/>
          </a:solidFill>
          <a:ln w="12700">
            <a:solidFill>
              <a:srgbClr val="1B7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E3B2E"/>
                </a:solidFill>
                <a:latin typeface="Calibri"/>
              </a:rPr>
              <a:t>17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A6B66"/>
                </a:solidFill>
                <a:latin typeface="Calibri"/>
              </a:rPr>
              <a:t>Months payback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0" y="5596128"/>
            <a:ext cx="3291840" cy="777240"/>
          </a:xfrm>
          <a:prstGeom prst="roundRect">
            <a:avLst>
              <a:gd name="adj" fmla="val 12000"/>
            </a:avLst>
          </a:prstGeom>
          <a:solidFill>
            <a:srgbClr val="E8F3EC"/>
          </a:solidFill>
          <a:ln w="12700">
            <a:solidFill>
              <a:srgbClr val="1B7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E3B2E"/>
                </a:solidFill>
                <a:latin typeface="Calibri"/>
              </a:rPr>
              <a:t>71%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A6B66"/>
                </a:solidFill>
                <a:latin typeface="Calibri"/>
              </a:rPr>
              <a:t>Year-1 ROI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128016" cy="713232"/>
          </a:xfrm>
          <a:prstGeom prst="roundRect">
            <a:avLst>
              <a:gd name="adj" fmla="val 50000"/>
            </a:avLst>
          </a:prstGeom>
          <a:solidFill>
            <a:srgbClr val="E9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65760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B7A4E"/>
                </a:solidFill>
                <a:latin typeface="Calibri"/>
              </a:rPr>
              <a:t>THE PEOPLE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3327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E3B2E"/>
                </a:solidFill>
                <a:latin typeface="Calibri"/>
              </a:rPr>
              <a:t>Key Metrics &amp; Sustainability and Leadership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444752"/>
            <a:ext cx="10515600" cy="25603"/>
          </a:xfrm>
          <a:prstGeom prst="rect">
            <a:avLst/>
          </a:prstGeom>
          <a:solidFill>
            <a:srgbClr val="1B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28832" y="411480"/>
            <a:ext cx="658368" cy="658368"/>
          </a:xfrm>
          <a:prstGeom prst="ellipse">
            <a:avLst/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473952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A6B66"/>
                </a:solidFill>
                <a:latin typeface="Calibri"/>
              </a:rPr>
              <a:t>BIOCLEAN SMART BIOGAS SYSTEM  ·  BSBS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591056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7A4E"/>
                </a:solidFill>
                <a:latin typeface="Calibri"/>
              </a:rPr>
              <a:t>Key metrics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956816"/>
            <a:ext cx="4937760" cy="841248"/>
          </a:xfrm>
          <a:prstGeom prst="roundRect">
            <a:avLst>
              <a:gd name="adj" fmla="val 10000"/>
            </a:avLst>
          </a:prstGeom>
          <a:solidFill>
            <a:srgbClr val="F4F9F6"/>
          </a:solidFill>
          <a:ln w="12700">
            <a:solidFill>
              <a:srgbClr val="E8F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46304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B7A4E"/>
                </a:solidFill>
                <a:latin typeface="Calibri"/>
              </a:rPr>
              <a:t>Payback period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E3B2E"/>
                </a:solidFill>
                <a:latin typeface="Calibri"/>
              </a:rPr>
              <a:t>17 months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2926080"/>
            <a:ext cx="4937760" cy="841248"/>
          </a:xfrm>
          <a:prstGeom prst="roundRect">
            <a:avLst>
              <a:gd name="adj" fmla="val 10000"/>
            </a:avLst>
          </a:prstGeom>
          <a:solidFill>
            <a:srgbClr val="F4F9F6"/>
          </a:solidFill>
          <a:ln w="12700">
            <a:solidFill>
              <a:srgbClr val="E8F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46304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B7A4E"/>
                </a:solidFill>
                <a:latin typeface="Calibri"/>
              </a:rPr>
              <a:t>ROI Year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E3B2E"/>
                </a:solidFill>
                <a:latin typeface="Calibri"/>
              </a:rPr>
              <a:t>71%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3895344"/>
            <a:ext cx="4937760" cy="841248"/>
          </a:xfrm>
          <a:prstGeom prst="roundRect">
            <a:avLst>
              <a:gd name="adj" fmla="val 10000"/>
            </a:avLst>
          </a:prstGeom>
          <a:solidFill>
            <a:srgbClr val="F4F9F6"/>
          </a:solidFill>
          <a:ln w="12700">
            <a:solidFill>
              <a:srgbClr val="E8F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46304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B7A4E"/>
                </a:solidFill>
                <a:latin typeface="Calibri"/>
              </a:rPr>
              <a:t>5-year savings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E3B2E"/>
                </a:solidFill>
                <a:latin typeface="Calibri"/>
              </a:rPr>
              <a:t>₦6,750,000 for our labs, infrastructure and scholarships.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591056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7A4E"/>
                </a:solidFill>
                <a:latin typeface="Calibri"/>
              </a:rPr>
              <a:t>Sustainability and leadership plan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956816"/>
            <a:ext cx="5212080" cy="3200400"/>
          </a:xfrm>
          <a:prstGeom prst="roundRect">
            <a:avLst>
              <a:gd name="adj" fmla="val 7000"/>
            </a:avLst>
          </a:prstGeom>
          <a:solidFill>
            <a:srgbClr val="F4F9F6"/>
          </a:solidFill>
          <a:ln w="12700">
            <a:solidFill>
              <a:srgbClr val="E8F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 b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A2B26"/>
                </a:solidFill>
                <a:latin typeface="Calibri"/>
              </a:rPr>
              <a:t>As the Head Girl of my college, I will sustain this innovation by: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99A00"/>
                </a:solidFill>
                <a:latin typeface="Calibri"/>
              </a:rPr>
              <a:t>01</a:t>
            </a:r>
            <a:r>
              <a:rPr sz="1250" b="0" i="0">
                <a:solidFill>
                  <a:srgbClr val="1A2B26"/>
                </a:solidFill>
                <a:latin typeface="Calibri"/>
              </a:rPr>
              <a:t>   Organise 10 reliable students from our Green Club to manage its operations.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99A00"/>
                </a:solidFill>
                <a:latin typeface="Calibri"/>
              </a:rPr>
              <a:t>02</a:t>
            </a:r>
            <a:r>
              <a:rPr sz="1250" b="0" i="0">
                <a:solidFill>
                  <a:srgbClr val="1A2B26"/>
                </a:solidFill>
                <a:latin typeface="Calibri"/>
              </a:rPr>
              <a:t>   Train two (2) juniors for continuity.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99A00"/>
                </a:solidFill>
                <a:latin typeface="Calibri"/>
              </a:rPr>
              <a:t>03</a:t>
            </a:r>
            <a:r>
              <a:rPr sz="1250" b="0" i="0">
                <a:solidFill>
                  <a:srgbClr val="1A2B26"/>
                </a:solidFill>
                <a:latin typeface="Calibri"/>
              </a:rPr>
              <a:t>   Enhance scalability so more models can be replicated in other schools and communities.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128016" cy="713232"/>
          </a:xfrm>
          <a:prstGeom prst="roundRect">
            <a:avLst>
              <a:gd name="adj" fmla="val 50000"/>
            </a:avLst>
          </a:prstGeom>
          <a:solidFill>
            <a:srgbClr val="E9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65760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B7A4E"/>
                </a:solidFill>
                <a:latin typeface="Calibri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3327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E3B2E"/>
                </a:solidFill>
                <a:latin typeface="Calibri"/>
              </a:rPr>
              <a:t>How My Smart Bioclean Biogas System (BSBS) Combats Air Pollution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444752"/>
            <a:ext cx="10515600" cy="25603"/>
          </a:xfrm>
          <a:prstGeom prst="rect">
            <a:avLst/>
          </a:prstGeom>
          <a:solidFill>
            <a:srgbClr val="1B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28832" y="411480"/>
            <a:ext cx="658368" cy="658368"/>
          </a:xfrm>
          <a:prstGeom prst="ellipse">
            <a:avLst/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473952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A6B66"/>
                </a:solidFill>
                <a:latin typeface="Calibri"/>
              </a:rPr>
              <a:t>BIOCLEAN SMART BIOGAS SYSTEM  ·  BSBS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591056"/>
            <a:ext cx="5120640" cy="960120"/>
          </a:xfrm>
          <a:prstGeom prst="roundRect">
            <a:avLst>
              <a:gd name="adj" fmla="val 8000"/>
            </a:avLst>
          </a:prstGeom>
          <a:solidFill>
            <a:srgbClr val="FBEAEA"/>
          </a:solidFill>
          <a:ln w="12700">
            <a:solidFill>
              <a:srgbClr val="B3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46304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33A2E"/>
                </a:solidFill>
                <a:latin typeface="Calibri"/>
              </a:rPr>
              <a:t>BEFORE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A2B26"/>
                </a:solidFill>
                <a:latin typeface="Calibri"/>
              </a:rPr>
              <a:t>Waste burning  →  Smoke  →  Air pollution  →  Health problems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591056"/>
            <a:ext cx="5120640" cy="960120"/>
          </a:xfrm>
          <a:prstGeom prst="roundRect">
            <a:avLst>
              <a:gd name="adj" fmla="val 8000"/>
            </a:avLst>
          </a:prstGeom>
          <a:solidFill>
            <a:srgbClr val="E8F3EC"/>
          </a:solidFill>
          <a:ln w="12700">
            <a:solidFill>
              <a:srgbClr val="1B7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46304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B7A4E"/>
                </a:solidFill>
                <a:latin typeface="Calibri"/>
              </a:rPr>
              <a:t>AFTER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A2B26"/>
                </a:solidFill>
                <a:latin typeface="Calibri"/>
              </a:rPr>
              <a:t>Waste collection  →  Biogas production  →  Clean energy  →  Cleaner environment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2697480"/>
            <a:ext cx="5120640" cy="1261872"/>
          </a:xfrm>
          <a:prstGeom prst="roundRect">
            <a:avLst>
              <a:gd name="adj" fmla="val 10000"/>
            </a:avLst>
          </a:prstGeom>
          <a:solidFill>
            <a:srgbClr val="F4F9F6"/>
          </a:solidFill>
          <a:ln w="12700">
            <a:solidFill>
              <a:srgbClr val="E8F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B7A4E"/>
                </a:solidFill>
                <a:latin typeface="Calibri"/>
              </a:rPr>
              <a:t>Health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A2B26"/>
                </a:solidFill>
                <a:latin typeface="Calibri"/>
              </a:rPr>
              <a:t>Biogas burns clean and releases no smoke, reducing risks from firewood, charcoal and generator fumes.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697480"/>
            <a:ext cx="5120640" cy="1261872"/>
          </a:xfrm>
          <a:prstGeom prst="roundRect">
            <a:avLst>
              <a:gd name="adj" fmla="val 10000"/>
            </a:avLst>
          </a:prstGeom>
          <a:solidFill>
            <a:srgbClr val="F4F9F6"/>
          </a:solidFill>
          <a:ln w="12700">
            <a:solidFill>
              <a:srgbClr val="E8F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B7A4E"/>
                </a:solidFill>
                <a:latin typeface="Calibri"/>
              </a:rPr>
              <a:t>Economic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A2B26"/>
                </a:solidFill>
                <a:latin typeface="Calibri"/>
              </a:rPr>
              <a:t>Biogas comes from decomposing organic materials, so BSBS is affordable for most families and schools.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069080"/>
            <a:ext cx="5120640" cy="1261872"/>
          </a:xfrm>
          <a:prstGeom prst="roundRect">
            <a:avLst>
              <a:gd name="adj" fmla="val 10000"/>
            </a:avLst>
          </a:prstGeom>
          <a:solidFill>
            <a:srgbClr val="F4F9F6"/>
          </a:solidFill>
          <a:ln w="12700">
            <a:solidFill>
              <a:srgbClr val="E8F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B7A4E"/>
                </a:solidFill>
                <a:latin typeface="Calibri"/>
              </a:rPr>
              <a:t>Agricultural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A2B26"/>
                </a:solidFill>
                <a:latin typeface="Calibri"/>
              </a:rPr>
              <a:t>The slurry residue is collected and dried, then sold to farmers — fostering agriculture.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069080"/>
            <a:ext cx="5120640" cy="1261872"/>
          </a:xfrm>
          <a:prstGeom prst="roundRect">
            <a:avLst>
              <a:gd name="adj" fmla="val 10000"/>
            </a:avLst>
          </a:prstGeom>
          <a:solidFill>
            <a:srgbClr val="F4F9F6"/>
          </a:solidFill>
          <a:ln w="12700">
            <a:solidFill>
              <a:srgbClr val="E8F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B7A4E"/>
                </a:solidFill>
                <a:latin typeface="Calibri"/>
              </a:rPr>
              <a:t>Social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A2B26"/>
                </a:solidFill>
                <a:latin typeface="Calibri"/>
              </a:rPr>
              <a:t>Students are no longer isolated or stigmatised; clean air for everyone, with BSBS in every home.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5440680"/>
            <a:ext cx="5120640" cy="1261872"/>
          </a:xfrm>
          <a:prstGeom prst="roundRect">
            <a:avLst>
              <a:gd name="adj" fmla="val 10000"/>
            </a:avLst>
          </a:prstGeom>
          <a:solidFill>
            <a:srgbClr val="F4F9F6"/>
          </a:solidFill>
          <a:ln w="12700">
            <a:solidFill>
              <a:srgbClr val="E8F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B7A4E"/>
                </a:solidFill>
                <a:latin typeface="Calibri"/>
              </a:rPr>
              <a:t>Environmental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A2B26"/>
                </a:solidFill>
                <a:latin typeface="Calibri"/>
              </a:rPr>
              <a:t>BSBS traps methane (a greenhouse gas) and offers an alternative to firewood and charcoal.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5440680"/>
            <a:ext cx="5120640" cy="1261872"/>
          </a:xfrm>
          <a:prstGeom prst="roundRect">
            <a:avLst>
              <a:gd name="adj" fmla="val 10000"/>
            </a:avLst>
          </a:prstGeom>
          <a:solidFill>
            <a:srgbClr val="F4F9F6"/>
          </a:solidFill>
          <a:ln w="12700">
            <a:solidFill>
              <a:srgbClr val="E8F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B7A4E"/>
                </a:solidFill>
                <a:latin typeface="Calibri"/>
              </a:rPr>
              <a:t>Transparency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A2B26"/>
                </a:solidFill>
                <a:latin typeface="Calibri"/>
              </a:rPr>
              <a:t>App-based monitoring ensures accountability.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128016" cy="713232"/>
          </a:xfrm>
          <a:prstGeom prst="roundRect">
            <a:avLst>
              <a:gd name="adj" fmla="val 50000"/>
            </a:avLst>
          </a:prstGeom>
          <a:solidFill>
            <a:srgbClr val="E9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65760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B7A4E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3327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E3B2E"/>
                </a:solidFill>
                <a:latin typeface="Calibri"/>
              </a:rPr>
              <a:t>Conclusion and Gratitude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444752"/>
            <a:ext cx="10515600" cy="25603"/>
          </a:xfrm>
          <a:prstGeom prst="rect">
            <a:avLst/>
          </a:prstGeom>
          <a:solidFill>
            <a:srgbClr val="1B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28832" y="411480"/>
            <a:ext cx="658368" cy="658368"/>
          </a:xfrm>
          <a:prstGeom prst="ellipse">
            <a:avLst/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473952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A6B66"/>
                </a:solidFill>
                <a:latin typeface="Calibri"/>
              </a:rPr>
              <a:t>BIOCLEAN SMART BIOGAS SYSTEM  ·  BSBS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572768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7A4E"/>
                </a:solidFill>
                <a:latin typeface="Calibri"/>
              </a:rPr>
              <a:t>Bioclean Smart Biogas System (BSBS) — From Waste to Wealth: From Problem to Power.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139696"/>
            <a:ext cx="5120640" cy="1298448"/>
          </a:xfrm>
          <a:prstGeom prst="roundRect">
            <a:avLst>
              <a:gd name="adj" fmla="val 8000"/>
            </a:avLst>
          </a:prstGeom>
          <a:solidFill>
            <a:srgbClr val="F4F9F6"/>
          </a:solidFill>
          <a:ln w="12700">
            <a:solidFill>
              <a:srgbClr val="E8F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99A00"/>
                </a:solidFill>
                <a:latin typeface="Calibri"/>
              </a:rPr>
              <a:t>01</a:t>
            </a:r>
            <a:r>
              <a:rPr sz="1350" b="1" i="0">
                <a:solidFill>
                  <a:srgbClr val="0E3B2E"/>
                </a:solidFill>
                <a:latin typeface="Calibri"/>
              </a:rPr>
              <a:t>   The problem is real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A2B26"/>
                </a:solidFill>
                <a:latin typeface="Calibri"/>
              </a:rPr>
              <a:t>300 students suffer daily from gas fumes; waste causes bad odour and ₦1.8m is wasted every year.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139696"/>
            <a:ext cx="5120640" cy="1298448"/>
          </a:xfrm>
          <a:prstGeom prst="roundRect">
            <a:avLst>
              <a:gd name="adj" fmla="val 8000"/>
            </a:avLst>
          </a:prstGeom>
          <a:solidFill>
            <a:srgbClr val="F4F9F6"/>
          </a:solidFill>
          <a:ln w="12700">
            <a:solidFill>
              <a:srgbClr val="E8F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99A00"/>
                </a:solidFill>
                <a:latin typeface="Calibri"/>
              </a:rPr>
              <a:t>02</a:t>
            </a:r>
            <a:r>
              <a:rPr sz="1350" b="1" i="0">
                <a:solidFill>
                  <a:srgbClr val="0E3B2E"/>
                </a:solidFill>
                <a:latin typeface="Calibri"/>
              </a:rPr>
              <a:t>   The solution works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A2B26"/>
                </a:solidFill>
                <a:latin typeface="Calibri"/>
              </a:rPr>
              <a:t>Biogas turns our biggest problem into our biggest asset: clean cooking, clean hostels, plus ₦1.8m net gain every year.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3529584"/>
            <a:ext cx="5120640" cy="1298448"/>
          </a:xfrm>
          <a:prstGeom prst="roundRect">
            <a:avLst>
              <a:gd name="adj" fmla="val 8000"/>
            </a:avLst>
          </a:prstGeom>
          <a:solidFill>
            <a:srgbClr val="F4F9F6"/>
          </a:solidFill>
          <a:ln w="12700">
            <a:solidFill>
              <a:srgbClr val="E8F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99A00"/>
                </a:solidFill>
                <a:latin typeface="Calibri"/>
              </a:rPr>
              <a:t>03</a:t>
            </a:r>
            <a:r>
              <a:rPr sz="1350" b="1" i="0">
                <a:solidFill>
                  <a:srgbClr val="0E3B2E"/>
                </a:solidFill>
                <a:latin typeface="Calibri"/>
              </a:rPr>
              <a:t>   The plan is ready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A2B26"/>
                </a:solidFill>
                <a:latin typeface="Calibri"/>
              </a:rPr>
              <a:t>₦2.65m total cost: ₦1m from LILAN, ₦1.65m from partners; 17-month payback and 15 years of impact.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529584"/>
            <a:ext cx="5120640" cy="1298448"/>
          </a:xfrm>
          <a:prstGeom prst="roundRect">
            <a:avLst>
              <a:gd name="adj" fmla="val 8000"/>
            </a:avLst>
          </a:prstGeom>
          <a:solidFill>
            <a:srgbClr val="F4F9F6"/>
          </a:solidFill>
          <a:ln w="12700">
            <a:solidFill>
              <a:srgbClr val="E8F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99A00"/>
                </a:solidFill>
                <a:latin typeface="Calibri"/>
              </a:rPr>
              <a:t>04</a:t>
            </a:r>
            <a:r>
              <a:rPr sz="1350" b="1" i="0">
                <a:solidFill>
                  <a:srgbClr val="0E3B2E"/>
                </a:solidFill>
                <a:latin typeface="Calibri"/>
              </a:rPr>
              <a:t>   The leadership is here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A2B26"/>
                </a:solidFill>
                <a:latin typeface="Calibri"/>
              </a:rPr>
              <a:t>With the BSBS Green Club and annual training, this impact will outlive me and inspire other schools in Enugu.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29200"/>
            <a:ext cx="1042416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E3B2E"/>
                </a:solidFill>
                <a:latin typeface="Calibri"/>
              </a:rPr>
              <a:t>Invest ₦1,000,000 in me today. In return, LILAN gets a national model of student-led climate action that saves money, saves the planet and saves lives.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B26"/>
                </a:solidFill>
                <a:latin typeface="Calibri"/>
              </a:rPr>
              <a:t>This is not just a project — this is my legacy.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7A4E"/>
                </a:solidFill>
                <a:latin typeface="Calibri"/>
              </a:rPr>
              <a:t>Let’s Breathe In Clean Air together.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98932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B66"/>
                </a:solidFill>
                <a:latin typeface="Calibri"/>
              </a:rPr>
              <a:t>Thank you, LILAN, for this opportunity to change my school, community, nation, continent and the whole world.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