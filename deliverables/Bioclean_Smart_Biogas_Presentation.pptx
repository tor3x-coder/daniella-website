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Cost</c:v>
                </c:pt>
              </c:strCache>
            </c:strRef>
          </c:tx>
          <c:cat>
            <c:strRef>
              <c:f>Sheet1!$A$2:$A$4</c:f>
              <c:strCache>
                <c:ptCount val="3"/>
                <c:pt idx="0">
                  <c:v>Equipment</c:v>
                </c:pt>
                <c:pt idx="1">
                  <c:v>Installation</c:v>
                </c:pt>
                <c:pt idx="2">
                  <c:v>Others</c:v>
                </c:pt>
              </c:strCache>
            </c:strRef>
          </c:cat>
          <c:val>
            <c:numRef>
              <c:f>Sheet1!$B$2:$B$4</c:f>
              <c:numCache>
                <c:formatCode>General</c:formatCode>
                <c:ptCount val="3"/>
                <c:pt idx="0">
                  <c:v>70</c:v>
                </c:pt>
                <c:pt idx="1">
                  <c:v>21</c:v>
                </c:pt>
                <c:pt idx="2">
                  <c:v>9</c:v>
                </c:pt>
              </c:numCache>
            </c:numRef>
          </c:val>
        </c:ser>
        <c:dLbls>
          <c:showLegendKey val="0"/>
          <c:showVal val="0"/>
          <c:showCatName val="0"/>
          <c:showSerName val="0"/>
          <c:showPercent val="1"/>
          <c:showBubbleSize val="0"/>
          <c:showLeaderLines val="1"/>
        </c:dLbls>
      </c:pieChart>
    </c:plotArea>
    <c:legend>
      <c:legendPos/>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Funding</c:v>
                </c:pt>
              </c:strCache>
            </c:strRef>
          </c:tx>
          <c:cat>
            <c:strRef>
              <c:f>Sheet1!$A$2:$A$3</c:f>
              <c:strCache>
                <c:ptCount val="2"/>
                <c:pt idx="0">
                  <c:v>LILAN</c:v>
                </c:pt>
                <c:pt idx="1">
                  <c:v>Partners</c:v>
                </c:pt>
              </c:strCache>
            </c:strRef>
          </c:cat>
          <c:val>
            <c:numRef>
              <c:f>Sheet1!$B$2:$B$3</c:f>
              <c:numCache>
                <c:formatCode>General</c:formatCode>
                <c:ptCount val="2"/>
                <c:pt idx="0">
                  <c:v>1000000</c:v>
                </c:pt>
                <c:pt idx="1">
                  <c:v>1650000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6492240" cy="4937760"/>
          </a:xfrm>
          <a:prstGeom prst="rect">
            <a:avLst/>
          </a:prstGeom>
          <a:noFill/>
        </p:spPr>
        <p:txBody>
          <a:bodyPr wrap="square" anchor="ctr" lIns="0" rIns="0" tIns="0" bIns="0">
            <a:spAutoFit/>
          </a:bodyPr>
          <a:lstStyle/>
          <a:p>
            <a:pPr algn="l">
              <a:lnSpc>
                <a:spcPct val="100000"/>
              </a:lnSpc>
              <a:spcBef>
                <a:spcPts val="0"/>
              </a:spcBef>
              <a:spcAft>
                <a:spcPts val="1200"/>
              </a:spcAft>
            </a:pPr>
            <a:r>
              <a:rPr sz="1300" b="1" i="0">
                <a:solidFill>
                  <a:srgbClr val="E99A00"/>
                </a:solidFill>
                <a:latin typeface="Calibri"/>
              </a:rPr>
              <a:t>BIOCLEAN  ·  SCHOOL &amp; COMMUNITY INNOVATION</a:t>
            </a:r>
          </a:p>
          <a:p>
            <a:pPr algn="l">
              <a:lnSpc>
                <a:spcPct val="98000"/>
              </a:lnSpc>
              <a:spcBef>
                <a:spcPts val="0"/>
              </a:spcBef>
              <a:spcAft>
                <a:spcPts val="0"/>
              </a:spcAft>
            </a:pPr>
            <a:r>
              <a:rPr sz="4200" b="1" i="0">
                <a:solidFill>
                  <a:srgbClr val="FFFFFF"/>
                </a:solidFill>
                <a:latin typeface="Calibri"/>
              </a:rPr>
              <a:t>BIOCLEAN SMART</a:t>
            </a:r>
          </a:p>
          <a:p>
            <a:pPr algn="l">
              <a:lnSpc>
                <a:spcPct val="98000"/>
              </a:lnSpc>
              <a:spcBef>
                <a:spcPts val="0"/>
              </a:spcBef>
              <a:spcAft>
                <a:spcPts val="600"/>
              </a:spcAft>
            </a:pPr>
            <a:r>
              <a:rPr sz="4200" b="1" i="0">
                <a:solidFill>
                  <a:srgbClr val="FFFFFF"/>
                </a:solidFill>
                <a:latin typeface="Calibri"/>
              </a:rPr>
              <a:t>BIOGAS SYSTEM</a:t>
            </a:r>
          </a:p>
          <a:p>
            <a:pPr algn="l">
              <a:lnSpc>
                <a:spcPct val="100000"/>
              </a:lnSpc>
              <a:spcBef>
                <a:spcPts val="0"/>
              </a:spcBef>
              <a:spcAft>
                <a:spcPts val="1600"/>
              </a:spcAft>
            </a:pPr>
            <a:r>
              <a:rPr sz="1800" b="1" i="0">
                <a:solidFill>
                  <a:srgbClr val="2E8B57"/>
                </a:solidFill>
                <a:latin typeface="Calibri"/>
              </a:rPr>
              <a:t>(BSBS)</a:t>
            </a:r>
          </a:p>
          <a:p>
            <a:pPr algn="l">
              <a:lnSpc>
                <a:spcPct val="110000"/>
              </a:lnSpc>
              <a:spcBef>
                <a:spcPts val="0"/>
              </a:spcBef>
              <a:spcAft>
                <a:spcPts val="500"/>
              </a:spcAft>
            </a:pPr>
            <a:r>
              <a:rPr sz="1700" b="0" i="0">
                <a:solidFill>
                  <a:srgbClr val="E8F3EC"/>
                </a:solidFill>
                <a:latin typeface="Calibri"/>
              </a:rPr>
              <a:t>Combating Air Pollution in Schools and Communities in Enugu State</a:t>
            </a:r>
          </a:p>
          <a:p>
            <a:pPr algn="l">
              <a:lnSpc>
                <a:spcPct val="100000"/>
              </a:lnSpc>
              <a:spcBef>
                <a:spcPts val="0"/>
              </a:spcBef>
              <a:spcAft>
                <a:spcPts val="2000"/>
              </a:spcAft>
            </a:pPr>
            <a:r>
              <a:rPr sz="1350" b="0" i="0">
                <a:solidFill>
                  <a:srgbClr val="E8F3EC"/>
                </a:solidFill>
                <a:latin typeface="Calibri"/>
              </a:rPr>
              <a:t>Creating a healthy environment for better learning and healthier living.</a:t>
            </a:r>
          </a:p>
          <a:p>
            <a:pPr algn="l">
              <a:lnSpc>
                <a:spcPct val="100000"/>
              </a:lnSpc>
              <a:spcBef>
                <a:spcPts val="0"/>
              </a:spcBef>
              <a:spcAft>
                <a:spcPts val="100"/>
              </a:spcAft>
            </a:pPr>
            <a:r>
              <a:rPr sz="1200" b="0" i="0">
                <a:solidFill>
                  <a:srgbClr val="5A6B66"/>
                </a:solidFill>
                <a:latin typeface="Calibri"/>
              </a:rPr>
              <a:t>Presented by</a:t>
            </a:r>
          </a:p>
          <a:p>
            <a:pPr algn="l">
              <a:lnSpc>
                <a:spcPct val="100000"/>
              </a:lnSpc>
              <a:spcBef>
                <a:spcPts val="0"/>
              </a:spcBef>
              <a:spcAft>
                <a:spcPts val="100"/>
              </a:spcAft>
            </a:pPr>
            <a:r>
              <a:rPr sz="1800" b="1" i="0">
                <a:solidFill>
                  <a:srgbClr val="FFFFFF"/>
                </a:solidFill>
                <a:latin typeface="Calibri"/>
              </a:rPr>
              <a:t>Chinwuba Chinwendu Jennifer</a:t>
            </a:r>
          </a:p>
          <a:p>
            <a:pPr algn="l">
              <a:lnSpc>
                <a:spcPct val="100000"/>
              </a:lnSpc>
              <a:spcBef>
                <a:spcPts val="0"/>
              </a:spcBef>
              <a:spcAft>
                <a:spcPts val="0"/>
              </a:spcAft>
            </a:pPr>
            <a:r>
              <a:rPr sz="1300" b="0" i="0">
                <a:solidFill>
                  <a:srgbClr val="E8F3EC"/>
                </a:solidFill>
                <a:latin typeface="Calibri"/>
              </a:rPr>
              <a:t>Head Girl  ·  Federal Government College, Enugu</a:t>
            </a:r>
          </a:p>
        </p:txBody>
      </p:sp>
      <p:pic>
        <p:nvPicPr>
          <p:cNvPr id="5" name="Picture 4" descr="biogas-diagram.png"/>
          <p:cNvPicPr>
            <a:picLocks noChangeAspect="1"/>
          </p:cNvPicPr>
          <p:nvPr/>
        </p:nvPicPr>
        <p:blipFill>
          <a:blip r:embed="rId2"/>
          <a:stretch>
            <a:fillRect/>
          </a:stretch>
        </p:blipFill>
        <p:spPr>
          <a:xfrm>
            <a:off x="7406640" y="1234440"/>
            <a:ext cx="6720840" cy="4480560"/>
          </a:xfrm>
          <a:prstGeom prst="rect">
            <a:avLst/>
          </a:prstGeom>
        </p:spPr>
      </p:pic>
      <p:sp>
        <p:nvSpPr>
          <p:cNvPr id="6" name="Rounded Rectangle 5"/>
          <p:cNvSpPr/>
          <p:nvPr/>
        </p:nvSpPr>
        <p:spPr>
          <a:xfrm>
            <a:off x="7269480" y="1097280"/>
            <a:ext cx="4709160" cy="4754880"/>
          </a:xfrm>
          <a:prstGeom prst="roundRect">
            <a:avLst>
              <a:gd name="adj" fmla="val 3000"/>
            </a:avLst>
          </a:prstGeom>
          <a:solidFill>
            <a:srgbClr val="FFFFFF"/>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ogas-diagram.png"/>
          <p:cNvPicPr>
            <a:picLocks noChangeAspect="1"/>
          </p:cNvPicPr>
          <p:nvPr/>
        </p:nvPicPr>
        <p:blipFill>
          <a:blip r:embed="rId2"/>
          <a:stretch>
            <a:fillRect/>
          </a:stretch>
        </p:blipFill>
        <p:spPr>
          <a:xfrm>
            <a:off x="7452360" y="1280160"/>
            <a:ext cx="6515100" cy="4343400"/>
          </a:xfrm>
          <a:prstGeom prst="rect">
            <a:avLst/>
          </a:prstGeom>
        </p:spPr>
      </p:pic>
      <p:sp>
        <p:nvSpPr>
          <p:cNvPr id="8" name="Rounded Rectangle 7"/>
          <p:cNvSpPr/>
          <p:nvPr/>
        </p:nvSpPr>
        <p:spPr>
          <a:xfrm>
            <a:off x="7452360" y="5715000"/>
            <a:ext cx="4343400" cy="45720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64008" bIns="64008"/>
          <a:lstStyle/>
          <a:p>
            <a:pPr algn="l">
              <a:lnSpc>
                <a:spcPct val="100000"/>
              </a:lnSpc>
              <a:spcBef>
                <a:spcPts val="0"/>
              </a:spcBef>
              <a:spcAft>
                <a:spcPts val="600"/>
              </a:spcAft>
            </a:pPr>
            <a:r>
              <a:rPr sz="1250" b="1" i="0">
                <a:solidFill>
                  <a:srgbClr val="FFFFFF"/>
                </a:solidFill>
                <a:latin typeface="Calibri"/>
              </a:rPr>
              <a:t>WASTE  →  ENERGY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PROBLEM</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3000" b="1" i="0">
                <a:solidFill>
                  <a:srgbClr val="0E3B2E"/>
                </a:solidFill>
                <a:latin typeface="Calibri"/>
              </a:rPr>
              <a:t>Introduction to Air Pollution</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02</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Rounded Rectangle 8"/>
          <p:cNvSpPr/>
          <p:nvPr/>
        </p:nvSpPr>
        <p:spPr>
          <a:xfrm>
            <a:off x="868680" y="1554480"/>
            <a:ext cx="10515600" cy="868680"/>
          </a:xfrm>
          <a:prstGeom prst="roundRect">
            <a:avLst>
              <a:gd name="adj" fmla="val 6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rtlCol="0" anchor="ctr" wrap="square" lIns="219456" rIns="219456" tIns="64008" bIns="64008"/>
          <a:lstStyle/>
          <a:p>
            <a:pPr algn="l">
              <a:lnSpc>
                <a:spcPct val="100000"/>
              </a:lnSpc>
              <a:spcBef>
                <a:spcPts val="0"/>
              </a:spcBef>
              <a:spcAft>
                <a:spcPts val="600"/>
              </a:spcAft>
            </a:pPr>
            <a:r>
              <a:rPr sz="1400" b="1" i="0">
                <a:solidFill>
                  <a:srgbClr val="0E3B2E"/>
                </a:solidFill>
                <a:latin typeface="Calibri"/>
              </a:rPr>
              <a:t>Air pollution </a:t>
            </a:r>
            <a:r>
              <a:rPr sz="1350" b="0" i="0">
                <a:solidFill>
                  <a:srgbClr val="1A2B26"/>
                </a:solidFill>
                <a:latin typeface="Calibri"/>
              </a:rPr>
              <a:t>is the release of substances into the atmosphere in quantities which can be harmful to human health and can cause modification in our climate, leading to an imbalance in nature.</a:t>
            </a:r>
          </a:p>
        </p:txBody>
      </p:sp>
      <p:sp>
        <p:nvSpPr>
          <p:cNvPr id="10" name="TextBox 9"/>
          <p:cNvSpPr txBox="1"/>
          <p:nvPr/>
        </p:nvSpPr>
        <p:spPr>
          <a:xfrm>
            <a:off x="868680" y="2578608"/>
            <a:ext cx="5486400" cy="32004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E3B2E"/>
                </a:solidFill>
                <a:latin typeface="Calibri"/>
              </a:rPr>
              <a:t>Major pollutants</a:t>
            </a:r>
          </a:p>
        </p:txBody>
      </p:sp>
      <p:sp>
        <p:nvSpPr>
          <p:cNvPr id="11" name="Rounded Rectangle 10"/>
          <p:cNvSpPr/>
          <p:nvPr/>
        </p:nvSpPr>
        <p:spPr>
          <a:xfrm>
            <a:off x="868680" y="2907792"/>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28016" tIns="64008" bIns="64008"/>
          <a:lstStyle/>
          <a:p>
            <a:pPr algn="l">
              <a:lnSpc>
                <a:spcPct val="100000"/>
              </a:lnSpc>
              <a:spcBef>
                <a:spcPts val="0"/>
              </a:spcBef>
              <a:spcAft>
                <a:spcPts val="600"/>
              </a:spcAft>
            </a:pPr>
            <a:r>
              <a:rPr sz="1100" b="1" i="0">
                <a:solidFill>
                  <a:srgbClr val="E99A00"/>
                </a:solidFill>
                <a:latin typeface="Calibri"/>
              </a:rPr>
              <a:t>01</a:t>
            </a:r>
            <a:r>
              <a:rPr sz="1300" b="1" i="0">
                <a:solidFill>
                  <a:srgbClr val="0E3B2E"/>
                </a:solidFill>
                <a:latin typeface="Calibri"/>
              </a:rPr>
              <a:t>   PM2.5 &amp; PM10</a:t>
            </a:r>
          </a:p>
          <a:p>
            <a:pPr algn="l">
              <a:lnSpc>
                <a:spcPct val="100000"/>
              </a:lnSpc>
              <a:spcBef>
                <a:spcPts val="0"/>
              </a:spcBef>
              <a:spcAft>
                <a:spcPts val="600"/>
              </a:spcAft>
            </a:pPr>
            <a:r>
              <a:rPr sz="1050" b="0" i="0">
                <a:solidFill>
                  <a:srgbClr val="1A2B26"/>
                </a:solidFill>
                <a:latin typeface="Calibri"/>
              </a:rPr>
              <a:t>Tiny dust particles from vehicles and generators. The most dangerous because they travel deep into our lungs.</a:t>
            </a:r>
          </a:p>
        </p:txBody>
      </p:sp>
      <p:sp>
        <p:nvSpPr>
          <p:cNvPr id="12" name="Rounded Rectangle 11"/>
          <p:cNvSpPr/>
          <p:nvPr/>
        </p:nvSpPr>
        <p:spPr>
          <a:xfrm>
            <a:off x="6309360" y="2907792"/>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28016" tIns="64008" bIns="64008"/>
          <a:lstStyle/>
          <a:p>
            <a:pPr algn="l">
              <a:lnSpc>
                <a:spcPct val="100000"/>
              </a:lnSpc>
              <a:spcBef>
                <a:spcPts val="0"/>
              </a:spcBef>
              <a:spcAft>
                <a:spcPts val="600"/>
              </a:spcAft>
            </a:pPr>
            <a:r>
              <a:rPr sz="1100" b="1" i="0">
                <a:solidFill>
                  <a:srgbClr val="E99A00"/>
                </a:solidFill>
                <a:latin typeface="Calibri"/>
              </a:rPr>
              <a:t>02</a:t>
            </a:r>
            <a:r>
              <a:rPr sz="1300" b="1" i="0">
                <a:solidFill>
                  <a:srgbClr val="0E3B2E"/>
                </a:solidFill>
                <a:latin typeface="Calibri"/>
              </a:rPr>
              <a:t>   Carbon Monoxide (CO)</a:t>
            </a:r>
          </a:p>
          <a:p>
            <a:pPr algn="l">
              <a:lnSpc>
                <a:spcPct val="100000"/>
              </a:lnSpc>
              <a:spcBef>
                <a:spcPts val="0"/>
              </a:spcBef>
              <a:spcAft>
                <a:spcPts val="600"/>
              </a:spcAft>
            </a:pPr>
            <a:r>
              <a:rPr sz="1050" b="0" i="0">
                <a:solidFill>
                  <a:srgbClr val="1A2B26"/>
                </a:solidFill>
                <a:latin typeface="Calibri"/>
              </a:rPr>
              <a:t>From the incomplete burning of fuel such as coal, firewood, diesel and petrol.</a:t>
            </a:r>
          </a:p>
        </p:txBody>
      </p:sp>
      <p:sp>
        <p:nvSpPr>
          <p:cNvPr id="13" name="Rounded Rectangle 12"/>
          <p:cNvSpPr/>
          <p:nvPr/>
        </p:nvSpPr>
        <p:spPr>
          <a:xfrm>
            <a:off x="868680" y="3986784"/>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28016" tIns="64008" bIns="64008"/>
          <a:lstStyle/>
          <a:p>
            <a:pPr algn="l">
              <a:lnSpc>
                <a:spcPct val="100000"/>
              </a:lnSpc>
              <a:spcBef>
                <a:spcPts val="0"/>
              </a:spcBef>
              <a:spcAft>
                <a:spcPts val="600"/>
              </a:spcAft>
            </a:pPr>
            <a:r>
              <a:rPr sz="1100" b="1" i="0">
                <a:solidFill>
                  <a:srgbClr val="E99A00"/>
                </a:solidFill>
                <a:latin typeface="Calibri"/>
              </a:rPr>
              <a:t>03</a:t>
            </a:r>
            <a:r>
              <a:rPr sz="1300" b="1" i="0">
                <a:solidFill>
                  <a:srgbClr val="0E3B2E"/>
                </a:solidFill>
                <a:latin typeface="Calibri"/>
              </a:rPr>
              <a:t>   Sulphur Dioxide (SO₂)</a:t>
            </a:r>
          </a:p>
          <a:p>
            <a:pPr algn="l">
              <a:lnSpc>
                <a:spcPct val="100000"/>
              </a:lnSpc>
              <a:spcBef>
                <a:spcPts val="0"/>
              </a:spcBef>
              <a:spcAft>
                <a:spcPts val="600"/>
              </a:spcAft>
            </a:pPr>
            <a:r>
              <a:rPr sz="1050" b="0" i="0">
                <a:solidFill>
                  <a:srgbClr val="1A2B26"/>
                </a:solidFill>
                <a:latin typeface="Calibri"/>
              </a:rPr>
              <a:t>Released from gas flaring and diesel combustion.</a:t>
            </a:r>
          </a:p>
        </p:txBody>
      </p:sp>
      <p:sp>
        <p:nvSpPr>
          <p:cNvPr id="14" name="Rounded Rectangle 13"/>
          <p:cNvSpPr/>
          <p:nvPr/>
        </p:nvSpPr>
        <p:spPr>
          <a:xfrm>
            <a:off x="6309360" y="3986784"/>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28016" tIns="64008" bIns="64008"/>
          <a:lstStyle/>
          <a:p>
            <a:pPr algn="l">
              <a:lnSpc>
                <a:spcPct val="100000"/>
              </a:lnSpc>
              <a:spcBef>
                <a:spcPts val="0"/>
              </a:spcBef>
              <a:spcAft>
                <a:spcPts val="600"/>
              </a:spcAft>
            </a:pPr>
            <a:r>
              <a:rPr sz="1100" b="1" i="0">
                <a:solidFill>
                  <a:srgbClr val="E99A00"/>
                </a:solidFill>
                <a:latin typeface="Calibri"/>
              </a:rPr>
              <a:t>04</a:t>
            </a:r>
            <a:r>
              <a:rPr sz="1300" b="1" i="0">
                <a:solidFill>
                  <a:srgbClr val="0E3B2E"/>
                </a:solidFill>
                <a:latin typeface="Calibri"/>
              </a:rPr>
              <a:t>   Nitrogen Dioxide (NO₂)</a:t>
            </a:r>
          </a:p>
          <a:p>
            <a:pPr algn="l">
              <a:lnSpc>
                <a:spcPct val="100000"/>
              </a:lnSpc>
              <a:spcBef>
                <a:spcPts val="0"/>
              </a:spcBef>
              <a:spcAft>
                <a:spcPts val="600"/>
              </a:spcAft>
            </a:pPr>
            <a:r>
              <a:rPr sz="1050" b="0" i="0">
                <a:solidFill>
                  <a:srgbClr val="1A2B26"/>
                </a:solidFill>
                <a:latin typeface="Calibri"/>
              </a:rPr>
              <a:t>A reddish-brown gas emitted from vehicle engines, generators and gas-flaring industries.</a:t>
            </a:r>
          </a:p>
        </p:txBody>
      </p:sp>
      <p:sp>
        <p:nvSpPr>
          <p:cNvPr id="15" name="Rounded Rectangle 14"/>
          <p:cNvSpPr/>
          <p:nvPr/>
        </p:nvSpPr>
        <p:spPr>
          <a:xfrm>
            <a:off x="868680" y="5065776"/>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28016" tIns="64008" bIns="64008"/>
          <a:lstStyle/>
          <a:p>
            <a:pPr algn="l">
              <a:lnSpc>
                <a:spcPct val="100000"/>
              </a:lnSpc>
              <a:spcBef>
                <a:spcPts val="0"/>
              </a:spcBef>
              <a:spcAft>
                <a:spcPts val="600"/>
              </a:spcAft>
            </a:pPr>
            <a:r>
              <a:rPr sz="1100" b="1" i="0">
                <a:solidFill>
                  <a:srgbClr val="E99A00"/>
                </a:solidFill>
                <a:latin typeface="Calibri"/>
              </a:rPr>
              <a:t>05</a:t>
            </a:r>
            <a:r>
              <a:rPr sz="1300" b="1" i="0">
                <a:solidFill>
                  <a:srgbClr val="0E3B2E"/>
                </a:solidFill>
                <a:latin typeface="Calibri"/>
              </a:rPr>
              <a:t>   Ground-level Ozone (O₃)</a:t>
            </a:r>
          </a:p>
          <a:p>
            <a:pPr algn="l">
              <a:lnSpc>
                <a:spcPct val="100000"/>
              </a:lnSpc>
              <a:spcBef>
                <a:spcPts val="0"/>
              </a:spcBef>
              <a:spcAft>
                <a:spcPts val="600"/>
              </a:spcAft>
            </a:pPr>
            <a:r>
              <a:rPr sz="1050" b="0" i="0">
                <a:solidFill>
                  <a:srgbClr val="1A2B26"/>
                </a:solidFill>
                <a:latin typeface="Calibri"/>
              </a:rPr>
              <a:t>A major part of smog; formed when sunlight reacts with other pollutants.</a:t>
            </a:r>
          </a:p>
        </p:txBody>
      </p:sp>
      <p:sp>
        <p:nvSpPr>
          <p:cNvPr id="16" name="Rounded Rectangle 15"/>
          <p:cNvSpPr/>
          <p:nvPr/>
        </p:nvSpPr>
        <p:spPr>
          <a:xfrm>
            <a:off x="6309360" y="5065776"/>
            <a:ext cx="5257800" cy="987552"/>
          </a:xfrm>
          <a:prstGeom prst="roundRect">
            <a:avLst>
              <a:gd name="adj" fmla="val 14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28016" tIns="64008" bIns="64008"/>
          <a:lstStyle/>
          <a:p>
            <a:pPr algn="l">
              <a:lnSpc>
                <a:spcPct val="100000"/>
              </a:lnSpc>
              <a:spcBef>
                <a:spcPts val="0"/>
              </a:spcBef>
              <a:spcAft>
                <a:spcPts val="600"/>
              </a:spcAft>
            </a:pPr>
            <a:r>
              <a:rPr sz="1100" b="1" i="0">
                <a:solidFill>
                  <a:srgbClr val="E99A00"/>
                </a:solidFill>
                <a:latin typeface="Calibri"/>
              </a:rPr>
              <a:t>06</a:t>
            </a:r>
            <a:r>
              <a:rPr sz="1300" b="1" i="0">
                <a:solidFill>
                  <a:srgbClr val="0E3B2E"/>
                </a:solidFill>
                <a:latin typeface="Calibri"/>
              </a:rPr>
              <a:t>   Methane (CH₄)</a:t>
            </a:r>
          </a:p>
          <a:p>
            <a:pPr algn="l">
              <a:lnSpc>
                <a:spcPct val="100000"/>
              </a:lnSpc>
              <a:spcBef>
                <a:spcPts val="0"/>
              </a:spcBef>
              <a:spcAft>
                <a:spcPts val="600"/>
              </a:spcAft>
            </a:pPr>
            <a:r>
              <a:rPr sz="1050" b="0" i="0">
                <a:solidFill>
                  <a:srgbClr val="1A2B26"/>
                </a:solidFill>
                <a:latin typeface="Calibri"/>
              </a:rPr>
              <a:t>A colourless, odourless gas from sewage, decomposing waste and gas flaring; reacts with sunlight to form smog.</a:t>
            </a:r>
          </a:p>
        </p:txBody>
      </p:sp>
      <p:sp>
        <p:nvSpPr>
          <p:cNvPr id="17" name="Rounded Rectangle 16"/>
          <p:cNvSpPr/>
          <p:nvPr/>
        </p:nvSpPr>
        <p:spPr>
          <a:xfrm>
            <a:off x="868680" y="6144768"/>
            <a:ext cx="10515600" cy="420624"/>
          </a:xfrm>
          <a:prstGeom prst="roundRect">
            <a:avLst>
              <a:gd name="adj" fmla="val 50000"/>
            </a:avLst>
          </a:prstGeom>
          <a:solidFill>
            <a:srgbClr val="FCEFDC"/>
          </a:solidFill>
          <a:ln w="12700">
            <a:solidFill>
              <a:srgbClr val="E99A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lstStyle/>
          <a:p>
            <a:pPr algn="l">
              <a:lnSpc>
                <a:spcPct val="100000"/>
              </a:lnSpc>
              <a:spcBef>
                <a:spcPts val="0"/>
              </a:spcBef>
              <a:spcAft>
                <a:spcPts val="600"/>
              </a:spcAft>
            </a:pPr>
            <a:r>
              <a:rPr sz="1200" b="0" i="0">
                <a:solidFill>
                  <a:srgbClr val="1A2B26"/>
                </a:solidFill>
                <a:latin typeface="Calibri"/>
              </a:rPr>
              <a:t>WHO reports that about </a:t>
            </a:r>
            <a:r>
              <a:rPr sz="1200" b="1" i="0">
                <a:solidFill>
                  <a:srgbClr val="0E3B2E"/>
                </a:solidFill>
                <a:latin typeface="Calibri"/>
              </a:rPr>
              <a:t>6.7 million premature deaths every year</a:t>
            </a:r>
            <a:r>
              <a:rPr sz="1200" b="0" i="0">
                <a:solidFill>
                  <a:srgbClr val="1A2B26"/>
                </a:solidFill>
                <a:latin typeface="Calibri"/>
              </a:rPr>
              <a:t> are caused by air pollution.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LOCAL EVIDENCE</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3000" b="1" i="0">
                <a:solidFill>
                  <a:srgbClr val="0E3B2E"/>
                </a:solidFill>
                <a:latin typeface="Calibri"/>
              </a:rPr>
              <a:t>Current Situation in My School</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03</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Rounded Rectangle 8"/>
          <p:cNvSpPr/>
          <p:nvPr/>
        </p:nvSpPr>
        <p:spPr>
          <a:xfrm>
            <a:off x="868680" y="1627632"/>
            <a:ext cx="10515600" cy="1920240"/>
          </a:xfrm>
          <a:prstGeom prst="roundRect">
            <a:avLst>
              <a:gd name="adj" fmla="val 6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64008" bIns="64008"/>
          <a:lstStyle/>
          <a:p>
            <a:pPr algn="l">
              <a:lnSpc>
                <a:spcPct val="100000"/>
              </a:lnSpc>
              <a:spcBef>
                <a:spcPts val="0"/>
              </a:spcBef>
              <a:spcAft>
                <a:spcPts val="600"/>
              </a:spcAft>
            </a:pPr>
            <a:r>
              <a:rPr sz="1350" b="0" i="0">
                <a:solidFill>
                  <a:srgbClr val="1A2B26"/>
                </a:solidFill>
                <a:latin typeface="Calibri"/>
              </a:rPr>
              <a:t>Most days in my school — especially within the hostels — my fellow students complain of drowsiness and nausea. This is due to the presence of </a:t>
            </a:r>
            <a:r>
              <a:rPr sz="1350" b="1" i="0">
                <a:solidFill>
                  <a:srgbClr val="0E3B2E"/>
                </a:solidFill>
                <a:latin typeface="Calibri"/>
              </a:rPr>
              <a:t>ammonia (NH₃)</a:t>
            </a:r>
            <a:r>
              <a:rPr sz="1350" b="0" i="0">
                <a:solidFill>
                  <a:srgbClr val="1A2B26"/>
                </a:solidFill>
                <a:latin typeface="Calibri"/>
              </a:rPr>
              <a:t> and </a:t>
            </a:r>
            <a:r>
              <a:rPr sz="1350" b="1" i="0">
                <a:solidFill>
                  <a:srgbClr val="0E3B2E"/>
                </a:solidFill>
                <a:latin typeface="Calibri"/>
              </a:rPr>
              <a:t>hydrogen sulphide (H₂S)</a:t>
            </a:r>
            <a:r>
              <a:rPr sz="1350" b="0" i="0">
                <a:solidFill>
                  <a:srgbClr val="1A2B26"/>
                </a:solidFill>
                <a:latin typeface="Calibri"/>
              </a:rPr>
              <a:t> gas from sewage and open dumps.</a:t>
            </a:r>
          </a:p>
        </p:txBody>
      </p:sp>
      <p:sp>
        <p:nvSpPr>
          <p:cNvPr id="10" name="TextBox 9"/>
          <p:cNvSpPr txBox="1"/>
          <p:nvPr/>
        </p:nvSpPr>
        <p:spPr>
          <a:xfrm>
            <a:off x="868680" y="3749039"/>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1B7A4E"/>
                </a:solidFill>
                <a:latin typeface="Calibri"/>
              </a:rPr>
              <a:t>What students experience daily</a:t>
            </a:r>
          </a:p>
        </p:txBody>
      </p:sp>
      <p:sp>
        <p:nvSpPr>
          <p:cNvPr id="11" name="Rounded Rectangle 10"/>
          <p:cNvSpPr/>
          <p:nvPr/>
        </p:nvSpPr>
        <p:spPr>
          <a:xfrm>
            <a:off x="868680" y="4114800"/>
            <a:ext cx="10515600" cy="566928"/>
          </a:xfrm>
          <a:prstGeom prst="roundRect">
            <a:avLst>
              <a:gd name="adj" fmla="val 12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64008" bIns="64008"/>
          <a:lstStyle/>
          <a:p>
            <a:pPr algn="l">
              <a:lnSpc>
                <a:spcPct val="100000"/>
              </a:lnSpc>
              <a:spcBef>
                <a:spcPts val="0"/>
              </a:spcBef>
              <a:spcAft>
                <a:spcPts val="600"/>
              </a:spcAft>
            </a:pPr>
            <a:r>
              <a:rPr sz="1300" b="1" i="0">
                <a:solidFill>
                  <a:srgbClr val="1B7A4E"/>
                </a:solidFill>
                <a:latin typeface="Calibri"/>
              </a:rPr>
              <a:t>Drowsiness &amp; nausea</a:t>
            </a:r>
            <a:r>
              <a:rPr sz="1250" b="0" i="0">
                <a:solidFill>
                  <a:srgbClr val="1A2B26"/>
                </a:solidFill>
                <a:latin typeface="Calibri"/>
              </a:rPr>
              <a:t>   —   Reported especially within the hostels, linked to gases from sewage and open dumps.</a:t>
            </a:r>
          </a:p>
        </p:txBody>
      </p:sp>
      <p:sp>
        <p:nvSpPr>
          <p:cNvPr id="12" name="Rounded Rectangle 11"/>
          <p:cNvSpPr/>
          <p:nvPr/>
        </p:nvSpPr>
        <p:spPr>
          <a:xfrm>
            <a:off x="868680" y="4773168"/>
            <a:ext cx="10515600" cy="566928"/>
          </a:xfrm>
          <a:prstGeom prst="roundRect">
            <a:avLst>
              <a:gd name="adj" fmla="val 12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64008" bIns="64008"/>
          <a:lstStyle/>
          <a:p>
            <a:pPr algn="l">
              <a:lnSpc>
                <a:spcPct val="100000"/>
              </a:lnSpc>
              <a:spcBef>
                <a:spcPts val="0"/>
              </a:spcBef>
              <a:spcAft>
                <a:spcPts val="600"/>
              </a:spcAft>
            </a:pPr>
            <a:r>
              <a:rPr sz="1300" b="1" i="0">
                <a:solidFill>
                  <a:srgbClr val="1B7A4E"/>
                </a:solidFill>
                <a:latin typeface="Calibri"/>
              </a:rPr>
              <a:t>Smoke from burning waste</a:t>
            </a:r>
            <a:r>
              <a:rPr sz="1250" b="0" i="0">
                <a:solidFill>
                  <a:srgbClr val="1A2B26"/>
                </a:solidFill>
                <a:latin typeface="Calibri"/>
              </a:rPr>
              <a:t>   —   Students feel uncomfortable inhaling smoke when waste is burned on the premises.</a:t>
            </a:r>
          </a:p>
        </p:txBody>
      </p:sp>
      <p:sp>
        <p:nvSpPr>
          <p:cNvPr id="13" name="Rounded Rectangle 12"/>
          <p:cNvSpPr/>
          <p:nvPr/>
        </p:nvSpPr>
        <p:spPr>
          <a:xfrm>
            <a:off x="868680" y="5431536"/>
            <a:ext cx="10515600" cy="566928"/>
          </a:xfrm>
          <a:prstGeom prst="roundRect">
            <a:avLst>
              <a:gd name="adj" fmla="val 12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64008" bIns="64008"/>
          <a:lstStyle/>
          <a:p>
            <a:pPr algn="l">
              <a:lnSpc>
                <a:spcPct val="100000"/>
              </a:lnSpc>
              <a:spcBef>
                <a:spcPts val="0"/>
              </a:spcBef>
              <a:spcAft>
                <a:spcPts val="600"/>
              </a:spcAft>
            </a:pPr>
            <a:r>
              <a:rPr sz="1300" b="1" i="0">
                <a:solidFill>
                  <a:srgbClr val="1B7A4E"/>
                </a:solidFill>
                <a:latin typeface="Calibri"/>
              </a:rPr>
              <a:t>Unbreathable classrooms</a:t>
            </a:r>
            <a:r>
              <a:rPr sz="1250" b="0" i="0">
                <a:solidFill>
                  <a:srgbClr val="1A2B26"/>
                </a:solidFill>
                <a:latin typeface="Calibri"/>
              </a:rPr>
              <a:t>   —   Some students no longer enter classes because they cannot breathe comfortably.</a:t>
            </a:r>
          </a:p>
        </p:txBody>
      </p:sp>
      <p:sp>
        <p:nvSpPr>
          <p:cNvPr id="14" name="TextBox 13"/>
          <p:cNvSpPr txBox="1"/>
          <p:nvPr/>
        </p:nvSpPr>
        <p:spPr>
          <a:xfrm>
            <a:off x="868680" y="6144768"/>
            <a:ext cx="10515600" cy="365760"/>
          </a:xfrm>
          <a:prstGeom prst="rect">
            <a:avLst/>
          </a:prstGeom>
          <a:noFill/>
        </p:spPr>
        <p:txBody>
          <a:bodyPr wrap="square" anchor="t" lIns="0" rIns="0" tIns="0" bIns="0">
            <a:spAutoFit/>
          </a:bodyPr>
          <a:lstStyle/>
          <a:p>
            <a:pPr algn="ctr">
              <a:lnSpc>
                <a:spcPct val="100000"/>
              </a:lnSpc>
              <a:spcBef>
                <a:spcPts val="0"/>
              </a:spcBef>
              <a:spcAft>
                <a:spcPts val="0"/>
              </a:spcAft>
            </a:pPr>
            <a:r>
              <a:rPr sz="1400" b="1" i="0">
                <a:solidFill>
                  <a:srgbClr val="0E3B2E"/>
                </a:solidFill>
                <a:latin typeface="Calibri"/>
              </a:rPr>
              <a:t>Clean air is not a luxury — it is a learning condition.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LOCAL CONTEXT</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3000" b="1" i="0">
                <a:solidFill>
                  <a:srgbClr val="0E3B2E"/>
                </a:solidFill>
                <a:latin typeface="Calibri"/>
              </a:rPr>
              <a:t>My Community Challenge</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04</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TextBox 8"/>
          <p:cNvSpPr txBox="1"/>
          <p:nvPr/>
        </p:nvSpPr>
        <p:spPr>
          <a:xfrm>
            <a:off x="868680" y="1572768"/>
            <a:ext cx="10515600" cy="2651760"/>
          </a:xfrm>
          <a:prstGeom prst="rect">
            <a:avLst/>
          </a:prstGeom>
          <a:noFill/>
        </p:spPr>
        <p:txBody>
          <a:bodyPr wrap="square" anchor="t" lIns="0" rIns="0" tIns="0" bIns="0">
            <a:spAutoFit/>
          </a:bodyPr>
          <a:lstStyle/>
          <a:p>
            <a:pPr algn="l">
              <a:lnSpc>
                <a:spcPct val="120000"/>
              </a:lnSpc>
              <a:spcBef>
                <a:spcPts val="0"/>
              </a:spcBef>
              <a:spcAft>
                <a:spcPts val="0"/>
              </a:spcAft>
            </a:pPr>
            <a:r>
              <a:rPr sz="1350" b="0" i="0">
                <a:solidFill>
                  <a:srgbClr val="1A2B26"/>
                </a:solidFill>
                <a:latin typeface="Calibri"/>
              </a:rPr>
              <a:t>Nowadays, most homes in my community utilise </a:t>
            </a:r>
            <a:r>
              <a:rPr sz="1350" b="1" i="0">
                <a:solidFill>
                  <a:srgbClr val="0E3B2E"/>
                </a:solidFill>
                <a:latin typeface="Calibri"/>
              </a:rPr>
              <a:t>charcoal, stoves and generators</a:t>
            </a:r>
            <a:r>
              <a:rPr sz="1350" b="0" i="0">
                <a:solidFill>
                  <a:srgbClr val="1A2B26"/>
                </a:solidFill>
                <a:latin typeface="Calibri"/>
              </a:rPr>
              <a:t> for cooking and powering their houses. As we all know, coal burns in a limited supply of air to release </a:t>
            </a:r>
            <a:r>
              <a:rPr sz="1350" b="1" i="0">
                <a:solidFill>
                  <a:srgbClr val="0E3B2E"/>
                </a:solidFill>
                <a:latin typeface="Calibri"/>
              </a:rPr>
              <a:t>carbon monoxide (CO)</a:t>
            </a:r>
            <a:r>
              <a:rPr sz="1350" b="0" i="0">
                <a:solidFill>
                  <a:srgbClr val="1A2B26"/>
                </a:solidFill>
                <a:latin typeface="Calibri"/>
              </a:rPr>
              <a:t>, a colourless and odourless gas which, when inhaled excessively, accumulates in the body and reacts with the haemoglobin of our blood to form </a:t>
            </a:r>
            <a:r>
              <a:rPr sz="1350" b="1" i="0">
                <a:solidFill>
                  <a:srgbClr val="0E3B2E"/>
                </a:solidFill>
                <a:latin typeface="Calibri"/>
              </a:rPr>
              <a:t>carboxyhaemoglobin</a:t>
            </a:r>
            <a:r>
              <a:rPr sz="1350" b="0" i="0">
                <a:solidFill>
                  <a:srgbClr val="1A2B26"/>
                </a:solidFill>
                <a:latin typeface="Calibri"/>
              </a:rPr>
              <a:t>. This cuts down the level of oxygen delivered in the body, leading to severe cardiovascular issues or even death.</a:t>
            </a:r>
          </a:p>
        </p:txBody>
      </p:sp>
      <p:sp>
        <p:nvSpPr>
          <p:cNvPr id="10" name="TextBox 9"/>
          <p:cNvSpPr txBox="1"/>
          <p:nvPr/>
        </p:nvSpPr>
        <p:spPr>
          <a:xfrm>
            <a:off x="868680" y="3977639"/>
            <a:ext cx="10515600" cy="914400"/>
          </a:xfrm>
          <a:prstGeom prst="rect">
            <a:avLst/>
          </a:prstGeom>
          <a:noFill/>
        </p:spPr>
        <p:txBody>
          <a:bodyPr wrap="square" anchor="t" lIns="0" rIns="0" tIns="0" bIns="0">
            <a:spAutoFit/>
          </a:bodyPr>
          <a:lstStyle/>
          <a:p>
            <a:pPr algn="l">
              <a:lnSpc>
                <a:spcPct val="120000"/>
              </a:lnSpc>
              <a:spcBef>
                <a:spcPts val="0"/>
              </a:spcBef>
              <a:spcAft>
                <a:spcPts val="0"/>
              </a:spcAft>
            </a:pPr>
            <a:r>
              <a:rPr sz="1350" b="0" i="0">
                <a:solidFill>
                  <a:srgbClr val="1A2B26"/>
                </a:solidFill>
                <a:latin typeface="Calibri"/>
              </a:rPr>
              <a:t>Furthermore, most houses in my community still use poor sewage systems. These include </a:t>
            </a:r>
            <a:r>
              <a:rPr sz="1350" b="1" i="0">
                <a:solidFill>
                  <a:srgbClr val="0E3B2E"/>
                </a:solidFill>
                <a:latin typeface="Calibri"/>
              </a:rPr>
              <a:t>broken septic tanks and leaking sewage pipes</a:t>
            </a:r>
            <a:r>
              <a:rPr sz="1350" b="0" i="0">
                <a:solidFill>
                  <a:srgbClr val="1A2B26"/>
                </a:solidFill>
                <a:latin typeface="Calibri"/>
              </a:rPr>
              <a:t>, which cause air pollution.</a:t>
            </a:r>
          </a:p>
        </p:txBody>
      </p:sp>
      <p:sp>
        <p:nvSpPr>
          <p:cNvPr id="11" name="Rounded Rectangle 10"/>
          <p:cNvSpPr/>
          <p:nvPr/>
        </p:nvSpPr>
        <p:spPr>
          <a:xfrm>
            <a:off x="868680" y="4983480"/>
            <a:ext cx="10515600" cy="1325880"/>
          </a:xfrm>
          <a:prstGeom prst="roundRect">
            <a:avLst>
              <a:gd name="adj" fmla="val 8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64008" bIns="64008"/>
          <a:lstStyle/>
          <a:p>
            <a:pPr algn="l">
              <a:lnSpc>
                <a:spcPct val="100000"/>
              </a:lnSpc>
              <a:spcBef>
                <a:spcPts val="0"/>
              </a:spcBef>
              <a:spcAft>
                <a:spcPts val="600"/>
              </a:spcAft>
            </a:pPr>
            <a:r>
              <a:rPr sz="1200" b="1" i="0">
                <a:solidFill>
                  <a:srgbClr val="1B7A4E"/>
                </a:solidFill>
                <a:latin typeface="Calibri"/>
              </a:rPr>
              <a:t>THE COMMUNITY NEED</a:t>
            </a:r>
          </a:p>
          <a:p>
            <a:pPr algn="l">
              <a:lnSpc>
                <a:spcPct val="100000"/>
              </a:lnSpc>
              <a:spcBef>
                <a:spcPts val="0"/>
              </a:spcBef>
              <a:spcAft>
                <a:spcPts val="600"/>
              </a:spcAft>
            </a:pPr>
            <a:r>
              <a:rPr sz="1450" b="0" i="0">
                <a:solidFill>
                  <a:srgbClr val="0E3B2E"/>
                </a:solidFill>
                <a:latin typeface="Calibri"/>
              </a:rPr>
              <a:t>Safer waste handling  +  cleaner energy  +  better sanitation  →  healthier, more productive homes and schools.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IMPACT</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2700" b="1" i="0">
                <a:solidFill>
                  <a:srgbClr val="0E3B2E"/>
                </a:solidFill>
                <a:latin typeface="Calibri"/>
              </a:rPr>
              <a:t>The Effects of Air Pollution in Our Schools and Communities</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05</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Rounded Rectangle 8"/>
          <p:cNvSpPr/>
          <p:nvPr/>
        </p:nvSpPr>
        <p:spPr>
          <a:xfrm>
            <a:off x="868680" y="1627632"/>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lstStyle/>
          <a:p>
            <a:pPr algn="l">
              <a:lnSpc>
                <a:spcPct val="100000"/>
              </a:lnSpc>
              <a:spcBef>
                <a:spcPts val="0"/>
              </a:spcBef>
              <a:spcAft>
                <a:spcPts val="600"/>
              </a:spcAft>
            </a:pPr>
            <a:r>
              <a:rPr sz="1200" b="1" i="0">
                <a:solidFill>
                  <a:srgbClr val="E99A00"/>
                </a:solidFill>
                <a:latin typeface="Calibri"/>
              </a:rPr>
              <a:t>01</a:t>
            </a:r>
            <a:r>
              <a:rPr sz="1500" b="1" i="0">
                <a:solidFill>
                  <a:srgbClr val="0E3B2E"/>
                </a:solidFill>
                <a:latin typeface="Calibri"/>
              </a:rPr>
              <a:t>   Health effects</a:t>
            </a:r>
          </a:p>
          <a:p>
            <a:pPr algn="l">
              <a:lnSpc>
                <a:spcPct val="100000"/>
              </a:lnSpc>
              <a:spcBef>
                <a:spcPts val="0"/>
              </a:spcBef>
              <a:spcAft>
                <a:spcPts val="600"/>
              </a:spcAft>
            </a:pPr>
            <a:r>
              <a:rPr sz="1150" b="0" i="0">
                <a:solidFill>
                  <a:srgbClr val="1A2B26"/>
                </a:solidFill>
                <a:latin typeface="Calibri"/>
              </a:rPr>
              <a:t>Air pollution affects our health through diseases like asthma, pneumonia and lung cancer. Families are exposed to serious, long-term health risks.</a:t>
            </a:r>
          </a:p>
        </p:txBody>
      </p:sp>
      <p:sp>
        <p:nvSpPr>
          <p:cNvPr id="10" name="Rounded Rectangle 9"/>
          <p:cNvSpPr/>
          <p:nvPr/>
        </p:nvSpPr>
        <p:spPr>
          <a:xfrm>
            <a:off x="6309360" y="1627632"/>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lstStyle/>
          <a:p>
            <a:pPr algn="l">
              <a:lnSpc>
                <a:spcPct val="100000"/>
              </a:lnSpc>
              <a:spcBef>
                <a:spcPts val="0"/>
              </a:spcBef>
              <a:spcAft>
                <a:spcPts val="600"/>
              </a:spcAft>
            </a:pPr>
            <a:r>
              <a:rPr sz="1200" b="1" i="0">
                <a:solidFill>
                  <a:srgbClr val="E99A00"/>
                </a:solidFill>
                <a:latin typeface="Calibri"/>
              </a:rPr>
              <a:t>02</a:t>
            </a:r>
            <a:r>
              <a:rPr sz="1500" b="1" i="0">
                <a:solidFill>
                  <a:srgbClr val="0E3B2E"/>
                </a:solidFill>
                <a:latin typeface="Calibri"/>
              </a:rPr>
              <a:t>   Academic effects</a:t>
            </a:r>
          </a:p>
          <a:p>
            <a:pPr algn="l">
              <a:lnSpc>
                <a:spcPct val="100000"/>
              </a:lnSpc>
              <a:spcBef>
                <a:spcPts val="0"/>
              </a:spcBef>
              <a:spcAft>
                <a:spcPts val="600"/>
              </a:spcAft>
            </a:pPr>
            <a:r>
              <a:rPr sz="1150" b="0" i="0">
                <a:solidFill>
                  <a:srgbClr val="1A2B26"/>
                </a:solidFill>
                <a:latin typeface="Calibri"/>
              </a:rPr>
              <a:t>Students find it difficult to learn in polluted environments, leading to poor grades by the end of the term or session. Teachers may also lose interest in teaching, causing poor educational outcomes.</a:t>
            </a:r>
          </a:p>
        </p:txBody>
      </p:sp>
      <p:sp>
        <p:nvSpPr>
          <p:cNvPr id="11" name="Rounded Rectangle 10"/>
          <p:cNvSpPr/>
          <p:nvPr/>
        </p:nvSpPr>
        <p:spPr>
          <a:xfrm>
            <a:off x="868680" y="3877056"/>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lstStyle/>
          <a:p>
            <a:pPr algn="l">
              <a:lnSpc>
                <a:spcPct val="100000"/>
              </a:lnSpc>
              <a:spcBef>
                <a:spcPts val="0"/>
              </a:spcBef>
              <a:spcAft>
                <a:spcPts val="600"/>
              </a:spcAft>
            </a:pPr>
            <a:r>
              <a:rPr sz="1200" b="1" i="0">
                <a:solidFill>
                  <a:srgbClr val="E99A00"/>
                </a:solidFill>
                <a:latin typeface="Calibri"/>
              </a:rPr>
              <a:t>03</a:t>
            </a:r>
            <a:r>
              <a:rPr sz="1500" b="1" i="0">
                <a:solidFill>
                  <a:srgbClr val="0E3B2E"/>
                </a:solidFill>
                <a:latin typeface="Calibri"/>
              </a:rPr>
              <a:t>   Economic effects</a:t>
            </a:r>
          </a:p>
          <a:p>
            <a:pPr algn="l">
              <a:lnSpc>
                <a:spcPct val="100000"/>
              </a:lnSpc>
              <a:spcBef>
                <a:spcPts val="0"/>
              </a:spcBef>
              <a:spcAft>
                <a:spcPts val="600"/>
              </a:spcAft>
            </a:pPr>
            <a:r>
              <a:rPr sz="1150" b="0" i="0">
                <a:solidFill>
                  <a:srgbClr val="1A2B26"/>
                </a:solidFill>
                <a:latin typeface="Calibri"/>
              </a:rPr>
              <a:t>Families spend their income on treatment and medical expenses, reducing money available for other needs. Workers also lose productive days to sickness.</a:t>
            </a:r>
          </a:p>
        </p:txBody>
      </p:sp>
      <p:sp>
        <p:nvSpPr>
          <p:cNvPr id="12" name="Rounded Rectangle 11"/>
          <p:cNvSpPr/>
          <p:nvPr/>
        </p:nvSpPr>
        <p:spPr>
          <a:xfrm>
            <a:off x="6309360" y="3877056"/>
            <a:ext cx="5257800" cy="2157984"/>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lstStyle/>
          <a:p>
            <a:pPr algn="l">
              <a:lnSpc>
                <a:spcPct val="100000"/>
              </a:lnSpc>
              <a:spcBef>
                <a:spcPts val="0"/>
              </a:spcBef>
              <a:spcAft>
                <a:spcPts val="600"/>
              </a:spcAft>
            </a:pPr>
            <a:r>
              <a:rPr sz="1200" b="1" i="0">
                <a:solidFill>
                  <a:srgbClr val="E99A00"/>
                </a:solidFill>
                <a:latin typeface="Calibri"/>
              </a:rPr>
              <a:t>04</a:t>
            </a:r>
            <a:r>
              <a:rPr sz="1500" b="1" i="0">
                <a:solidFill>
                  <a:srgbClr val="0E3B2E"/>
                </a:solidFill>
                <a:latin typeface="Calibri"/>
              </a:rPr>
              <a:t>   Social effects</a:t>
            </a:r>
          </a:p>
          <a:p>
            <a:pPr algn="l">
              <a:lnSpc>
                <a:spcPct val="100000"/>
              </a:lnSpc>
              <a:spcBef>
                <a:spcPts val="0"/>
              </a:spcBef>
              <a:spcAft>
                <a:spcPts val="600"/>
              </a:spcAft>
            </a:pPr>
            <a:r>
              <a:rPr sz="1150" b="0" i="0">
                <a:solidFill>
                  <a:srgbClr val="1A2B26"/>
                </a:solidFill>
                <a:latin typeface="Calibri"/>
              </a:rPr>
              <a:t>Air pollution reduces interaction among people, who fear stepping out to inhale smoke, smog or bad odour. Students face embarrassment and stigma over fears of airborne disease.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SCIENCE</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2300" b="1" i="0">
                <a:solidFill>
                  <a:srgbClr val="0E3B2E"/>
                </a:solidFill>
                <a:latin typeface="Calibri"/>
              </a:rPr>
              <a:t>The Research and Science Behind the Innovation: Bioclean Smart Biogas System (BSBS)</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06</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TextBox 8"/>
          <p:cNvSpPr txBox="1"/>
          <p:nvPr/>
        </p:nvSpPr>
        <p:spPr>
          <a:xfrm>
            <a:off x="868680" y="1554480"/>
            <a:ext cx="10515600" cy="365760"/>
          </a:xfrm>
          <a:prstGeom prst="rect">
            <a:avLst/>
          </a:prstGeom>
          <a:noFill/>
        </p:spPr>
        <p:txBody>
          <a:bodyPr wrap="square" anchor="t" lIns="0" rIns="0" tIns="0" bIns="0">
            <a:spAutoFit/>
          </a:bodyPr>
          <a:lstStyle/>
          <a:p>
            <a:pPr algn="l">
              <a:lnSpc>
                <a:spcPct val="100000"/>
              </a:lnSpc>
              <a:spcBef>
                <a:spcPts val="0"/>
              </a:spcBef>
              <a:spcAft>
                <a:spcPts val="100"/>
              </a:spcAft>
            </a:pPr>
            <a:r>
              <a:rPr sz="1400" b="1" i="0">
                <a:solidFill>
                  <a:srgbClr val="1B7A4E"/>
                </a:solidFill>
                <a:latin typeface="Calibri"/>
              </a:rPr>
              <a:t>What is biogas?</a:t>
            </a:r>
          </a:p>
        </p:txBody>
      </p:sp>
      <p:sp>
        <p:nvSpPr>
          <p:cNvPr id="10" name="TextBox 9"/>
          <p:cNvSpPr txBox="1"/>
          <p:nvPr/>
        </p:nvSpPr>
        <p:spPr>
          <a:xfrm>
            <a:off x="868680" y="1847088"/>
            <a:ext cx="1051560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0" i="0">
                <a:solidFill>
                  <a:srgbClr val="1A2B26"/>
                </a:solidFill>
                <a:latin typeface="Calibri"/>
              </a:rPr>
              <a:t>Biogas is a renewable fuel produced when microorganisms break down organic waste without oxygen.</a:t>
            </a:r>
          </a:p>
        </p:txBody>
      </p:sp>
      <p:sp>
        <p:nvSpPr>
          <p:cNvPr id="11" name="TextBox 10"/>
          <p:cNvSpPr txBox="1"/>
          <p:nvPr/>
        </p:nvSpPr>
        <p:spPr>
          <a:xfrm>
            <a:off x="868680" y="2286000"/>
            <a:ext cx="10515600" cy="320040"/>
          </a:xfrm>
          <a:prstGeom prst="rect">
            <a:avLst/>
          </a:prstGeom>
          <a:noFill/>
        </p:spPr>
        <p:txBody>
          <a:bodyPr wrap="square" anchor="t" lIns="0" rIns="0" tIns="0" bIns="0">
            <a:spAutoFit/>
          </a:bodyPr>
          <a:lstStyle/>
          <a:p>
            <a:pPr algn="l">
              <a:lnSpc>
                <a:spcPct val="100000"/>
              </a:lnSpc>
              <a:spcBef>
                <a:spcPts val="0"/>
              </a:spcBef>
              <a:spcAft>
                <a:spcPts val="100"/>
              </a:spcAft>
            </a:pPr>
            <a:r>
              <a:rPr sz="1400" b="1" i="0">
                <a:solidFill>
                  <a:srgbClr val="1B7A4E"/>
                </a:solidFill>
                <a:latin typeface="Calibri"/>
              </a:rPr>
              <a:t>The process</a:t>
            </a:r>
          </a:p>
        </p:txBody>
      </p:sp>
      <p:sp>
        <p:nvSpPr>
          <p:cNvPr id="12" name="Rounded Rectangle 11"/>
          <p:cNvSpPr/>
          <p:nvPr/>
        </p:nvSpPr>
        <p:spPr>
          <a:xfrm>
            <a:off x="868680"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64008" bIns="64008"/>
          <a:lstStyle/>
          <a:p>
            <a:pPr algn="l">
              <a:lnSpc>
                <a:spcPct val="100000"/>
              </a:lnSpc>
              <a:spcBef>
                <a:spcPts val="0"/>
              </a:spcBef>
              <a:spcAft>
                <a:spcPts val="600"/>
              </a:spcAft>
            </a:pPr>
            <a:r>
              <a:rPr sz="1200" b="1" i="0">
                <a:solidFill>
                  <a:srgbClr val="FFFFFF"/>
                </a:solidFill>
                <a:latin typeface="Calibri"/>
              </a:rPr>
              <a:t>Organic Waste</a:t>
            </a:r>
          </a:p>
        </p:txBody>
      </p:sp>
      <p:sp>
        <p:nvSpPr>
          <p:cNvPr id="13" name="TextBox 12"/>
          <p:cNvSpPr txBox="1"/>
          <p:nvPr/>
        </p:nvSpPr>
        <p:spPr>
          <a:xfrm>
            <a:off x="3200400" y="2596896"/>
            <a:ext cx="329184" cy="502920"/>
          </a:xfrm>
          <a:prstGeom prst="rect">
            <a:avLst/>
          </a:prstGeom>
          <a:noFill/>
        </p:spPr>
        <p:txBody>
          <a:bodyPr wrap="square" anchor="t" lIns="0" rIns="0" tIns="0" bIns="0">
            <a:spAutoFit/>
          </a:bodyPr>
          <a:lstStyle/>
          <a:p>
            <a:pPr algn="ctr">
              <a:lnSpc>
                <a:spcPct val="100000"/>
              </a:lnSpc>
              <a:spcBef>
                <a:spcPts val="0"/>
              </a:spcBef>
              <a:spcAft>
                <a:spcPts val="0"/>
              </a:spcAft>
            </a:pPr>
            <a:r>
              <a:rPr sz="1500" b="1" i="0">
                <a:solidFill>
                  <a:srgbClr val="E99A00"/>
                </a:solidFill>
                <a:latin typeface="Calibri"/>
              </a:rPr>
              <a:t>→</a:t>
            </a:r>
          </a:p>
        </p:txBody>
      </p:sp>
      <p:sp>
        <p:nvSpPr>
          <p:cNvPr id="14" name="Rounded Rectangle 13"/>
          <p:cNvSpPr/>
          <p:nvPr/>
        </p:nvSpPr>
        <p:spPr>
          <a:xfrm>
            <a:off x="3529584"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64008" bIns="64008"/>
          <a:lstStyle/>
          <a:p>
            <a:pPr algn="l">
              <a:lnSpc>
                <a:spcPct val="100000"/>
              </a:lnSpc>
              <a:spcBef>
                <a:spcPts val="0"/>
              </a:spcBef>
              <a:spcAft>
                <a:spcPts val="600"/>
              </a:spcAft>
            </a:pPr>
            <a:r>
              <a:rPr sz="1200" b="1" i="0">
                <a:solidFill>
                  <a:srgbClr val="FFFFFF"/>
                </a:solidFill>
                <a:latin typeface="Calibri"/>
              </a:rPr>
              <a:t>Anaerobic Digestion</a:t>
            </a:r>
          </a:p>
        </p:txBody>
      </p:sp>
      <p:sp>
        <p:nvSpPr>
          <p:cNvPr id="15" name="TextBox 14"/>
          <p:cNvSpPr txBox="1"/>
          <p:nvPr/>
        </p:nvSpPr>
        <p:spPr>
          <a:xfrm>
            <a:off x="5861304" y="2596896"/>
            <a:ext cx="329184" cy="502920"/>
          </a:xfrm>
          <a:prstGeom prst="rect">
            <a:avLst/>
          </a:prstGeom>
          <a:noFill/>
        </p:spPr>
        <p:txBody>
          <a:bodyPr wrap="square" anchor="t" lIns="0" rIns="0" tIns="0" bIns="0">
            <a:spAutoFit/>
          </a:bodyPr>
          <a:lstStyle/>
          <a:p>
            <a:pPr algn="ctr">
              <a:lnSpc>
                <a:spcPct val="100000"/>
              </a:lnSpc>
              <a:spcBef>
                <a:spcPts val="0"/>
              </a:spcBef>
              <a:spcAft>
                <a:spcPts val="0"/>
              </a:spcAft>
            </a:pPr>
            <a:r>
              <a:rPr sz="1500" b="1" i="0">
                <a:solidFill>
                  <a:srgbClr val="E99A00"/>
                </a:solidFill>
                <a:latin typeface="Calibri"/>
              </a:rPr>
              <a:t>→</a:t>
            </a:r>
          </a:p>
        </p:txBody>
      </p:sp>
      <p:sp>
        <p:nvSpPr>
          <p:cNvPr id="16" name="Rounded Rectangle 15"/>
          <p:cNvSpPr/>
          <p:nvPr/>
        </p:nvSpPr>
        <p:spPr>
          <a:xfrm>
            <a:off x="6190488"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64008" bIns="64008"/>
          <a:lstStyle/>
          <a:p>
            <a:pPr algn="l">
              <a:lnSpc>
                <a:spcPct val="100000"/>
              </a:lnSpc>
              <a:spcBef>
                <a:spcPts val="0"/>
              </a:spcBef>
              <a:spcAft>
                <a:spcPts val="600"/>
              </a:spcAft>
            </a:pPr>
            <a:r>
              <a:rPr sz="1200" b="1" i="0">
                <a:solidFill>
                  <a:srgbClr val="FFFFFF"/>
                </a:solidFill>
                <a:latin typeface="Calibri"/>
              </a:rPr>
              <a:t>Biogas</a:t>
            </a:r>
          </a:p>
        </p:txBody>
      </p:sp>
      <p:sp>
        <p:nvSpPr>
          <p:cNvPr id="17" name="TextBox 16"/>
          <p:cNvSpPr txBox="1"/>
          <p:nvPr/>
        </p:nvSpPr>
        <p:spPr>
          <a:xfrm>
            <a:off x="8522208" y="2596896"/>
            <a:ext cx="329184" cy="502920"/>
          </a:xfrm>
          <a:prstGeom prst="rect">
            <a:avLst/>
          </a:prstGeom>
          <a:noFill/>
        </p:spPr>
        <p:txBody>
          <a:bodyPr wrap="square" anchor="t" lIns="0" rIns="0" tIns="0" bIns="0">
            <a:spAutoFit/>
          </a:bodyPr>
          <a:lstStyle/>
          <a:p>
            <a:pPr algn="ctr">
              <a:lnSpc>
                <a:spcPct val="100000"/>
              </a:lnSpc>
              <a:spcBef>
                <a:spcPts val="0"/>
              </a:spcBef>
              <a:spcAft>
                <a:spcPts val="0"/>
              </a:spcAft>
            </a:pPr>
            <a:r>
              <a:rPr sz="1500" b="1" i="0">
                <a:solidFill>
                  <a:srgbClr val="E99A00"/>
                </a:solidFill>
                <a:latin typeface="Calibri"/>
              </a:rPr>
              <a:t>→</a:t>
            </a:r>
          </a:p>
        </p:txBody>
      </p:sp>
      <p:sp>
        <p:nvSpPr>
          <p:cNvPr id="18" name="Rounded Rectangle 17"/>
          <p:cNvSpPr/>
          <p:nvPr/>
        </p:nvSpPr>
        <p:spPr>
          <a:xfrm>
            <a:off x="8851392" y="2596896"/>
            <a:ext cx="2331720" cy="502920"/>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64008" bIns="64008"/>
          <a:lstStyle/>
          <a:p>
            <a:pPr algn="l">
              <a:lnSpc>
                <a:spcPct val="100000"/>
              </a:lnSpc>
              <a:spcBef>
                <a:spcPts val="0"/>
              </a:spcBef>
              <a:spcAft>
                <a:spcPts val="600"/>
              </a:spcAft>
            </a:pPr>
            <a:r>
              <a:rPr sz="1200" b="1" i="0">
                <a:solidFill>
                  <a:srgbClr val="FFFFFF"/>
                </a:solidFill>
                <a:latin typeface="Calibri"/>
              </a:rPr>
              <a:t>Clean Energy</a:t>
            </a:r>
          </a:p>
        </p:txBody>
      </p:sp>
      <p:sp>
        <p:nvSpPr>
          <p:cNvPr id="19" name="TextBox 18"/>
          <p:cNvSpPr txBox="1"/>
          <p:nvPr/>
        </p:nvSpPr>
        <p:spPr>
          <a:xfrm>
            <a:off x="868680" y="3246120"/>
            <a:ext cx="10515600" cy="365760"/>
          </a:xfrm>
          <a:prstGeom prst="rect">
            <a:avLst/>
          </a:prstGeom>
          <a:noFill/>
        </p:spPr>
        <p:txBody>
          <a:bodyPr wrap="square" anchor="t" lIns="0" rIns="0" tIns="0" bIns="0">
            <a:spAutoFit/>
          </a:bodyPr>
          <a:lstStyle/>
          <a:p>
            <a:pPr algn="l">
              <a:lnSpc>
                <a:spcPct val="100000"/>
              </a:lnSpc>
              <a:spcBef>
                <a:spcPts val="0"/>
              </a:spcBef>
              <a:spcAft>
                <a:spcPts val="100"/>
              </a:spcAft>
            </a:pPr>
            <a:r>
              <a:rPr sz="1400" b="1" i="0">
                <a:solidFill>
                  <a:srgbClr val="1B7A4E"/>
                </a:solidFill>
                <a:latin typeface="Calibri"/>
              </a:rPr>
              <a:t>How the system works</a:t>
            </a:r>
          </a:p>
        </p:txBody>
      </p:sp>
      <p:graphicFrame>
        <p:nvGraphicFramePr>
          <p:cNvPr id="20" name="Table 19"/>
          <p:cNvGraphicFramePr>
            <a:graphicFrameLocks noGrp="1"/>
          </p:cNvGraphicFramePr>
          <p:nvPr/>
        </p:nvGraphicFramePr>
        <p:xfrm>
          <a:off x="868680" y="3566160"/>
          <a:ext cx="10515600" cy="2834640"/>
        </p:xfrm>
        <a:graphic>
          <a:graphicData uri="http://schemas.openxmlformats.org/drawingml/2006/table">
            <a:tbl>
              <a:tblPr firstRow="1" bandRow="1">
                <a:tableStyleId>{5C22544A-7EE6-4342-B048-85BDC9FD1C3A}</a:tableStyleId>
              </a:tblPr>
              <a:tblGrid>
                <a:gridCol w="2194560"/>
                <a:gridCol w="4114800"/>
                <a:gridCol w="4206240"/>
              </a:tblGrid>
              <a:tr h="502920">
                <a:tc>
                  <a:txBody>
                    <a:bodyPr wrap="square"/>
                    <a:lstStyle/>
                    <a:p>
                      <a:pPr algn="ctr"/>
                      <a:r>
                        <a:rPr sz="1350" b="1" i="0">
                          <a:solidFill>
                            <a:srgbClr val="FFFFFF"/>
                          </a:solidFill>
                          <a:latin typeface="Calibri"/>
                        </a:rPr>
                        <a:t>Stages</a:t>
                      </a:r>
                    </a:p>
                  </a:txBody>
                  <a:tcPr marT="27432" marB="27432" marL="73152" marR="73152">
                    <a:solidFill>
                      <a:srgbClr val="1B7A4E"/>
                    </a:solidFill>
                  </a:tcPr>
                </a:tc>
                <a:tc>
                  <a:txBody>
                    <a:bodyPr wrap="square"/>
                    <a:lstStyle/>
                    <a:p>
                      <a:pPr algn="ctr"/>
                      <a:r>
                        <a:rPr sz="1350" b="1" i="0">
                          <a:solidFill>
                            <a:srgbClr val="FFFFFF"/>
                          </a:solidFill>
                          <a:latin typeface="Calibri"/>
                        </a:rPr>
                        <a:t>Components</a:t>
                      </a:r>
                    </a:p>
                  </a:txBody>
                  <a:tcPr marT="27432" marB="27432" marL="73152" marR="73152">
                    <a:solidFill>
                      <a:srgbClr val="1B7A4E"/>
                    </a:solidFill>
                  </a:tcPr>
                </a:tc>
                <a:tc>
                  <a:txBody>
                    <a:bodyPr wrap="square"/>
                    <a:lstStyle/>
                    <a:p>
                      <a:pPr algn="ctr"/>
                      <a:r>
                        <a:rPr sz="1350" b="1" i="0">
                          <a:solidFill>
                            <a:srgbClr val="FFFFFF"/>
                          </a:solidFill>
                          <a:latin typeface="Calibri"/>
                        </a:rPr>
                        <a:t>Functions</a:t>
                      </a:r>
                    </a:p>
                  </a:txBody>
                  <a:tcPr marT="27432" marB="27432" marL="73152" marR="73152">
                    <a:solidFill>
                      <a:srgbClr val="1B7A4E"/>
                    </a:solidFill>
                  </a:tcPr>
                </a:tc>
              </a:tr>
              <a:tr h="777240">
                <a:tc>
                  <a:txBody>
                    <a:bodyPr wrap="square"/>
                    <a:lstStyle/>
                    <a:p>
                      <a:r>
                        <a:rPr sz="1250" b="1" i="0">
                          <a:solidFill>
                            <a:srgbClr val="0E3B2E"/>
                          </a:solidFill>
                          <a:latin typeface="Calibri"/>
                        </a:rPr>
                        <a:t>Inlet plumbing</a:t>
                      </a:r>
                    </a:p>
                  </a:txBody>
                  <a:tcPr marT="45720" marB="45720" marL="82296" marR="82296">
                    <a:solidFill>
                      <a:srgbClr val="F4F9F6"/>
                    </a:solidFill>
                  </a:tcPr>
                </a:tc>
                <a:tc>
                  <a:txBody>
                    <a:bodyPr wrap="square"/>
                    <a:lstStyle/>
                    <a:p>
                      <a:r>
                        <a:rPr sz="1150" b="0" i="0">
                          <a:solidFill>
                            <a:srgbClr val="1A2B26"/>
                          </a:solidFill>
                          <a:latin typeface="Calibri"/>
                        </a:rPr>
                        <a:t>Waste collection system from toilets, kitchens and livestock farms; a mobile tank and farm hopper.</a:t>
                      </a:r>
                    </a:p>
                  </a:txBody>
                  <a:tcPr marT="45720" marB="45720" marL="82296" marR="82296">
                    <a:solidFill>
                      <a:srgbClr val="F4F9F6"/>
                    </a:solidFill>
                  </a:tcPr>
                </a:tc>
                <a:tc>
                  <a:txBody>
                    <a:bodyPr wrap="square"/>
                    <a:lstStyle/>
                    <a:p>
                      <a:r>
                        <a:rPr sz="1150" b="0" i="0">
                          <a:solidFill>
                            <a:srgbClr val="1A2B26"/>
                          </a:solidFill>
                          <a:latin typeface="Calibri"/>
                        </a:rPr>
                        <a:t>Plumbing from hostels, classrooms and refectory kitchens.</a:t>
                      </a:r>
                    </a:p>
                  </a:txBody>
                  <a:tcPr marT="45720" marB="45720" marL="82296" marR="82296">
                    <a:solidFill>
                      <a:srgbClr val="F4F9F6"/>
                    </a:solidFill>
                  </a:tcPr>
                </a:tc>
              </a:tr>
              <a:tr h="777240">
                <a:tc>
                  <a:txBody>
                    <a:bodyPr wrap="square"/>
                    <a:lstStyle/>
                    <a:p>
                      <a:r>
                        <a:rPr sz="1250" b="1" i="0">
                          <a:solidFill>
                            <a:srgbClr val="0E3B2E"/>
                          </a:solidFill>
                          <a:latin typeface="Calibri"/>
                        </a:rPr>
                        <a:t>Pre-treatment</a:t>
                      </a:r>
                    </a:p>
                  </a:txBody>
                  <a:tcPr marT="45720" marB="45720" marL="82296" marR="82296">
                    <a:solidFill>
                      <a:srgbClr val="FFFFFF"/>
                    </a:solidFill>
                  </a:tcPr>
                </a:tc>
                <a:tc>
                  <a:txBody>
                    <a:bodyPr wrap="square"/>
                    <a:lstStyle/>
                    <a:p>
                      <a:r>
                        <a:rPr sz="1150" b="0" i="0">
                          <a:solidFill>
                            <a:srgbClr val="1A2B26"/>
                          </a:solidFill>
                          <a:latin typeface="Calibri"/>
                        </a:rPr>
                        <a:t>Pre-filter and mixing tank.</a:t>
                      </a:r>
                    </a:p>
                  </a:txBody>
                  <a:tcPr marT="45720" marB="45720" marL="82296" marR="82296">
                    <a:solidFill>
                      <a:srgbClr val="FFFFFF"/>
                    </a:solidFill>
                  </a:tcPr>
                </a:tc>
                <a:tc>
                  <a:txBody>
                    <a:bodyPr wrap="square"/>
                    <a:lstStyle/>
                    <a:p>
                      <a:r>
                        <a:rPr sz="1150" b="0" i="0">
                          <a:solidFill>
                            <a:srgbClr val="1A2B26"/>
                          </a:solidFill>
                          <a:latin typeface="Calibri"/>
                        </a:rPr>
                        <a:t>Removes plastics and sand; mixes waste with water for the microbes.</a:t>
                      </a:r>
                    </a:p>
                  </a:txBody>
                  <a:tcPr marT="45720" marB="45720" marL="82296" marR="82296">
                    <a:solidFill>
                      <a:srgbClr val="FFFFFF"/>
                    </a:solidFill>
                  </a:tcPr>
                </a:tc>
              </a:tr>
              <a:tr h="777240">
                <a:tc>
                  <a:txBody>
                    <a:bodyPr wrap="square"/>
                    <a:lstStyle/>
                    <a:p>
                      <a:r>
                        <a:rPr sz="1250" b="1" i="0">
                          <a:solidFill>
                            <a:srgbClr val="0E3B2E"/>
                          </a:solidFill>
                          <a:latin typeface="Calibri"/>
                        </a:rPr>
                        <a:t>Process</a:t>
                      </a:r>
                    </a:p>
                  </a:txBody>
                  <a:tcPr marT="45720" marB="45720" marL="82296" marR="82296">
                    <a:solidFill>
                      <a:srgbClr val="F4F9F6"/>
                    </a:solidFill>
                  </a:tcPr>
                </a:tc>
                <a:tc>
                  <a:txBody>
                    <a:bodyPr wrap="square"/>
                    <a:lstStyle/>
                    <a:p>
                      <a:r>
                        <a:rPr sz="1150" b="0" i="0">
                          <a:solidFill>
                            <a:srgbClr val="1A2B26"/>
                          </a:solidFill>
                          <a:latin typeface="Calibri"/>
                        </a:rPr>
                        <a:t>Modular digestion, accelerated microbe action and temperature control.</a:t>
                      </a:r>
                    </a:p>
                  </a:txBody>
                  <a:tcPr marT="45720" marB="45720" marL="82296" marR="82296">
                    <a:solidFill>
                      <a:srgbClr val="F4F9F6"/>
                    </a:solidFill>
                  </a:tcPr>
                </a:tc>
                <a:tc>
                  <a:txBody>
                    <a:bodyPr wrap="square"/>
                    <a:lstStyle/>
                    <a:p>
                      <a:r>
                        <a:rPr sz="1150" b="0" i="0">
                          <a:solidFill>
                            <a:srgbClr val="1A2B26"/>
                          </a:solidFill>
                          <a:latin typeface="Calibri"/>
                        </a:rPr>
                        <a:t>7-day gas production instead of 30 days.</a:t>
                      </a:r>
                    </a:p>
                  </a:txBody>
                  <a:tcPr marT="45720" marB="45720" marL="82296" marR="82296">
                    <a:solidFill>
                      <a:srgbClr val="F4F9F6"/>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PEOPLE</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2600" b="1" i="0">
                <a:solidFill>
                  <a:srgbClr val="0E3B2E"/>
                </a:solidFill>
                <a:latin typeface="Calibri"/>
              </a:rPr>
              <a:t>Key Metrics &amp; Sustainability and Leadership Plan</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07</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TextBox 8"/>
          <p:cNvSpPr txBox="1"/>
          <p:nvPr/>
        </p:nvSpPr>
        <p:spPr>
          <a:xfrm>
            <a:off x="868680" y="1572768"/>
            <a:ext cx="5029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1B7A4E"/>
                </a:solidFill>
                <a:latin typeface="Calibri"/>
              </a:rPr>
              <a:t>Key metrics</a:t>
            </a:r>
          </a:p>
        </p:txBody>
      </p:sp>
      <p:sp>
        <p:nvSpPr>
          <p:cNvPr id="10" name="Rounded Rectangle 9"/>
          <p:cNvSpPr/>
          <p:nvPr/>
        </p:nvSpPr>
        <p:spPr>
          <a:xfrm>
            <a:off x="868680" y="1920240"/>
            <a:ext cx="5029200" cy="868680"/>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250" b="1" i="0">
                <a:solidFill>
                  <a:srgbClr val="1B7A4E"/>
                </a:solidFill>
                <a:latin typeface="Calibri"/>
              </a:rPr>
              <a:t>Payback period</a:t>
            </a:r>
          </a:p>
          <a:p>
            <a:pPr algn="l">
              <a:lnSpc>
                <a:spcPct val="100000"/>
              </a:lnSpc>
              <a:spcBef>
                <a:spcPts val="0"/>
              </a:spcBef>
              <a:spcAft>
                <a:spcPts val="600"/>
              </a:spcAft>
            </a:pPr>
            <a:r>
              <a:rPr sz="1450" b="1" i="0">
                <a:solidFill>
                  <a:srgbClr val="0E3B2E"/>
                </a:solidFill>
                <a:latin typeface="Calibri"/>
              </a:rPr>
              <a:t>17 months</a:t>
            </a:r>
          </a:p>
        </p:txBody>
      </p:sp>
      <p:sp>
        <p:nvSpPr>
          <p:cNvPr id="11" name="Rounded Rectangle 10"/>
          <p:cNvSpPr/>
          <p:nvPr/>
        </p:nvSpPr>
        <p:spPr>
          <a:xfrm>
            <a:off x="868680" y="2907792"/>
            <a:ext cx="5029200" cy="868680"/>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250" b="1" i="0">
                <a:solidFill>
                  <a:srgbClr val="1B7A4E"/>
                </a:solidFill>
                <a:latin typeface="Calibri"/>
              </a:rPr>
              <a:t>ROI Year 1</a:t>
            </a:r>
          </a:p>
          <a:p>
            <a:pPr algn="l">
              <a:lnSpc>
                <a:spcPct val="100000"/>
              </a:lnSpc>
              <a:spcBef>
                <a:spcPts val="0"/>
              </a:spcBef>
              <a:spcAft>
                <a:spcPts val="600"/>
              </a:spcAft>
            </a:pPr>
            <a:r>
              <a:rPr sz="1450" b="1" i="0">
                <a:solidFill>
                  <a:srgbClr val="0E3B2E"/>
                </a:solidFill>
                <a:latin typeface="Calibri"/>
              </a:rPr>
              <a:t>71%</a:t>
            </a:r>
          </a:p>
        </p:txBody>
      </p:sp>
      <p:sp>
        <p:nvSpPr>
          <p:cNvPr id="12" name="Rounded Rectangle 11"/>
          <p:cNvSpPr/>
          <p:nvPr/>
        </p:nvSpPr>
        <p:spPr>
          <a:xfrm>
            <a:off x="868680" y="3895344"/>
            <a:ext cx="5029200" cy="868680"/>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250" b="1" i="0">
                <a:solidFill>
                  <a:srgbClr val="1B7A4E"/>
                </a:solidFill>
                <a:latin typeface="Calibri"/>
              </a:rPr>
              <a:t>5-year savings</a:t>
            </a:r>
          </a:p>
          <a:p>
            <a:pPr algn="l">
              <a:lnSpc>
                <a:spcPct val="100000"/>
              </a:lnSpc>
              <a:spcBef>
                <a:spcPts val="0"/>
              </a:spcBef>
              <a:spcAft>
                <a:spcPts val="600"/>
              </a:spcAft>
            </a:pPr>
            <a:r>
              <a:rPr sz="1450" b="1" i="0">
                <a:solidFill>
                  <a:srgbClr val="0E3B2E"/>
                </a:solidFill>
                <a:latin typeface="Calibri"/>
              </a:rPr>
              <a:t>₦6,750,000 for our labs, infrastructure and scholarships.</a:t>
            </a:r>
          </a:p>
        </p:txBody>
      </p:sp>
      <p:sp>
        <p:nvSpPr>
          <p:cNvPr id="13" name="TextBox 12"/>
          <p:cNvSpPr txBox="1"/>
          <p:nvPr/>
        </p:nvSpPr>
        <p:spPr>
          <a:xfrm>
            <a:off x="6172200" y="1572768"/>
            <a:ext cx="521208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1B7A4E"/>
                </a:solidFill>
                <a:latin typeface="Calibri"/>
              </a:rPr>
              <a:t>Sustainability and leadership plan</a:t>
            </a:r>
          </a:p>
        </p:txBody>
      </p:sp>
      <p:sp>
        <p:nvSpPr>
          <p:cNvPr id="14" name="Rounded Rectangle 13"/>
          <p:cNvSpPr/>
          <p:nvPr/>
        </p:nvSpPr>
        <p:spPr>
          <a:xfrm>
            <a:off x="6172200" y="1920240"/>
            <a:ext cx="5212080" cy="3291840"/>
          </a:xfrm>
          <a:prstGeom prst="roundRect">
            <a:avLst>
              <a:gd name="adj" fmla="val 7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rIns="219456" tIns="182880" bIns="64008"/>
          <a:lstStyle/>
          <a:p>
            <a:pPr algn="l">
              <a:lnSpc>
                <a:spcPct val="100000"/>
              </a:lnSpc>
              <a:spcBef>
                <a:spcPts val="0"/>
              </a:spcBef>
              <a:spcAft>
                <a:spcPts val="600"/>
              </a:spcAft>
            </a:pPr>
            <a:r>
              <a:rPr sz="1300" b="0" i="0">
                <a:solidFill>
                  <a:srgbClr val="1A2B26"/>
                </a:solidFill>
                <a:latin typeface="Calibri"/>
              </a:rPr>
              <a:t>As the Head Girl of my college, I will sustain this innovation by:</a:t>
            </a:r>
          </a:p>
          <a:p>
            <a:pPr algn="l">
              <a:lnSpc>
                <a:spcPct val="100000"/>
              </a:lnSpc>
              <a:spcBef>
                <a:spcPts val="0"/>
              </a:spcBef>
              <a:spcAft>
                <a:spcPts val="600"/>
              </a:spcAft>
            </a:pPr>
            <a:r>
              <a:rPr sz="1200" b="1" i="0">
                <a:solidFill>
                  <a:srgbClr val="E99A00"/>
                </a:solidFill>
                <a:latin typeface="Calibri"/>
              </a:rPr>
              <a:t>01</a:t>
            </a:r>
            <a:r>
              <a:rPr sz="1250" b="0" i="0">
                <a:solidFill>
                  <a:srgbClr val="1A2B26"/>
                </a:solidFill>
                <a:latin typeface="Calibri"/>
              </a:rPr>
              <a:t>  Organise 10 reliable students from our Green Club to manage its operations.</a:t>
            </a:r>
          </a:p>
          <a:p>
            <a:pPr algn="l">
              <a:lnSpc>
                <a:spcPct val="100000"/>
              </a:lnSpc>
              <a:spcBef>
                <a:spcPts val="0"/>
              </a:spcBef>
              <a:spcAft>
                <a:spcPts val="600"/>
              </a:spcAft>
            </a:pPr>
            <a:r>
              <a:rPr sz="1200" b="1" i="0">
                <a:solidFill>
                  <a:srgbClr val="E99A00"/>
                </a:solidFill>
                <a:latin typeface="Calibri"/>
              </a:rPr>
              <a:t>02</a:t>
            </a:r>
            <a:r>
              <a:rPr sz="1250" b="0" i="0">
                <a:solidFill>
                  <a:srgbClr val="1A2B26"/>
                </a:solidFill>
                <a:latin typeface="Calibri"/>
              </a:rPr>
              <a:t>  Train two (2) juniors for continuity.</a:t>
            </a:r>
          </a:p>
          <a:p>
            <a:pPr algn="l">
              <a:lnSpc>
                <a:spcPct val="100000"/>
              </a:lnSpc>
              <a:spcBef>
                <a:spcPts val="0"/>
              </a:spcBef>
              <a:spcAft>
                <a:spcPts val="600"/>
              </a:spcAft>
            </a:pPr>
            <a:r>
              <a:rPr sz="1200" b="1" i="0">
                <a:solidFill>
                  <a:srgbClr val="E99A00"/>
                </a:solidFill>
                <a:latin typeface="Calibri"/>
              </a:rPr>
              <a:t>03</a:t>
            </a:r>
            <a:r>
              <a:rPr sz="1250" b="0" i="0">
                <a:solidFill>
                  <a:srgbClr val="1A2B26"/>
                </a:solidFill>
                <a:latin typeface="Calibri"/>
              </a:rPr>
              <a:t>  Enhance scalability so more models can be replicated in other schools and communities.</a:t>
            </a:r>
          </a:p>
        </p:txBody>
      </p:sp>
      <p:sp>
        <p:nvSpPr>
          <p:cNvPr id="15" name="Rounded Rectangle 14"/>
          <p:cNvSpPr/>
          <p:nvPr/>
        </p:nvSpPr>
        <p:spPr>
          <a:xfrm>
            <a:off x="6172200" y="5394960"/>
            <a:ext cx="5212080" cy="914400"/>
          </a:xfrm>
          <a:prstGeom prst="roundRect">
            <a:avLst>
              <a:gd name="adj" fmla="val 8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64008" bIns="64008"/>
          <a:lstStyle/>
          <a:p>
            <a:pPr algn="l">
              <a:lnSpc>
                <a:spcPct val="100000"/>
              </a:lnSpc>
              <a:spcBef>
                <a:spcPts val="0"/>
              </a:spcBef>
              <a:spcAft>
                <a:spcPts val="600"/>
              </a:spcAft>
            </a:pPr>
            <a:r>
              <a:rPr sz="1150" b="1" i="0">
                <a:solidFill>
                  <a:srgbClr val="1B7A4E"/>
                </a:solidFill>
                <a:latin typeface="Calibri"/>
              </a:rPr>
              <a:t>Motto</a:t>
            </a:r>
          </a:p>
          <a:p>
            <a:pPr algn="l">
              <a:lnSpc>
                <a:spcPct val="100000"/>
              </a:lnSpc>
              <a:spcBef>
                <a:spcPts val="0"/>
              </a:spcBef>
              <a:spcAft>
                <a:spcPts val="600"/>
              </a:spcAft>
            </a:pPr>
            <a:r>
              <a:rPr sz="1250" b="0" i="0">
                <a:solidFill>
                  <a:srgbClr val="0E3B2E"/>
                </a:solidFill>
                <a:latin typeface="Calibri"/>
              </a:rPr>
              <a:t>This investment pays for itself in 17 months and generates savings for 15 years.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BUSINESS CASE</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3000" b="1" i="0">
                <a:solidFill>
                  <a:srgbClr val="0E3B2E"/>
                </a:solidFill>
                <a:latin typeface="Calibri"/>
              </a:rPr>
              <a:t>Financial Viability and Sustainability</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08</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Rounded Rectangle 8"/>
          <p:cNvSpPr/>
          <p:nvPr/>
        </p:nvSpPr>
        <p:spPr>
          <a:xfrm>
            <a:off x="868680" y="1554480"/>
            <a:ext cx="10515600" cy="777240"/>
          </a:xfrm>
          <a:prstGeom prst="roundRect">
            <a:avLst>
              <a:gd name="adj" fmla="val 8000"/>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46304" tIns="64008" bIns="64008"/>
          <a:lstStyle/>
          <a:p>
            <a:pPr algn="l">
              <a:lnSpc>
                <a:spcPct val="100000"/>
              </a:lnSpc>
              <a:spcBef>
                <a:spcPts val="0"/>
              </a:spcBef>
              <a:spcAft>
                <a:spcPts val="600"/>
              </a:spcAft>
            </a:pPr>
            <a:r>
              <a:rPr sz="1200" b="0" i="0">
                <a:solidFill>
                  <a:srgbClr val="E8F3EC"/>
                </a:solidFill>
                <a:latin typeface="Calibri"/>
              </a:rPr>
              <a:t>Annual net benefit to school</a:t>
            </a:r>
          </a:p>
          <a:p>
            <a:pPr algn="l">
              <a:lnSpc>
                <a:spcPct val="100000"/>
              </a:lnSpc>
              <a:spcBef>
                <a:spcPts val="0"/>
              </a:spcBef>
              <a:spcAft>
                <a:spcPts val="600"/>
              </a:spcAft>
            </a:pPr>
            <a:r>
              <a:rPr sz="2600" b="1" i="0">
                <a:solidFill>
                  <a:srgbClr val="E99A00"/>
                </a:solidFill>
                <a:latin typeface="Calibri"/>
              </a:rPr>
              <a:t>₦1,880,000</a:t>
            </a:r>
          </a:p>
        </p:txBody>
      </p:sp>
      <p:sp>
        <p:nvSpPr>
          <p:cNvPr id="10" name="TextBox 9"/>
          <p:cNvSpPr txBox="1"/>
          <p:nvPr/>
        </p:nvSpPr>
        <p:spPr>
          <a:xfrm>
            <a:off x="868680" y="2468880"/>
            <a:ext cx="5212080"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i="0">
                <a:solidFill>
                  <a:srgbClr val="1B7A4E"/>
                </a:solidFill>
                <a:latin typeface="Calibri"/>
              </a:rPr>
              <a:t>How we make / save money</a:t>
            </a:r>
          </a:p>
        </p:txBody>
      </p:sp>
      <p:sp>
        <p:nvSpPr>
          <p:cNvPr id="11" name="Rounded Rectangle 10"/>
          <p:cNvSpPr/>
          <p:nvPr/>
        </p:nvSpPr>
        <p:spPr>
          <a:xfrm>
            <a:off x="868680" y="279806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₦1,860,000</a:t>
            </a:r>
            <a:r>
              <a:rPr sz="1250" b="1" i="0">
                <a:solidFill>
                  <a:srgbClr val="0E3B2E"/>
                </a:solidFill>
                <a:latin typeface="Calibri"/>
              </a:rPr>
              <a:t>   Savings</a:t>
            </a:r>
          </a:p>
        </p:txBody>
      </p:sp>
      <p:sp>
        <p:nvSpPr>
          <p:cNvPr id="12" name="TextBox 11"/>
          <p:cNvSpPr txBox="1"/>
          <p:nvPr/>
        </p:nvSpPr>
        <p:spPr>
          <a:xfrm>
            <a:off x="1005840" y="2944368"/>
            <a:ext cx="4937760" cy="292608"/>
          </a:xfrm>
          <a:prstGeom prst="rect">
            <a:avLst/>
          </a:prstGeom>
          <a:noFill/>
        </p:spPr>
        <p:txBody>
          <a:bodyPr wrap="square" anchor="t" lIns="0" rIns="0" tIns="0" bIns="0">
            <a:spAutoFit/>
          </a:bodyPr>
          <a:lstStyle/>
          <a:p>
            <a:pPr algn="r">
              <a:lnSpc>
                <a:spcPct val="100000"/>
              </a:lnSpc>
              <a:spcBef>
                <a:spcPts val="0"/>
              </a:spcBef>
              <a:spcAft>
                <a:spcPts val="0"/>
              </a:spcAft>
            </a:pPr>
            <a:r>
              <a:rPr sz="1050" b="0" i="0">
                <a:solidFill>
                  <a:srgbClr val="5A6B66"/>
                </a:solidFill>
                <a:latin typeface="Calibri"/>
              </a:rPr>
              <a:t>No LPG and no waste-truck fees.</a:t>
            </a:r>
          </a:p>
        </p:txBody>
      </p:sp>
      <p:sp>
        <p:nvSpPr>
          <p:cNvPr id="13" name="Rounded Rectangle 12"/>
          <p:cNvSpPr/>
          <p:nvPr/>
        </p:nvSpPr>
        <p:spPr>
          <a:xfrm>
            <a:off x="868680" y="343814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2E8B57"/>
                </a:solidFill>
                <a:latin typeface="Calibri"/>
              </a:rPr>
              <a:t>₦320,000</a:t>
            </a:r>
            <a:r>
              <a:rPr sz="1250" b="1" i="0">
                <a:solidFill>
                  <a:srgbClr val="0E3B2E"/>
                </a:solidFill>
                <a:latin typeface="Calibri"/>
              </a:rPr>
              <a:t>   Revenue</a:t>
            </a:r>
          </a:p>
        </p:txBody>
      </p:sp>
      <p:sp>
        <p:nvSpPr>
          <p:cNvPr id="14" name="TextBox 13"/>
          <p:cNvSpPr txBox="1"/>
          <p:nvPr/>
        </p:nvSpPr>
        <p:spPr>
          <a:xfrm>
            <a:off x="1005840" y="3584448"/>
            <a:ext cx="4937760" cy="292608"/>
          </a:xfrm>
          <a:prstGeom prst="rect">
            <a:avLst/>
          </a:prstGeom>
          <a:noFill/>
        </p:spPr>
        <p:txBody>
          <a:bodyPr wrap="square" anchor="t" lIns="0" rIns="0" tIns="0" bIns="0">
            <a:spAutoFit/>
          </a:bodyPr>
          <a:lstStyle/>
          <a:p>
            <a:pPr algn="r">
              <a:lnSpc>
                <a:spcPct val="100000"/>
              </a:lnSpc>
              <a:spcBef>
                <a:spcPts val="0"/>
              </a:spcBef>
              <a:spcAft>
                <a:spcPts val="0"/>
              </a:spcAft>
            </a:pPr>
            <a:r>
              <a:rPr sz="1050" b="0" i="0">
                <a:solidFill>
                  <a:srgbClr val="5A6B66"/>
                </a:solidFill>
                <a:latin typeface="Calibri"/>
              </a:rPr>
              <a:t>Organic fertilisers and carbon credits.</a:t>
            </a:r>
          </a:p>
        </p:txBody>
      </p:sp>
      <p:sp>
        <p:nvSpPr>
          <p:cNvPr id="15" name="Rounded Rectangle 14"/>
          <p:cNvSpPr/>
          <p:nvPr/>
        </p:nvSpPr>
        <p:spPr>
          <a:xfrm>
            <a:off x="868680" y="407822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B33A2E"/>
                </a:solidFill>
                <a:latin typeface="Calibri"/>
              </a:rPr>
              <a:t>₦80,000</a:t>
            </a:r>
            <a:r>
              <a:rPr sz="1250" b="1" i="0">
                <a:solidFill>
                  <a:srgbClr val="0E3B2E"/>
                </a:solidFill>
                <a:latin typeface="Calibri"/>
              </a:rPr>
              <a:t>   Running cost</a:t>
            </a:r>
          </a:p>
        </p:txBody>
      </p:sp>
      <p:sp>
        <p:nvSpPr>
          <p:cNvPr id="16" name="TextBox 15"/>
          <p:cNvSpPr txBox="1"/>
          <p:nvPr/>
        </p:nvSpPr>
        <p:spPr>
          <a:xfrm>
            <a:off x="1005840" y="4224528"/>
            <a:ext cx="4937760" cy="292608"/>
          </a:xfrm>
          <a:prstGeom prst="rect">
            <a:avLst/>
          </a:prstGeom>
          <a:noFill/>
        </p:spPr>
        <p:txBody>
          <a:bodyPr wrap="square" anchor="t" lIns="0" rIns="0" tIns="0" bIns="0">
            <a:spAutoFit/>
          </a:bodyPr>
          <a:lstStyle/>
          <a:p>
            <a:pPr algn="r">
              <a:lnSpc>
                <a:spcPct val="100000"/>
              </a:lnSpc>
              <a:spcBef>
                <a:spcPts val="0"/>
              </a:spcBef>
              <a:spcAft>
                <a:spcPts val="0"/>
              </a:spcAft>
            </a:pPr>
            <a:r>
              <a:rPr sz="1050" b="0" i="0">
                <a:solidFill>
                  <a:srgbClr val="5A6B66"/>
                </a:solidFill>
                <a:latin typeface="Calibri"/>
              </a:rPr>
              <a:t>Maintenance and stipends.</a:t>
            </a:r>
          </a:p>
        </p:txBody>
      </p:sp>
      <p:sp>
        <p:nvSpPr>
          <p:cNvPr id="17" name="Rounded Rectangle 16"/>
          <p:cNvSpPr/>
          <p:nvPr/>
        </p:nvSpPr>
        <p:spPr>
          <a:xfrm>
            <a:off x="868680" y="4718304"/>
            <a:ext cx="521208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0E3B2E"/>
                </a:solidFill>
                <a:latin typeface="Calibri"/>
              </a:rPr>
              <a:t>₦1,880,000</a:t>
            </a:r>
            <a:r>
              <a:rPr sz="1250" b="1" i="0">
                <a:solidFill>
                  <a:srgbClr val="0E3B2E"/>
                </a:solidFill>
                <a:latin typeface="Calibri"/>
              </a:rPr>
              <a:t>   Net gain every year</a:t>
            </a:r>
          </a:p>
        </p:txBody>
      </p:sp>
      <p:sp>
        <p:nvSpPr>
          <p:cNvPr id="18" name="TextBox 17"/>
          <p:cNvSpPr txBox="1"/>
          <p:nvPr/>
        </p:nvSpPr>
        <p:spPr>
          <a:xfrm>
            <a:off x="1005840" y="4864608"/>
            <a:ext cx="4937760" cy="292608"/>
          </a:xfrm>
          <a:prstGeom prst="rect">
            <a:avLst/>
          </a:prstGeom>
          <a:noFill/>
        </p:spPr>
        <p:txBody>
          <a:bodyPr wrap="square" anchor="t" lIns="0" rIns="0" tIns="0" bIns="0">
            <a:spAutoFit/>
          </a:bodyPr>
          <a:lstStyle/>
          <a:p>
            <a:pPr algn="r">
              <a:lnSpc>
                <a:spcPct val="100000"/>
              </a:lnSpc>
              <a:spcBef>
                <a:spcPts val="0"/>
              </a:spcBef>
              <a:spcAft>
                <a:spcPts val="0"/>
              </a:spcAft>
            </a:pPr>
            <a:r>
              <a:rPr sz="1050" b="0" i="0">
                <a:solidFill>
                  <a:srgbClr val="5A6B66"/>
                </a:solidFill>
                <a:latin typeface="Calibri"/>
              </a:rPr>
              <a:t>Reported annual net benefit.</a:t>
            </a:r>
          </a:p>
        </p:txBody>
      </p:sp>
      <p:sp>
        <p:nvSpPr>
          <p:cNvPr id="19" name="TextBox 18"/>
          <p:cNvSpPr txBox="1"/>
          <p:nvPr/>
        </p:nvSpPr>
        <p:spPr>
          <a:xfrm>
            <a:off x="6309360" y="2468880"/>
            <a:ext cx="5120640" cy="365760"/>
          </a:xfrm>
          <a:prstGeom prst="rect">
            <a:avLst/>
          </a:prstGeom>
          <a:noFill/>
        </p:spPr>
        <p:txBody>
          <a:bodyPr wrap="square" anchor="t" lIns="0" rIns="0" tIns="0" bIns="0">
            <a:spAutoFit/>
          </a:bodyPr>
          <a:lstStyle/>
          <a:p>
            <a:pPr algn="l">
              <a:lnSpc>
                <a:spcPct val="100000"/>
              </a:lnSpc>
              <a:spcBef>
                <a:spcPts val="0"/>
              </a:spcBef>
              <a:spcAft>
                <a:spcPts val="0"/>
              </a:spcAft>
            </a:pPr>
            <a:r>
              <a:rPr sz="1400" b="1" i="0">
                <a:solidFill>
                  <a:srgbClr val="1B7A4E"/>
                </a:solidFill>
                <a:latin typeface="Calibri"/>
              </a:rPr>
              <a:t>Project cost &amp; funding</a:t>
            </a:r>
          </a:p>
        </p:txBody>
      </p:sp>
      <p:sp>
        <p:nvSpPr>
          <p:cNvPr id="20" name="Rounded Rectangle 19"/>
          <p:cNvSpPr/>
          <p:nvPr/>
        </p:nvSpPr>
        <p:spPr>
          <a:xfrm>
            <a:off x="6309360" y="2798064"/>
            <a:ext cx="512064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64008" bIns="64008"/>
          <a:lstStyle/>
          <a:p>
            <a:pPr algn="l">
              <a:lnSpc>
                <a:spcPct val="100000"/>
              </a:lnSpc>
              <a:spcBef>
                <a:spcPts val="0"/>
              </a:spcBef>
              <a:spcAft>
                <a:spcPts val="600"/>
              </a:spcAft>
            </a:pPr>
            <a:r>
              <a:rPr sz="1150" b="1" i="0">
                <a:solidFill>
                  <a:srgbClr val="1A2B26"/>
                </a:solidFill>
                <a:latin typeface="Calibri"/>
              </a:rPr>
              <a:t>LILAN</a:t>
            </a:r>
          </a:p>
        </p:txBody>
      </p:sp>
      <p:sp>
        <p:nvSpPr>
          <p:cNvPr id="21" name="TextBox 20"/>
          <p:cNvSpPr txBox="1"/>
          <p:nvPr/>
        </p:nvSpPr>
        <p:spPr>
          <a:xfrm>
            <a:off x="6446520" y="2944368"/>
            <a:ext cx="4846320" cy="320040"/>
          </a:xfrm>
          <a:prstGeom prst="rect">
            <a:avLst/>
          </a:prstGeom>
          <a:noFill/>
        </p:spPr>
        <p:txBody>
          <a:bodyPr wrap="square" anchor="t" lIns="0" rIns="0" tIns="0" bIns="0">
            <a:spAutoFit/>
          </a:bodyPr>
          <a:lstStyle/>
          <a:p>
            <a:pPr algn="r">
              <a:lnSpc>
                <a:spcPct val="100000"/>
              </a:lnSpc>
              <a:spcBef>
                <a:spcPts val="0"/>
              </a:spcBef>
              <a:spcAft>
                <a:spcPts val="0"/>
              </a:spcAft>
            </a:pPr>
            <a:r>
              <a:rPr sz="1300" b="1" i="0">
                <a:solidFill>
                  <a:srgbClr val="1B7A4E"/>
                </a:solidFill>
                <a:latin typeface="Calibri"/>
              </a:rPr>
              <a:t>₦1,000,000</a:t>
            </a:r>
          </a:p>
        </p:txBody>
      </p:sp>
      <p:sp>
        <p:nvSpPr>
          <p:cNvPr id="22" name="Rounded Rectangle 21"/>
          <p:cNvSpPr/>
          <p:nvPr/>
        </p:nvSpPr>
        <p:spPr>
          <a:xfrm>
            <a:off x="6309360" y="3438144"/>
            <a:ext cx="5120640" cy="566928"/>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64008" bIns="64008"/>
          <a:lstStyle/>
          <a:p>
            <a:pPr algn="l">
              <a:lnSpc>
                <a:spcPct val="100000"/>
              </a:lnSpc>
              <a:spcBef>
                <a:spcPts val="0"/>
              </a:spcBef>
              <a:spcAft>
                <a:spcPts val="600"/>
              </a:spcAft>
            </a:pPr>
            <a:r>
              <a:rPr sz="1150" b="1" i="0">
                <a:solidFill>
                  <a:srgbClr val="1A2B26"/>
                </a:solidFill>
                <a:latin typeface="Calibri"/>
              </a:rPr>
              <a:t>School Management, P.T.A. &amp; CSR Partners</a:t>
            </a:r>
          </a:p>
        </p:txBody>
      </p:sp>
      <p:sp>
        <p:nvSpPr>
          <p:cNvPr id="23" name="TextBox 22"/>
          <p:cNvSpPr txBox="1"/>
          <p:nvPr/>
        </p:nvSpPr>
        <p:spPr>
          <a:xfrm>
            <a:off x="6446520" y="3584448"/>
            <a:ext cx="4846320" cy="320040"/>
          </a:xfrm>
          <a:prstGeom prst="rect">
            <a:avLst/>
          </a:prstGeom>
          <a:noFill/>
        </p:spPr>
        <p:txBody>
          <a:bodyPr wrap="square" anchor="t" lIns="0" rIns="0" tIns="0" bIns="0">
            <a:spAutoFit/>
          </a:bodyPr>
          <a:lstStyle/>
          <a:p>
            <a:pPr algn="r">
              <a:lnSpc>
                <a:spcPct val="100000"/>
              </a:lnSpc>
              <a:spcBef>
                <a:spcPts val="0"/>
              </a:spcBef>
              <a:spcAft>
                <a:spcPts val="0"/>
              </a:spcAft>
            </a:pPr>
            <a:r>
              <a:rPr sz="1300" b="1" i="0">
                <a:solidFill>
                  <a:srgbClr val="0E3B2E"/>
                </a:solidFill>
                <a:latin typeface="Calibri"/>
              </a:rPr>
              <a:t>₦1,650,000</a:t>
            </a:r>
          </a:p>
        </p:txBody>
      </p:sp>
      <p:sp>
        <p:nvSpPr>
          <p:cNvPr id="24" name="Rounded Rectangle 23"/>
          <p:cNvSpPr/>
          <p:nvPr/>
        </p:nvSpPr>
        <p:spPr>
          <a:xfrm>
            <a:off x="6309360" y="4078224"/>
            <a:ext cx="5120640" cy="566928"/>
          </a:xfrm>
          <a:prstGeom prst="roundRect">
            <a:avLst>
              <a:gd name="adj" fmla="val 10000"/>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64008" bIns="64008"/>
          <a:lstStyle/>
          <a:p>
            <a:pPr algn="l">
              <a:lnSpc>
                <a:spcPct val="100000"/>
              </a:lnSpc>
              <a:spcBef>
                <a:spcPts val="0"/>
              </a:spcBef>
              <a:spcAft>
                <a:spcPts val="600"/>
              </a:spcAft>
            </a:pPr>
            <a:r>
              <a:rPr sz="1200" b="1" i="0">
                <a:solidFill>
                  <a:srgbClr val="FFFFFF"/>
                </a:solidFill>
                <a:latin typeface="Calibri"/>
              </a:rPr>
              <a:t>Total</a:t>
            </a:r>
          </a:p>
        </p:txBody>
      </p:sp>
      <p:sp>
        <p:nvSpPr>
          <p:cNvPr id="25" name="TextBox 24"/>
          <p:cNvSpPr txBox="1"/>
          <p:nvPr/>
        </p:nvSpPr>
        <p:spPr>
          <a:xfrm>
            <a:off x="6446520" y="4224528"/>
            <a:ext cx="4846320" cy="320040"/>
          </a:xfrm>
          <a:prstGeom prst="rect">
            <a:avLst/>
          </a:prstGeom>
          <a:noFill/>
        </p:spPr>
        <p:txBody>
          <a:bodyPr wrap="square" anchor="t" lIns="0" rIns="0" tIns="0" bIns="0">
            <a:spAutoFit/>
          </a:bodyPr>
          <a:lstStyle/>
          <a:p>
            <a:pPr algn="r">
              <a:lnSpc>
                <a:spcPct val="100000"/>
              </a:lnSpc>
              <a:spcBef>
                <a:spcPts val="0"/>
              </a:spcBef>
              <a:spcAft>
                <a:spcPts val="0"/>
              </a:spcAft>
            </a:pPr>
            <a:r>
              <a:rPr sz="1400" b="1" i="0">
                <a:solidFill>
                  <a:srgbClr val="E99A00"/>
                </a:solidFill>
                <a:latin typeface="Calibri"/>
              </a:rPr>
              <a:t>₦2,650,000</a:t>
            </a:r>
          </a:p>
        </p:txBody>
      </p:sp>
      <p:sp>
        <p:nvSpPr>
          <p:cNvPr id="26" name="TextBox 25"/>
          <p:cNvSpPr txBox="1"/>
          <p:nvPr/>
        </p:nvSpPr>
        <p:spPr>
          <a:xfrm>
            <a:off x="868680" y="5440680"/>
            <a:ext cx="5212080" cy="32004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1B7A4E"/>
                </a:solidFill>
                <a:latin typeface="Calibri"/>
              </a:rPr>
              <a:t>Cost allocation</a:t>
            </a:r>
          </a:p>
        </p:txBody>
      </p:sp>
      <p:graphicFrame>
        <p:nvGraphicFramePr>
          <p:cNvPr id="27" name="Chart 26"/>
          <p:cNvGraphicFramePr>
            <a:graphicFrameLocks noGrp="1"/>
          </p:cNvGraphicFramePr>
          <p:nvPr/>
        </p:nvGraphicFramePr>
        <p:xfrm>
          <a:off x="868680" y="5623560"/>
          <a:ext cx="1554480" cy="914400"/>
        </p:xfrm>
        <a:graphic>
          <a:graphicData uri="http://schemas.openxmlformats.org/drawingml/2006/chart">
            <c:chart xmlns:c="http://schemas.openxmlformats.org/drawingml/2006/chart" r:id="rId2"/>
          </a:graphicData>
        </a:graphic>
      </p:graphicFrame>
      <p:sp>
        <p:nvSpPr>
          <p:cNvPr id="28" name="TextBox 27"/>
          <p:cNvSpPr txBox="1"/>
          <p:nvPr/>
        </p:nvSpPr>
        <p:spPr>
          <a:xfrm>
            <a:off x="3108960" y="5440680"/>
            <a:ext cx="2926080" cy="32004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1B7A4E"/>
                </a:solidFill>
                <a:latin typeface="Calibri"/>
              </a:rPr>
              <a:t>LILAN vs Partners</a:t>
            </a:r>
          </a:p>
        </p:txBody>
      </p:sp>
      <p:graphicFrame>
        <p:nvGraphicFramePr>
          <p:cNvPr id="29" name="Chart 28"/>
          <p:cNvGraphicFramePr>
            <a:graphicFrameLocks noGrp="1"/>
          </p:cNvGraphicFramePr>
          <p:nvPr/>
        </p:nvGraphicFramePr>
        <p:xfrm>
          <a:off x="3108960" y="5623560"/>
          <a:ext cx="1737360" cy="914400"/>
        </p:xfrm>
        <a:graphic>
          <a:graphicData uri="http://schemas.openxmlformats.org/drawingml/2006/chart">
            <c:chart xmlns:c="http://schemas.openxmlformats.org/drawingml/2006/chart" r:id="rId3"/>
          </a:graphicData>
        </a:graphic>
      </p:graphicFrame>
      <p:sp>
        <p:nvSpPr>
          <p:cNvPr id="30" name="Rounded Rectangle 29"/>
          <p:cNvSpPr/>
          <p:nvPr/>
        </p:nvSpPr>
        <p:spPr>
          <a:xfrm>
            <a:off x="6309360" y="5440680"/>
            <a:ext cx="2468880" cy="868680"/>
          </a:xfrm>
          <a:prstGeom prst="roundRect">
            <a:avLst>
              <a:gd name="adj" fmla="val 12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rtlCol="0" anchor="ctr" wrap="square" tIns="64008" bIns="64008"/>
          <a:lstStyle/>
          <a:p>
            <a:pPr algn="l">
              <a:lnSpc>
                <a:spcPct val="100000"/>
              </a:lnSpc>
              <a:spcBef>
                <a:spcPts val="0"/>
              </a:spcBef>
              <a:spcAft>
                <a:spcPts val="600"/>
              </a:spcAft>
            </a:pPr>
            <a:r>
              <a:rPr sz="1500" b="1" i="0">
                <a:solidFill>
                  <a:srgbClr val="0E3B2E"/>
                </a:solidFill>
                <a:latin typeface="Calibri"/>
              </a:rPr>
              <a:t>17</a:t>
            </a:r>
          </a:p>
          <a:p>
            <a:pPr algn="l">
              <a:lnSpc>
                <a:spcPct val="100000"/>
              </a:lnSpc>
              <a:spcBef>
                <a:spcPts val="0"/>
              </a:spcBef>
              <a:spcAft>
                <a:spcPts val="600"/>
              </a:spcAft>
            </a:pPr>
            <a:r>
              <a:rPr sz="1050" b="0" i="0">
                <a:solidFill>
                  <a:srgbClr val="5A6B66"/>
                </a:solidFill>
                <a:latin typeface="Calibri"/>
              </a:rPr>
              <a:t>Months payback</a:t>
            </a:r>
          </a:p>
        </p:txBody>
      </p:sp>
      <p:sp>
        <p:nvSpPr>
          <p:cNvPr id="31" name="Rounded Rectangle 30"/>
          <p:cNvSpPr/>
          <p:nvPr/>
        </p:nvSpPr>
        <p:spPr>
          <a:xfrm>
            <a:off x="8869680" y="5440680"/>
            <a:ext cx="2468880" cy="868680"/>
          </a:xfrm>
          <a:prstGeom prst="roundRect">
            <a:avLst>
              <a:gd name="adj" fmla="val 12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rtlCol="0" anchor="ctr" wrap="square" tIns="64008" bIns="64008"/>
          <a:lstStyle/>
          <a:p>
            <a:pPr algn="l">
              <a:lnSpc>
                <a:spcPct val="100000"/>
              </a:lnSpc>
              <a:spcBef>
                <a:spcPts val="0"/>
              </a:spcBef>
              <a:spcAft>
                <a:spcPts val="600"/>
              </a:spcAft>
            </a:pPr>
            <a:r>
              <a:rPr sz="1500" b="1" i="0">
                <a:solidFill>
                  <a:srgbClr val="0E3B2E"/>
                </a:solidFill>
                <a:latin typeface="Calibri"/>
              </a:rPr>
              <a:t>71%</a:t>
            </a:r>
          </a:p>
          <a:p>
            <a:pPr algn="l">
              <a:lnSpc>
                <a:spcPct val="100000"/>
              </a:lnSpc>
              <a:spcBef>
                <a:spcPts val="0"/>
              </a:spcBef>
              <a:spcAft>
                <a:spcPts val="600"/>
              </a:spcAft>
            </a:pPr>
            <a:r>
              <a:rPr sz="1050" b="0" i="0">
                <a:solidFill>
                  <a:srgbClr val="5A6B66"/>
                </a:solidFill>
                <a:latin typeface="Calibri"/>
              </a:rPr>
              <a:t>Year-1 ROI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THE SOLUTION</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2400" b="1" i="0">
                <a:solidFill>
                  <a:srgbClr val="0E3B2E"/>
                </a:solidFill>
                <a:latin typeface="Calibri"/>
              </a:rPr>
              <a:t>How My Smart Bioclean Biogas System (BSBS) Combats Air Pollution</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09</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Rounded Rectangle 8"/>
          <p:cNvSpPr/>
          <p:nvPr/>
        </p:nvSpPr>
        <p:spPr>
          <a:xfrm>
            <a:off x="868680" y="1572768"/>
            <a:ext cx="5120640" cy="868680"/>
          </a:xfrm>
          <a:prstGeom prst="roundRect">
            <a:avLst>
              <a:gd name="adj" fmla="val 8000"/>
            </a:avLst>
          </a:prstGeom>
          <a:solidFill>
            <a:srgbClr val="FBEAEA"/>
          </a:solidFill>
          <a:ln w="12700">
            <a:solidFill>
              <a:srgbClr val="B3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46304" tIns="64008" bIns="64008"/>
          <a:lstStyle/>
          <a:p>
            <a:pPr algn="l">
              <a:lnSpc>
                <a:spcPct val="100000"/>
              </a:lnSpc>
              <a:spcBef>
                <a:spcPts val="0"/>
              </a:spcBef>
              <a:spcAft>
                <a:spcPts val="600"/>
              </a:spcAft>
            </a:pPr>
            <a:r>
              <a:rPr sz="1150" b="1" i="0">
                <a:solidFill>
                  <a:srgbClr val="B33A2E"/>
                </a:solidFill>
                <a:latin typeface="Calibri"/>
              </a:rPr>
              <a:t>BEFORE</a:t>
            </a:r>
          </a:p>
          <a:p>
            <a:pPr algn="l">
              <a:lnSpc>
                <a:spcPct val="100000"/>
              </a:lnSpc>
              <a:spcBef>
                <a:spcPts val="0"/>
              </a:spcBef>
              <a:spcAft>
                <a:spcPts val="600"/>
              </a:spcAft>
            </a:pPr>
            <a:r>
              <a:rPr sz="1200" b="0" i="0">
                <a:solidFill>
                  <a:srgbClr val="1A2B26"/>
                </a:solidFill>
                <a:latin typeface="Calibri"/>
              </a:rPr>
              <a:t>Waste burning  →  Smoke  →  Air pollution  →  Health problems</a:t>
            </a:r>
          </a:p>
        </p:txBody>
      </p:sp>
      <p:sp>
        <p:nvSpPr>
          <p:cNvPr id="10" name="Rounded Rectangle 9"/>
          <p:cNvSpPr/>
          <p:nvPr/>
        </p:nvSpPr>
        <p:spPr>
          <a:xfrm>
            <a:off x="6172200" y="1572768"/>
            <a:ext cx="5212080" cy="868680"/>
          </a:xfrm>
          <a:prstGeom prst="roundRect">
            <a:avLst>
              <a:gd name="adj" fmla="val 8000"/>
            </a:avLst>
          </a:prstGeom>
          <a:solidFill>
            <a:srgbClr val="E8F3EC"/>
          </a:solidFill>
          <a:ln w="12700">
            <a:solidFill>
              <a:srgbClr val="1B7A4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46304" tIns="64008" bIns="64008"/>
          <a:lstStyle/>
          <a:p>
            <a:pPr algn="l">
              <a:lnSpc>
                <a:spcPct val="100000"/>
              </a:lnSpc>
              <a:spcBef>
                <a:spcPts val="0"/>
              </a:spcBef>
              <a:spcAft>
                <a:spcPts val="600"/>
              </a:spcAft>
            </a:pPr>
            <a:r>
              <a:rPr sz="1150" b="1" i="0">
                <a:solidFill>
                  <a:srgbClr val="1B7A4E"/>
                </a:solidFill>
                <a:latin typeface="Calibri"/>
              </a:rPr>
              <a:t>AFTER</a:t>
            </a:r>
          </a:p>
          <a:p>
            <a:pPr algn="l">
              <a:lnSpc>
                <a:spcPct val="100000"/>
              </a:lnSpc>
              <a:spcBef>
                <a:spcPts val="0"/>
              </a:spcBef>
              <a:spcAft>
                <a:spcPts val="600"/>
              </a:spcAft>
            </a:pPr>
            <a:r>
              <a:rPr sz="1200" b="0" i="0">
                <a:solidFill>
                  <a:srgbClr val="1A2B26"/>
                </a:solidFill>
                <a:latin typeface="Calibri"/>
              </a:rPr>
              <a:t>Waste collection  →  Biogas production  →  Clean energy  →  Cleaner environment</a:t>
            </a:r>
          </a:p>
        </p:txBody>
      </p:sp>
      <p:sp>
        <p:nvSpPr>
          <p:cNvPr id="11" name="Rounded Rectangle 10"/>
          <p:cNvSpPr/>
          <p:nvPr/>
        </p:nvSpPr>
        <p:spPr>
          <a:xfrm>
            <a:off x="868680" y="2578608"/>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Health</a:t>
            </a:r>
          </a:p>
          <a:p>
            <a:pPr algn="l">
              <a:lnSpc>
                <a:spcPct val="100000"/>
              </a:lnSpc>
              <a:spcBef>
                <a:spcPts val="0"/>
              </a:spcBef>
              <a:spcAft>
                <a:spcPts val="600"/>
              </a:spcAft>
            </a:pPr>
            <a:r>
              <a:rPr sz="1080" b="0" i="0">
                <a:solidFill>
                  <a:srgbClr val="1A2B26"/>
                </a:solidFill>
                <a:latin typeface="Calibri"/>
              </a:rPr>
              <a:t>Biogas burns clean and releases no smoke into the atmosphere, reducing health risks from firewood, charcoal and generator fumes.</a:t>
            </a:r>
          </a:p>
        </p:txBody>
      </p:sp>
      <p:sp>
        <p:nvSpPr>
          <p:cNvPr id="12" name="Rounded Rectangle 11"/>
          <p:cNvSpPr/>
          <p:nvPr/>
        </p:nvSpPr>
        <p:spPr>
          <a:xfrm>
            <a:off x="6172200" y="2578608"/>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Economic</a:t>
            </a:r>
          </a:p>
          <a:p>
            <a:pPr algn="l">
              <a:lnSpc>
                <a:spcPct val="100000"/>
              </a:lnSpc>
              <a:spcBef>
                <a:spcPts val="0"/>
              </a:spcBef>
              <a:spcAft>
                <a:spcPts val="600"/>
              </a:spcAft>
            </a:pPr>
            <a:r>
              <a:rPr sz="1080" b="0" i="0">
                <a:solidFill>
                  <a:srgbClr val="1A2B26"/>
                </a:solidFill>
                <a:latin typeface="Calibri"/>
              </a:rPr>
              <a:t>Biogas comes from decomposing organic materials, so BSBS is affordable for families and schools. A 5m³ model in each home brings a net benefit of ₦1,880,000, and creates jobs for skilled installers.</a:t>
            </a:r>
          </a:p>
        </p:txBody>
      </p:sp>
      <p:sp>
        <p:nvSpPr>
          <p:cNvPr id="13" name="Rounded Rectangle 12"/>
          <p:cNvSpPr/>
          <p:nvPr/>
        </p:nvSpPr>
        <p:spPr>
          <a:xfrm>
            <a:off x="868680" y="3913632"/>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Agricultural</a:t>
            </a:r>
          </a:p>
          <a:p>
            <a:pPr algn="l">
              <a:lnSpc>
                <a:spcPct val="100000"/>
              </a:lnSpc>
              <a:spcBef>
                <a:spcPts val="0"/>
              </a:spcBef>
              <a:spcAft>
                <a:spcPts val="600"/>
              </a:spcAft>
            </a:pPr>
            <a:r>
              <a:rPr sz="1080" b="0" i="0">
                <a:solidFill>
                  <a:srgbClr val="1A2B26"/>
                </a:solidFill>
                <a:latin typeface="Calibri"/>
              </a:rPr>
              <a:t>The residue is collected by the slurry outlet and dried on the drying bed before supply to farmers — fostering agriculture and bountiful harvests.</a:t>
            </a:r>
          </a:p>
        </p:txBody>
      </p:sp>
      <p:sp>
        <p:nvSpPr>
          <p:cNvPr id="14" name="Rounded Rectangle 13"/>
          <p:cNvSpPr/>
          <p:nvPr/>
        </p:nvSpPr>
        <p:spPr>
          <a:xfrm>
            <a:off x="6172200" y="3913632"/>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Social</a:t>
            </a:r>
          </a:p>
          <a:p>
            <a:pPr algn="l">
              <a:lnSpc>
                <a:spcPct val="100000"/>
              </a:lnSpc>
              <a:spcBef>
                <a:spcPts val="0"/>
              </a:spcBef>
              <a:spcAft>
                <a:spcPts val="600"/>
              </a:spcAft>
            </a:pPr>
            <a:r>
              <a:rPr sz="1080" b="0" i="0">
                <a:solidFill>
                  <a:srgbClr val="1A2B26"/>
                </a:solidFill>
                <a:latin typeface="Calibri"/>
              </a:rPr>
              <a:t>Students are no longer isolated or stigmatised; everyone gets clean air, with BSBS installed in every home.</a:t>
            </a:r>
          </a:p>
        </p:txBody>
      </p:sp>
      <p:sp>
        <p:nvSpPr>
          <p:cNvPr id="15" name="Rounded Rectangle 14"/>
          <p:cNvSpPr/>
          <p:nvPr/>
        </p:nvSpPr>
        <p:spPr>
          <a:xfrm>
            <a:off x="868680" y="5248656"/>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Environmental</a:t>
            </a:r>
          </a:p>
          <a:p>
            <a:pPr algn="l">
              <a:lnSpc>
                <a:spcPct val="100000"/>
              </a:lnSpc>
              <a:spcBef>
                <a:spcPts val="0"/>
              </a:spcBef>
              <a:spcAft>
                <a:spcPts val="600"/>
              </a:spcAft>
            </a:pPr>
            <a:r>
              <a:rPr sz="1080" b="0" i="0">
                <a:solidFill>
                  <a:srgbClr val="1A2B26"/>
                </a:solidFill>
                <a:latin typeface="Calibri"/>
              </a:rPr>
              <a:t>BSBS traps methane (a greenhouse gas) and provides a clean, renewable alternative to firewood and charcoal.</a:t>
            </a:r>
          </a:p>
        </p:txBody>
      </p:sp>
      <p:sp>
        <p:nvSpPr>
          <p:cNvPr id="16" name="Rounded Rectangle 15"/>
          <p:cNvSpPr/>
          <p:nvPr/>
        </p:nvSpPr>
        <p:spPr>
          <a:xfrm>
            <a:off x="6172200" y="5248656"/>
            <a:ext cx="5120640" cy="1225296"/>
          </a:xfrm>
          <a:prstGeom prst="roundRect">
            <a:avLst>
              <a:gd name="adj" fmla="val 10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64008" bIns="64008"/>
          <a:lstStyle/>
          <a:p>
            <a:pPr algn="l">
              <a:lnSpc>
                <a:spcPct val="100000"/>
              </a:lnSpc>
              <a:spcBef>
                <a:spcPts val="0"/>
              </a:spcBef>
              <a:spcAft>
                <a:spcPts val="600"/>
              </a:spcAft>
            </a:pPr>
            <a:r>
              <a:rPr sz="1300" b="1" i="0">
                <a:solidFill>
                  <a:srgbClr val="1B7A4E"/>
                </a:solidFill>
                <a:latin typeface="Calibri"/>
              </a:rPr>
              <a:t>Transparency</a:t>
            </a:r>
          </a:p>
          <a:p>
            <a:pPr algn="l">
              <a:lnSpc>
                <a:spcPct val="100000"/>
              </a:lnSpc>
              <a:spcBef>
                <a:spcPts val="0"/>
              </a:spcBef>
              <a:spcAft>
                <a:spcPts val="600"/>
              </a:spcAft>
            </a:pPr>
            <a:r>
              <a:rPr sz="1080" b="0" i="0">
                <a:solidFill>
                  <a:srgbClr val="1A2B26"/>
                </a:solidFill>
                <a:latin typeface="Calibri"/>
              </a:rPr>
              <a:t>App-based monitoring ensures accountability.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128016" cy="713232"/>
          </a:xfrm>
          <a:prstGeom prst="roundRect">
            <a:avLst>
              <a:gd name="adj" fmla="val 50000"/>
            </a:avLst>
          </a:prstGeom>
          <a:solidFill>
            <a:srgbClr val="E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365760"/>
            <a:ext cx="8778240" cy="365760"/>
          </a:xfrm>
          <a:prstGeom prst="rect">
            <a:avLst/>
          </a:prstGeom>
          <a:noFill/>
        </p:spPr>
        <p:txBody>
          <a:bodyPr wrap="square" anchor="t" lIns="0" rIns="0" tIns="0" bIns="0">
            <a:spAutoFit/>
          </a:bodyPr>
          <a:lstStyle/>
          <a:p>
            <a:pPr algn="l">
              <a:lnSpc>
                <a:spcPct val="100000"/>
              </a:lnSpc>
              <a:spcBef>
                <a:spcPts val="0"/>
              </a:spcBef>
              <a:spcAft>
                <a:spcPts val="0"/>
              </a:spcAft>
            </a:pPr>
            <a:r>
              <a:rPr sz="1250" b="1" i="0">
                <a:solidFill>
                  <a:srgbClr val="1B7A4E"/>
                </a:solidFill>
                <a:latin typeface="Calibri"/>
              </a:rPr>
              <a:t>THANK YOU</a:t>
            </a:r>
          </a:p>
        </p:txBody>
      </p:sp>
      <p:sp>
        <p:nvSpPr>
          <p:cNvPr id="5" name="TextBox 4"/>
          <p:cNvSpPr txBox="1"/>
          <p:nvPr/>
        </p:nvSpPr>
        <p:spPr>
          <a:xfrm>
            <a:off x="868680" y="640080"/>
            <a:ext cx="10332720" cy="868680"/>
          </a:xfrm>
          <a:prstGeom prst="rect">
            <a:avLst/>
          </a:prstGeom>
          <a:noFill/>
        </p:spPr>
        <p:txBody>
          <a:bodyPr wrap="square" anchor="t" lIns="0" rIns="0" tIns="0" bIns="0">
            <a:spAutoFit/>
          </a:bodyPr>
          <a:lstStyle/>
          <a:p>
            <a:pPr algn="l">
              <a:lnSpc>
                <a:spcPct val="98000"/>
              </a:lnSpc>
              <a:spcBef>
                <a:spcPts val="0"/>
              </a:spcBef>
              <a:spcAft>
                <a:spcPts val="0"/>
              </a:spcAft>
            </a:pPr>
            <a:r>
              <a:rPr sz="3000" b="1" i="0">
                <a:solidFill>
                  <a:srgbClr val="0E3B2E"/>
                </a:solidFill>
                <a:latin typeface="Calibri"/>
              </a:rPr>
              <a:t>Conclusion and Gratitude</a:t>
            </a:r>
          </a:p>
        </p:txBody>
      </p:sp>
      <p:sp>
        <p:nvSpPr>
          <p:cNvPr id="6" name="Rectangle 5"/>
          <p:cNvSpPr/>
          <p:nvPr/>
        </p:nvSpPr>
        <p:spPr>
          <a:xfrm>
            <a:off x="868680" y="1444752"/>
            <a:ext cx="10515600" cy="25603"/>
          </a:xfrm>
          <a:prstGeom prst="rect">
            <a:avLst/>
          </a:prstGeom>
          <a:solidFill>
            <a:srgbClr val="1B7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228832" y="411480"/>
            <a:ext cx="658368" cy="658368"/>
          </a:xfrm>
          <a:prstGeom prst="ellipse">
            <a:avLst/>
          </a:prstGeom>
          <a:solidFill>
            <a:srgbClr val="0E3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FFFFFF"/>
                </a:solidFill>
                <a:latin typeface="Calibri"/>
              </a:rPr>
              <a:t>10</a:t>
            </a:r>
          </a:p>
        </p:txBody>
      </p:sp>
      <p:sp>
        <p:nvSpPr>
          <p:cNvPr id="8" name="TextBox 7"/>
          <p:cNvSpPr txBox="1"/>
          <p:nvPr/>
        </p:nvSpPr>
        <p:spPr>
          <a:xfrm>
            <a:off x="868680" y="6473952"/>
            <a:ext cx="8229600" cy="292608"/>
          </a:xfrm>
          <a:prstGeom prst="rect">
            <a:avLst/>
          </a:prstGeom>
          <a:noFill/>
        </p:spPr>
        <p:txBody>
          <a:bodyPr wrap="square" anchor="t" lIns="0" rIns="0" tIns="0" bIns="0">
            <a:spAutoFit/>
          </a:bodyPr>
          <a:lstStyle/>
          <a:p>
            <a:pPr algn="l">
              <a:lnSpc>
                <a:spcPct val="100000"/>
              </a:lnSpc>
              <a:spcBef>
                <a:spcPts val="0"/>
              </a:spcBef>
              <a:spcAft>
                <a:spcPts val="0"/>
              </a:spcAft>
            </a:pPr>
            <a:r>
              <a:rPr sz="900" b="1" i="0">
                <a:solidFill>
                  <a:srgbClr val="5A6B66"/>
                </a:solidFill>
                <a:latin typeface="Calibri"/>
              </a:rPr>
              <a:t>BIOCLEAN SMART BIOGAS SYSTEM  ·  BSBS</a:t>
            </a:r>
          </a:p>
        </p:txBody>
      </p:sp>
      <p:sp>
        <p:nvSpPr>
          <p:cNvPr id="9" name="TextBox 8"/>
          <p:cNvSpPr txBox="1"/>
          <p:nvPr/>
        </p:nvSpPr>
        <p:spPr>
          <a:xfrm>
            <a:off x="868680" y="1554480"/>
            <a:ext cx="10515600" cy="457200"/>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B7A4E"/>
                </a:solidFill>
                <a:latin typeface="Calibri"/>
              </a:rPr>
              <a:t>Bioclean Smart Biogas System (BSBS) — From Waste to Wealth: From Problem to Power.</a:t>
            </a:r>
          </a:p>
        </p:txBody>
      </p:sp>
      <p:sp>
        <p:nvSpPr>
          <p:cNvPr id="10" name="Rounded Rectangle 9"/>
          <p:cNvSpPr/>
          <p:nvPr/>
        </p:nvSpPr>
        <p:spPr>
          <a:xfrm>
            <a:off x="868680" y="2103120"/>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64008" bIns="64008"/>
          <a:lstStyle/>
          <a:p>
            <a:pPr algn="l">
              <a:lnSpc>
                <a:spcPct val="100000"/>
              </a:lnSpc>
              <a:spcBef>
                <a:spcPts val="0"/>
              </a:spcBef>
              <a:spcAft>
                <a:spcPts val="600"/>
              </a:spcAft>
            </a:pPr>
            <a:r>
              <a:rPr sz="1200" b="1" i="0">
                <a:solidFill>
                  <a:srgbClr val="E99A00"/>
                </a:solidFill>
                <a:latin typeface="Calibri"/>
              </a:rPr>
              <a:t>01</a:t>
            </a:r>
            <a:r>
              <a:rPr sz="1350" b="1" i="0">
                <a:solidFill>
                  <a:srgbClr val="0E3B2E"/>
                </a:solidFill>
                <a:latin typeface="Calibri"/>
              </a:rPr>
              <a:t>   The problem is real</a:t>
            </a:r>
          </a:p>
          <a:p>
            <a:pPr algn="l">
              <a:lnSpc>
                <a:spcPct val="100000"/>
              </a:lnSpc>
              <a:spcBef>
                <a:spcPts val="0"/>
              </a:spcBef>
              <a:spcAft>
                <a:spcPts val="600"/>
              </a:spcAft>
            </a:pPr>
            <a:r>
              <a:rPr sz="1100" b="0" i="0">
                <a:solidFill>
                  <a:srgbClr val="1A2B26"/>
                </a:solidFill>
                <a:latin typeface="Calibri"/>
              </a:rPr>
              <a:t>300 students suffer daily from gas fumes; waste causes bad odour and ₦1.8m is wasted every year.</a:t>
            </a:r>
          </a:p>
        </p:txBody>
      </p:sp>
      <p:sp>
        <p:nvSpPr>
          <p:cNvPr id="11" name="Rounded Rectangle 10"/>
          <p:cNvSpPr/>
          <p:nvPr/>
        </p:nvSpPr>
        <p:spPr>
          <a:xfrm>
            <a:off x="6172200" y="2103120"/>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64008" bIns="64008"/>
          <a:lstStyle/>
          <a:p>
            <a:pPr algn="l">
              <a:lnSpc>
                <a:spcPct val="100000"/>
              </a:lnSpc>
              <a:spcBef>
                <a:spcPts val="0"/>
              </a:spcBef>
              <a:spcAft>
                <a:spcPts val="600"/>
              </a:spcAft>
            </a:pPr>
            <a:r>
              <a:rPr sz="1200" b="1" i="0">
                <a:solidFill>
                  <a:srgbClr val="E99A00"/>
                </a:solidFill>
                <a:latin typeface="Calibri"/>
              </a:rPr>
              <a:t>02</a:t>
            </a:r>
            <a:r>
              <a:rPr sz="1350" b="1" i="0">
                <a:solidFill>
                  <a:srgbClr val="0E3B2E"/>
                </a:solidFill>
                <a:latin typeface="Calibri"/>
              </a:rPr>
              <a:t>   The solution works</a:t>
            </a:r>
          </a:p>
          <a:p>
            <a:pPr algn="l">
              <a:lnSpc>
                <a:spcPct val="100000"/>
              </a:lnSpc>
              <a:spcBef>
                <a:spcPts val="0"/>
              </a:spcBef>
              <a:spcAft>
                <a:spcPts val="600"/>
              </a:spcAft>
            </a:pPr>
            <a:r>
              <a:rPr sz="1100" b="0" i="0">
                <a:solidFill>
                  <a:srgbClr val="1A2B26"/>
                </a:solidFill>
                <a:latin typeface="Calibri"/>
              </a:rPr>
              <a:t>Biogas turns our biggest problem into our biggest asset: clean cooking, clean hostels, plus ₦1.8m net gain every year.</a:t>
            </a:r>
          </a:p>
        </p:txBody>
      </p:sp>
      <p:sp>
        <p:nvSpPr>
          <p:cNvPr id="12" name="Rounded Rectangle 11"/>
          <p:cNvSpPr/>
          <p:nvPr/>
        </p:nvSpPr>
        <p:spPr>
          <a:xfrm>
            <a:off x="868680" y="3456432"/>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64008" bIns="64008"/>
          <a:lstStyle/>
          <a:p>
            <a:pPr algn="l">
              <a:lnSpc>
                <a:spcPct val="100000"/>
              </a:lnSpc>
              <a:spcBef>
                <a:spcPts val="0"/>
              </a:spcBef>
              <a:spcAft>
                <a:spcPts val="600"/>
              </a:spcAft>
            </a:pPr>
            <a:r>
              <a:rPr sz="1200" b="1" i="0">
                <a:solidFill>
                  <a:srgbClr val="E99A00"/>
                </a:solidFill>
                <a:latin typeface="Calibri"/>
              </a:rPr>
              <a:t>03</a:t>
            </a:r>
            <a:r>
              <a:rPr sz="1350" b="1" i="0">
                <a:solidFill>
                  <a:srgbClr val="0E3B2E"/>
                </a:solidFill>
                <a:latin typeface="Calibri"/>
              </a:rPr>
              <a:t>   The plan is ready</a:t>
            </a:r>
          </a:p>
          <a:p>
            <a:pPr algn="l">
              <a:lnSpc>
                <a:spcPct val="100000"/>
              </a:lnSpc>
              <a:spcBef>
                <a:spcPts val="0"/>
              </a:spcBef>
              <a:spcAft>
                <a:spcPts val="600"/>
              </a:spcAft>
            </a:pPr>
            <a:r>
              <a:rPr sz="1100" b="0" i="0">
                <a:solidFill>
                  <a:srgbClr val="1A2B26"/>
                </a:solidFill>
                <a:latin typeface="Calibri"/>
              </a:rPr>
              <a:t>₦2.65m total cost: ₦1m from LILAN, ₦1.65m from partners; 17-month payback and 15 years of impact.</a:t>
            </a:r>
          </a:p>
        </p:txBody>
      </p:sp>
      <p:sp>
        <p:nvSpPr>
          <p:cNvPr id="13" name="Rounded Rectangle 12"/>
          <p:cNvSpPr/>
          <p:nvPr/>
        </p:nvSpPr>
        <p:spPr>
          <a:xfrm>
            <a:off x="6172200" y="3456432"/>
            <a:ext cx="5120640" cy="1280160"/>
          </a:xfrm>
          <a:prstGeom prst="roundRect">
            <a:avLst>
              <a:gd name="adj" fmla="val 8000"/>
            </a:avLst>
          </a:prstGeom>
          <a:solidFill>
            <a:srgbClr val="F4F9F6"/>
          </a:solidFill>
          <a:ln w="12700">
            <a:solidFill>
              <a:srgbClr val="E8F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64008" bIns="64008"/>
          <a:lstStyle/>
          <a:p>
            <a:pPr algn="l">
              <a:lnSpc>
                <a:spcPct val="100000"/>
              </a:lnSpc>
              <a:spcBef>
                <a:spcPts val="0"/>
              </a:spcBef>
              <a:spcAft>
                <a:spcPts val="600"/>
              </a:spcAft>
            </a:pPr>
            <a:r>
              <a:rPr sz="1200" b="1" i="0">
                <a:solidFill>
                  <a:srgbClr val="E99A00"/>
                </a:solidFill>
                <a:latin typeface="Calibri"/>
              </a:rPr>
              <a:t>04</a:t>
            </a:r>
            <a:r>
              <a:rPr sz="1350" b="1" i="0">
                <a:solidFill>
                  <a:srgbClr val="0E3B2E"/>
                </a:solidFill>
                <a:latin typeface="Calibri"/>
              </a:rPr>
              <a:t>   The leadership is here</a:t>
            </a:r>
          </a:p>
          <a:p>
            <a:pPr algn="l">
              <a:lnSpc>
                <a:spcPct val="100000"/>
              </a:lnSpc>
              <a:spcBef>
                <a:spcPts val="0"/>
              </a:spcBef>
              <a:spcAft>
                <a:spcPts val="600"/>
              </a:spcAft>
            </a:pPr>
            <a:r>
              <a:rPr sz="1100" b="0" i="0">
                <a:solidFill>
                  <a:srgbClr val="1A2B26"/>
                </a:solidFill>
                <a:latin typeface="Calibri"/>
              </a:rPr>
              <a:t>With the BSBS Green Club and annual training, this impact will outlive me and inspire other schools in Enugu.</a:t>
            </a:r>
          </a:p>
        </p:txBody>
      </p:sp>
      <p:sp>
        <p:nvSpPr>
          <p:cNvPr id="14" name="TextBox 13"/>
          <p:cNvSpPr txBox="1"/>
          <p:nvPr/>
        </p:nvSpPr>
        <p:spPr>
          <a:xfrm>
            <a:off x="868680" y="4956048"/>
            <a:ext cx="10515600" cy="1463040"/>
          </a:xfrm>
          <a:prstGeom prst="rect">
            <a:avLst/>
          </a:prstGeom>
          <a:noFill/>
        </p:spPr>
        <p:txBody>
          <a:bodyPr wrap="square" anchor="ctr" lIns="0" rIns="0" tIns="0" bIns="0">
            <a:spAutoFit/>
          </a:bodyPr>
          <a:lstStyle/>
          <a:p>
            <a:pPr algn="ctr">
              <a:lnSpc>
                <a:spcPct val="100000"/>
              </a:lnSpc>
              <a:spcBef>
                <a:spcPts val="0"/>
              </a:spcBef>
              <a:spcAft>
                <a:spcPts val="300"/>
              </a:spcAft>
            </a:pPr>
            <a:r>
              <a:rPr sz="1400" b="1" i="0">
                <a:solidFill>
                  <a:srgbClr val="0E3B2E"/>
                </a:solidFill>
                <a:latin typeface="Calibri"/>
              </a:rPr>
              <a:t>Invest ₦1,000,000 in me today. In return, LILAN gets a national model of student-led climate action that saves money, saves the planet and saves lives.</a:t>
            </a:r>
          </a:p>
          <a:p>
            <a:pPr algn="ctr">
              <a:lnSpc>
                <a:spcPct val="100000"/>
              </a:lnSpc>
              <a:spcBef>
                <a:spcPts val="0"/>
              </a:spcBef>
              <a:spcAft>
                <a:spcPts val="300"/>
              </a:spcAft>
            </a:pPr>
            <a:r>
              <a:rPr sz="1300" b="0" i="0">
                <a:solidFill>
                  <a:srgbClr val="1A2B26"/>
                </a:solidFill>
                <a:latin typeface="Calibri"/>
              </a:rPr>
              <a:t>This is not just a project — this is my legacy.</a:t>
            </a:r>
          </a:p>
          <a:p>
            <a:pPr algn="ctr">
              <a:lnSpc>
                <a:spcPct val="100000"/>
              </a:lnSpc>
              <a:spcBef>
                <a:spcPts val="0"/>
              </a:spcBef>
              <a:spcAft>
                <a:spcPts val="300"/>
              </a:spcAft>
            </a:pPr>
            <a:r>
              <a:rPr sz="1600" b="1" i="0">
                <a:solidFill>
                  <a:srgbClr val="1B7A4E"/>
                </a:solidFill>
                <a:latin typeface="Calibri"/>
              </a:rPr>
              <a:t>Let’s Breathe In Clean Air together.</a:t>
            </a:r>
          </a:p>
          <a:p>
            <a:pPr algn="ctr">
              <a:lnSpc>
                <a:spcPct val="100000"/>
              </a:lnSpc>
              <a:spcBef>
                <a:spcPts val="0"/>
              </a:spcBef>
              <a:spcAft>
                <a:spcPts val="0"/>
              </a:spcAft>
            </a:pPr>
            <a:r>
              <a:rPr sz="1150" b="0" i="0">
                <a:solidFill>
                  <a:srgbClr val="5A6B66"/>
                </a:solidFill>
                <a:latin typeface="Calibri"/>
              </a:rPr>
              <a:t>Thank you, LILAN, for this opportunity to change my school, community, nation, continent and the whole world.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