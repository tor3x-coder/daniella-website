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3" r:id="rId9"/>
    <p:sldId id="264" r:id="rId10"/>
    <p:sldId id="265" r:id="rId11"/>
    <p:sldId id="266" r:id="rId12"/>
    <p:sldId id="267" r:id="rId13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1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31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Cost</c:v>
                </c:pt>
              </c:strCache>
            </c:strRef>
          </c:tx>
          <c:explosion val="0"/>
          <c:dPt>
            <c:idx val="0"/>
            <c:bubble3D val="0"/>
          </c:dPt>
          <c:dPt>
            <c:idx val="1"/>
            <c:bubble3D val="0"/>
          </c:dPt>
          <c:dPt>
            <c:idx val="2"/>
            <c:bubble3D val="0"/>
          </c:dPt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GB" sz="1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bestFit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Equipment</c:v>
                </c:pt>
                <c:pt idx="1">
                  <c:v>Installation</c:v>
                </c:pt>
                <c:pt idx="2">
                  <c:v>Others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70</c:v>
                </c:pt>
                <c:pt idx="1">
                  <c:v>21</c:v>
                </c:pt>
                <c:pt idx="2">
                  <c:v>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en-GB" sz="1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a6b9fc99-1681-452b-97d6-b1584cf24b0f}"/>
      </c:ext>
    </c:extLst>
  </c:chart>
  <c:txPr>
    <a:bodyPr/>
    <a:lstStyle/>
    <a:p>
      <a:pPr>
        <a:defRPr lang="en-GB" sz="1800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Funding (₦)</c:v>
                </c:pt>
              </c:strCache>
            </c:strRef>
          </c:tx>
          <c:invertIfNegative val="0"/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GB" sz="1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>
                  <c:v>LILAN</c:v>
                </c:pt>
                <c:pt idx="1">
                  <c:v>Partners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1000000</c:v>
                </c:pt>
                <c:pt idx="1">
                  <c:v>1650000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GB"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GB"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2068027336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588c95e3-ba76-4090-95c1-3a4c89426b84}"/>
      </c:ext>
    </c:extLst>
  </c:chart>
  <c:txPr>
    <a:bodyPr/>
    <a:lstStyle/>
    <a:p>
      <a:pPr>
        <a:defRPr lang="en-GB" sz="1800"/>
      </a:pPr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1" Type="http://schemas.openxmlformats.org/officeDocument/2006/relationships/chart" Target="../charts/char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3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9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3085"/>
            <a:ext cx="10362895" cy="33032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</a:pPr>
            <a:r>
              <a:rPr sz="1400" b="1" i="0">
                <a:solidFill>
                  <a:srgbClr val="E99A00"/>
                </a:solidFill>
                <a:latin typeface="Calibri" panose="020F0502020204030204"/>
              </a:rPr>
              <a:t>BIOCLEAN  ·  SCHOOL &amp; COMMUNITY INNOVATION</a:t>
            </a:r>
            <a:endParaRPr sz="1400" b="1" i="0">
              <a:solidFill>
                <a:srgbClr val="E99A00"/>
              </a:solidFill>
              <a:latin typeface="Calibri" panose="020F0502020204030204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 i="0">
                <a:solidFill>
                  <a:srgbClr val="FFFFFF"/>
                </a:solidFill>
                <a:latin typeface="Calibri" panose="020F0502020204030204"/>
              </a:rPr>
              <a:t>BIOCLEAN</a:t>
            </a:r>
            <a:r>
              <a:rPr lang="en-US" sz="5200" b="1" i="0">
                <a:solidFill>
                  <a:srgbClr val="FFFFFF"/>
                </a:solidFill>
                <a:latin typeface="Calibri" panose="020F0502020204030204"/>
              </a:rPr>
              <a:t>	</a:t>
            </a:r>
            <a:r>
              <a:rPr sz="5200" b="1" i="0">
                <a:solidFill>
                  <a:srgbClr val="FFFFFF"/>
                </a:solidFill>
                <a:latin typeface="Calibri" panose="020F0502020204030204"/>
              </a:rPr>
              <a:t> SMART</a:t>
            </a:r>
            <a:endParaRPr sz="5200" b="1" i="0">
              <a:solidFill>
                <a:srgbClr val="FFFFFF"/>
              </a:solidFill>
              <a:latin typeface="Calibri" panose="020F0502020204030204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5200" b="1" i="0">
                <a:solidFill>
                  <a:srgbClr val="FFFFFF"/>
                </a:solidFill>
                <a:latin typeface="Calibri" panose="020F0502020204030204"/>
              </a:rPr>
              <a:t>BIOGAS SYSTEM</a:t>
            </a:r>
            <a:endParaRPr sz="5200" b="1" i="0">
              <a:solidFill>
                <a:srgbClr val="FFFFFF"/>
              </a:solidFill>
              <a:latin typeface="Calibri" panose="020F0502020204030204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200"/>
              </a:spcAft>
            </a:pPr>
            <a:r>
              <a:rPr sz="2000" b="1" i="0">
                <a:solidFill>
                  <a:srgbClr val="2E8B57"/>
                </a:solidFill>
                <a:latin typeface="Calibri" panose="020F0502020204030204"/>
              </a:rPr>
              <a:t>(BSBS)</a:t>
            </a:r>
            <a:endParaRPr sz="2000" b="1" i="0">
              <a:solidFill>
                <a:srgbClr val="2E8B57"/>
              </a:solidFill>
              <a:latin typeface="Calibri" panose="020F0502020204030204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E8F3EC"/>
                </a:solidFill>
                <a:latin typeface="Calibri" panose="020F0502020204030204"/>
              </a:rPr>
              <a:t>Combating Air Pollution in Schools and Communities in Enugu State</a:t>
            </a:r>
            <a:endParaRPr sz="2000" b="0" i="0">
              <a:solidFill>
                <a:srgbClr val="E8F3EC"/>
              </a:solidFill>
              <a:latin typeface="Calibri" panose="020F0502020204030204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F3EC"/>
                </a:solidFill>
                <a:latin typeface="Calibri" panose="020F0502020204030204"/>
              </a:rPr>
              <a:t>Creating a healthy environment for better learning and healthier living.</a:t>
            </a:r>
            <a:endParaRPr sz="1500" b="0" i="0">
              <a:solidFill>
                <a:srgbClr val="E8F3EC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5177790"/>
            <a:ext cx="10362895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A6B66"/>
                </a:solidFill>
                <a:latin typeface="Calibri" panose="020F0502020204030204"/>
              </a:rPr>
              <a:t>Presented by</a:t>
            </a:r>
            <a:endParaRPr sz="1300" b="0" i="0">
              <a:solidFill>
                <a:srgbClr val="5A6B66"/>
              </a:solidFill>
              <a:latin typeface="Calibri" panose="020F0502020204030204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 i="0">
                <a:solidFill>
                  <a:srgbClr val="FFFFFF"/>
                </a:solidFill>
                <a:latin typeface="Calibri" panose="020F0502020204030204"/>
              </a:rPr>
              <a:t>Chinwuba Chinwendu Jennifer</a:t>
            </a:r>
            <a:endParaRPr sz="2000" b="1" i="0">
              <a:solidFill>
                <a:srgbClr val="FFFFFF"/>
              </a:solidFill>
              <a:latin typeface="Calibri" panose="020F0502020204030204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8F3EC"/>
                </a:solidFill>
                <a:latin typeface="Calibri" panose="020F0502020204030204"/>
              </a:rPr>
              <a:t>Head Girl  ·  Federal Government College, Enugu</a:t>
            </a:r>
            <a:endParaRPr sz="1400" b="0" i="0">
              <a:solidFill>
                <a:srgbClr val="E8F3EC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128016" cy="713232"/>
          </a:xfrm>
          <a:prstGeom prst="roundRect">
            <a:avLst>
              <a:gd name="adj" fmla="val 50000"/>
            </a:avLst>
          </a:prstGeom>
          <a:solidFill>
            <a:srgbClr val="E9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65760"/>
            <a:ext cx="8778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B7A4E"/>
                </a:solidFill>
                <a:latin typeface="Calibri" panose="020F0502020204030204"/>
              </a:rPr>
              <a:t>THE PROBLEM</a:t>
            </a:r>
            <a:endParaRPr sz="1250" b="1" i="0">
              <a:solidFill>
                <a:srgbClr val="1B7A4E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68680" y="640080"/>
            <a:ext cx="103327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E3B2E"/>
                </a:solidFill>
                <a:latin typeface="Calibri" panose="020F0502020204030204"/>
              </a:rPr>
              <a:t>Introduction to Air Pollution</a:t>
            </a:r>
            <a:endParaRPr sz="3000" b="1" i="0">
              <a:solidFill>
                <a:srgbClr val="0E3B2E"/>
              </a:solidFill>
              <a:latin typeface="Calibri" panose="020F050202020403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68680" y="1444752"/>
            <a:ext cx="10515600" cy="25603"/>
          </a:xfrm>
          <a:prstGeom prst="rect">
            <a:avLst/>
          </a:prstGeom>
          <a:solidFill>
            <a:srgbClr val="1B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28832" y="411480"/>
            <a:ext cx="658368" cy="658368"/>
          </a:xfrm>
          <a:prstGeom prst="ellipse">
            <a:avLst/>
          </a:prstGeom>
          <a:solidFill>
            <a:srgbClr val="0E3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 panose="020F0502020204030204"/>
              </a:rPr>
              <a:t>02</a:t>
            </a:r>
            <a:endParaRPr sz="17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8680" y="6473952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A6B66"/>
                </a:solidFill>
                <a:latin typeface="Calibri" panose="020F0502020204030204"/>
              </a:rPr>
              <a:t>BIOCLEAN SMART BIOGAS SYSTEM  ·  BSBS</a:t>
            </a:r>
            <a:endParaRPr sz="900" b="1" i="0">
              <a:solidFill>
                <a:srgbClr val="5A6B66"/>
              </a:solidFill>
              <a:latin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68680" y="1572768"/>
            <a:ext cx="104241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A2B26"/>
                </a:solidFill>
                <a:latin typeface="Calibri" panose="020F0502020204030204"/>
              </a:rPr>
              <a:t>Air pollution is the release of substances into the atmosphere in quantities that can harm human health, modify the climate and disturb the balance of nature.</a:t>
            </a:r>
            <a:endParaRPr sz="1450" b="0" i="0">
              <a:solidFill>
                <a:srgbClr val="1A2B26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68680" y="2304288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E3B2E"/>
                </a:solidFill>
                <a:latin typeface="Calibri" panose="020F0502020204030204"/>
              </a:rPr>
              <a:t>Major pollutants</a:t>
            </a:r>
            <a:endParaRPr sz="1500" b="1" i="0">
              <a:solidFill>
                <a:srgbClr val="0E3B2E"/>
              </a:solidFill>
              <a:latin typeface="Calibri" panose="020F050202020403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68680" y="2615184"/>
            <a:ext cx="5257800" cy="1078992"/>
          </a:xfrm>
          <a:prstGeom prst="roundRect">
            <a:avLst>
              <a:gd name="adj" fmla="val 14000"/>
            </a:avLst>
          </a:prstGeom>
          <a:solidFill>
            <a:srgbClr val="F4F9F6"/>
          </a:solidFill>
          <a:ln w="12700">
            <a:solidFill>
              <a:srgbClr val="E8F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64008" rIns="146304" bIns="6400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E99A00"/>
                </a:solidFill>
                <a:latin typeface="Calibri" panose="020F0502020204030204"/>
              </a:rPr>
              <a:t>01</a:t>
            </a:r>
            <a:r>
              <a:rPr sz="1300" b="1" i="0">
                <a:solidFill>
                  <a:srgbClr val="0E3B2E"/>
                </a:solidFill>
                <a:latin typeface="Calibri" panose="020F0502020204030204"/>
              </a:rPr>
              <a:t>   PM2.5 &amp; PM10</a:t>
            </a:r>
            <a:endParaRPr sz="1300" b="1" i="0">
              <a:solidFill>
                <a:srgbClr val="0E3B2E"/>
              </a:solidFill>
              <a:latin typeface="Calibri" panose="020F050202020403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1A2B26"/>
                </a:solidFill>
                <a:latin typeface="Calibri" panose="020F0502020204030204"/>
              </a:rPr>
              <a:t>Tiny dust particles from vehicles and generators; the most dangerous because they reach our lungs.</a:t>
            </a:r>
            <a:endParaRPr sz="1100" b="0" i="0">
              <a:solidFill>
                <a:srgbClr val="1A2B26"/>
              </a:solidFill>
              <a:latin typeface="Calibri" panose="020F050202020403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309360" y="2615184"/>
            <a:ext cx="5257800" cy="1078992"/>
          </a:xfrm>
          <a:prstGeom prst="roundRect">
            <a:avLst>
              <a:gd name="adj" fmla="val 14000"/>
            </a:avLst>
          </a:prstGeom>
          <a:solidFill>
            <a:srgbClr val="F4F9F6"/>
          </a:solidFill>
          <a:ln w="12700">
            <a:solidFill>
              <a:srgbClr val="E8F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64008" rIns="146304" bIns="6400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E99A00"/>
                </a:solidFill>
                <a:latin typeface="Calibri" panose="020F0502020204030204"/>
              </a:rPr>
              <a:t>02</a:t>
            </a:r>
            <a:r>
              <a:rPr sz="1300" b="1" i="0">
                <a:solidFill>
                  <a:srgbClr val="0E3B2E"/>
                </a:solidFill>
                <a:latin typeface="Calibri" panose="020F0502020204030204"/>
              </a:rPr>
              <a:t>   Carbon Monoxide (CO)</a:t>
            </a:r>
            <a:endParaRPr sz="1300" b="1" i="0">
              <a:solidFill>
                <a:srgbClr val="0E3B2E"/>
              </a:solidFill>
              <a:latin typeface="Calibri" panose="020F050202020403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1A2B26"/>
                </a:solidFill>
                <a:latin typeface="Calibri" panose="020F0502020204030204"/>
              </a:rPr>
              <a:t>From the incomplete burning of fuel such as coal, firewood, diesel and petrol.</a:t>
            </a:r>
            <a:endParaRPr sz="1100" b="0" i="0">
              <a:solidFill>
                <a:srgbClr val="1A2B26"/>
              </a:solidFill>
              <a:latin typeface="Calibri" panose="020F0502020204030204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68680" y="3776472"/>
            <a:ext cx="5257800" cy="1078992"/>
          </a:xfrm>
          <a:prstGeom prst="roundRect">
            <a:avLst>
              <a:gd name="adj" fmla="val 14000"/>
            </a:avLst>
          </a:prstGeom>
          <a:solidFill>
            <a:srgbClr val="F4F9F6"/>
          </a:solidFill>
          <a:ln w="12700">
            <a:solidFill>
              <a:srgbClr val="E8F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64008" rIns="146304" bIns="6400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E99A00"/>
                </a:solidFill>
                <a:latin typeface="Calibri" panose="020F0502020204030204"/>
              </a:rPr>
              <a:t>03</a:t>
            </a:r>
            <a:r>
              <a:rPr sz="1300" b="1" i="0">
                <a:solidFill>
                  <a:srgbClr val="0E3B2E"/>
                </a:solidFill>
                <a:latin typeface="Calibri" panose="020F0502020204030204"/>
              </a:rPr>
              <a:t>   Sulphur Dioxide (SO₂)</a:t>
            </a:r>
            <a:endParaRPr sz="1300" b="1" i="0">
              <a:solidFill>
                <a:srgbClr val="0E3B2E"/>
              </a:solidFill>
              <a:latin typeface="Calibri" panose="020F050202020403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1A2B26"/>
                </a:solidFill>
                <a:latin typeface="Calibri" panose="020F0502020204030204"/>
              </a:rPr>
              <a:t>From gas flaring and diesel.</a:t>
            </a:r>
            <a:endParaRPr sz="1100" b="0" i="0">
              <a:solidFill>
                <a:srgbClr val="1A2B26"/>
              </a:solidFill>
              <a:latin typeface="Calibri" panose="020F05020202040302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309360" y="3776472"/>
            <a:ext cx="5257800" cy="1078992"/>
          </a:xfrm>
          <a:prstGeom prst="roundRect">
            <a:avLst>
              <a:gd name="adj" fmla="val 14000"/>
            </a:avLst>
          </a:prstGeom>
          <a:solidFill>
            <a:srgbClr val="F4F9F6"/>
          </a:solidFill>
          <a:ln w="12700">
            <a:solidFill>
              <a:srgbClr val="E8F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64008" rIns="146304" bIns="6400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E99A00"/>
                </a:solidFill>
                <a:latin typeface="Calibri" panose="020F0502020204030204"/>
              </a:rPr>
              <a:t>04</a:t>
            </a:r>
            <a:r>
              <a:rPr sz="1300" b="1" i="0">
                <a:solidFill>
                  <a:srgbClr val="0E3B2E"/>
                </a:solidFill>
                <a:latin typeface="Calibri" panose="020F0502020204030204"/>
              </a:rPr>
              <a:t>   Nitrogen Dioxide (NO₂)</a:t>
            </a:r>
            <a:endParaRPr sz="1300" b="1" i="0">
              <a:solidFill>
                <a:srgbClr val="0E3B2E"/>
              </a:solidFill>
              <a:latin typeface="Calibri" panose="020F050202020403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1A2B26"/>
                </a:solidFill>
                <a:latin typeface="Calibri" panose="020F0502020204030204"/>
              </a:rPr>
              <a:t>A reddish-brown gas from vehicle engines, generators and gas-flaring industries.</a:t>
            </a:r>
            <a:endParaRPr sz="1100" b="0" i="0">
              <a:solidFill>
                <a:srgbClr val="1A2B26"/>
              </a:solidFill>
              <a:latin typeface="Calibri" panose="020F0502020204030204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68680" y="4937760"/>
            <a:ext cx="5257800" cy="1078992"/>
          </a:xfrm>
          <a:prstGeom prst="roundRect">
            <a:avLst>
              <a:gd name="adj" fmla="val 14000"/>
            </a:avLst>
          </a:prstGeom>
          <a:solidFill>
            <a:srgbClr val="F4F9F6"/>
          </a:solidFill>
          <a:ln w="12700">
            <a:solidFill>
              <a:srgbClr val="E8F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64008" rIns="146304" bIns="6400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E99A00"/>
                </a:solidFill>
                <a:latin typeface="Calibri" panose="020F0502020204030204"/>
              </a:rPr>
              <a:t>05</a:t>
            </a:r>
            <a:r>
              <a:rPr sz="1300" b="1" i="0">
                <a:solidFill>
                  <a:srgbClr val="0E3B2E"/>
                </a:solidFill>
                <a:latin typeface="Calibri" panose="020F0502020204030204"/>
              </a:rPr>
              <a:t>   Ground-level Ozone (O₃)</a:t>
            </a:r>
            <a:endParaRPr sz="1300" b="1" i="0">
              <a:solidFill>
                <a:srgbClr val="0E3B2E"/>
              </a:solidFill>
              <a:latin typeface="Calibri" panose="020F050202020403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1A2B26"/>
                </a:solidFill>
                <a:latin typeface="Calibri" panose="020F0502020204030204"/>
              </a:rPr>
              <a:t>A major part of smog, formed when sunlight reacts with other pollutants.</a:t>
            </a:r>
            <a:endParaRPr sz="1100" b="0" i="0">
              <a:solidFill>
                <a:srgbClr val="1A2B26"/>
              </a:solidFill>
              <a:latin typeface="Calibri" panose="020F050202020403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309360" y="4937760"/>
            <a:ext cx="5257800" cy="1078992"/>
          </a:xfrm>
          <a:prstGeom prst="roundRect">
            <a:avLst>
              <a:gd name="adj" fmla="val 14000"/>
            </a:avLst>
          </a:prstGeom>
          <a:solidFill>
            <a:srgbClr val="F4F9F6"/>
          </a:solidFill>
          <a:ln w="12700">
            <a:solidFill>
              <a:srgbClr val="E8F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64008" rIns="146304" bIns="6400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E99A00"/>
                </a:solidFill>
                <a:latin typeface="Calibri" panose="020F0502020204030204"/>
              </a:rPr>
              <a:t>06</a:t>
            </a:r>
            <a:r>
              <a:rPr sz="1300" b="1" i="0">
                <a:solidFill>
                  <a:srgbClr val="0E3B2E"/>
                </a:solidFill>
                <a:latin typeface="Calibri" panose="020F0502020204030204"/>
              </a:rPr>
              <a:t>   Methane (CH₄)</a:t>
            </a:r>
            <a:endParaRPr sz="1300" b="1" i="0">
              <a:solidFill>
                <a:srgbClr val="0E3B2E"/>
              </a:solidFill>
              <a:latin typeface="Calibri" panose="020F050202020403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1A2B26"/>
                </a:solidFill>
                <a:latin typeface="Calibri" panose="020F0502020204030204"/>
              </a:rPr>
              <a:t>A colourless, odourless gas from sewage, decomposing waste and gas flaring; forms ground-level ozone in sunlight.</a:t>
            </a:r>
            <a:endParaRPr sz="1100" b="0" i="0">
              <a:solidFill>
                <a:srgbClr val="1A2B26"/>
              </a:solidFill>
              <a:latin typeface="Calibri" panose="020F0502020204030204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68680" y="6053328"/>
            <a:ext cx="10424160" cy="475488"/>
          </a:xfrm>
          <a:prstGeom prst="roundRect">
            <a:avLst>
              <a:gd name="adj" fmla="val 35000"/>
            </a:avLst>
          </a:prstGeom>
          <a:solidFill>
            <a:srgbClr val="FCEFDC"/>
          </a:solidFill>
          <a:ln w="12700">
            <a:solidFill>
              <a:srgbClr val="E99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64008" rIns="182880" bIns="6400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A2B26"/>
                </a:solidFill>
                <a:latin typeface="Calibri" panose="020F0502020204030204"/>
              </a:rPr>
              <a:t>WHO reports about </a:t>
            </a:r>
            <a:r>
              <a:rPr sz="1250" b="1" i="0">
                <a:solidFill>
                  <a:srgbClr val="0E3B2E"/>
                </a:solidFill>
                <a:latin typeface="Calibri" panose="020F0502020204030204"/>
              </a:rPr>
              <a:t>6.7 million premature deaths every year</a:t>
            </a:r>
            <a:r>
              <a:rPr sz="1250" b="0" i="0">
                <a:solidFill>
                  <a:srgbClr val="1A2B26"/>
                </a:solidFill>
                <a:latin typeface="Calibri" panose="020F0502020204030204"/>
              </a:rPr>
              <a:t> are caused by air pollution.</a:t>
            </a:r>
            <a:endParaRPr sz="1250" b="0" i="0">
              <a:solidFill>
                <a:srgbClr val="1A2B26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128016" cy="713232"/>
          </a:xfrm>
          <a:prstGeom prst="roundRect">
            <a:avLst>
              <a:gd name="adj" fmla="val 50000"/>
            </a:avLst>
          </a:prstGeom>
          <a:solidFill>
            <a:srgbClr val="E9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65760"/>
            <a:ext cx="8778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B7A4E"/>
                </a:solidFill>
                <a:latin typeface="Calibri" panose="020F0502020204030204"/>
              </a:rPr>
              <a:t>THE LOCAL EVIDENCE</a:t>
            </a:r>
            <a:endParaRPr sz="1250" b="1" i="0">
              <a:solidFill>
                <a:srgbClr val="1B7A4E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68680" y="640080"/>
            <a:ext cx="103327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E3B2E"/>
                </a:solidFill>
                <a:latin typeface="Calibri" panose="020F0502020204030204"/>
              </a:rPr>
              <a:t>Current Situation in My School</a:t>
            </a:r>
            <a:endParaRPr sz="3000" b="1" i="0">
              <a:solidFill>
                <a:srgbClr val="0E3B2E"/>
              </a:solidFill>
              <a:latin typeface="Calibri" panose="020F050202020403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68680" y="1444752"/>
            <a:ext cx="10515600" cy="25603"/>
          </a:xfrm>
          <a:prstGeom prst="rect">
            <a:avLst/>
          </a:prstGeom>
          <a:solidFill>
            <a:srgbClr val="1B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28832" y="411480"/>
            <a:ext cx="658368" cy="658368"/>
          </a:xfrm>
          <a:prstGeom prst="ellipse">
            <a:avLst/>
          </a:prstGeom>
          <a:solidFill>
            <a:srgbClr val="0E3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 panose="020F0502020204030204"/>
              </a:rPr>
              <a:t>03</a:t>
            </a:r>
            <a:endParaRPr sz="17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8680" y="6473952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A6B66"/>
                </a:solidFill>
                <a:latin typeface="Calibri" panose="020F0502020204030204"/>
              </a:rPr>
              <a:t>BIOCLEAN SMART BIOGAS SYSTEM  ·  BSBS</a:t>
            </a:r>
            <a:endParaRPr sz="900" b="1" i="0">
              <a:solidFill>
                <a:srgbClr val="5A6B66"/>
              </a:solidFill>
              <a:latin typeface="Calibri" panose="020F05020202040302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68680" y="1627632"/>
            <a:ext cx="10424160" cy="4206240"/>
          </a:xfrm>
          <a:prstGeom prst="roundRect">
            <a:avLst>
              <a:gd name="adj" fmla="val 6000"/>
            </a:avLst>
          </a:prstGeom>
          <a:solidFill>
            <a:srgbClr val="F4F9F6"/>
          </a:solidFill>
          <a:ln w="12700">
            <a:solidFill>
              <a:srgbClr val="E8F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37744" rIns="256032" bIns="6400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A2B26"/>
                </a:solidFill>
                <a:latin typeface="Calibri" panose="020F0502020204030204"/>
              </a:rPr>
              <a:t>Most days in my school especially within the hostels my fellow students complain of drowsiness and nausea. This is due to the presence of ammonia (NH₃) and hydrogen sulphide (H₂S) gas from sewage and open dumps.</a:t>
            </a:r>
            <a:endParaRPr sz="1400" b="0" i="0">
              <a:solidFill>
                <a:srgbClr val="1A2B26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280160" y="2743200"/>
            <a:ext cx="9692640" cy="3017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B7A4E"/>
                </a:solidFill>
                <a:latin typeface="Calibri" panose="020F0502020204030204"/>
              </a:rPr>
              <a:t>Students report:</a:t>
            </a:r>
            <a:endParaRPr sz="1350" b="1" i="0">
              <a:solidFill>
                <a:srgbClr val="1B7A4E"/>
              </a:solidFill>
              <a:latin typeface="Calibri" panose="020F0502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99A00"/>
                </a:solidFill>
                <a:latin typeface="Calibri" panose="020F0502020204030204"/>
              </a:rPr>
              <a:t>•  </a:t>
            </a:r>
            <a:r>
              <a:rPr sz="1300" b="0" i="0">
                <a:solidFill>
                  <a:srgbClr val="1A2B26"/>
                </a:solidFill>
                <a:latin typeface="Calibri" panose="020F0502020204030204"/>
              </a:rPr>
              <a:t>Drowsiness and nausea, especially within the hostels.</a:t>
            </a:r>
            <a:endParaRPr sz="1300" b="0" i="0">
              <a:solidFill>
                <a:srgbClr val="1A2B26"/>
              </a:solidFill>
              <a:latin typeface="Calibri" panose="020F0502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99A00"/>
                </a:solidFill>
                <a:latin typeface="Calibri" panose="020F0502020204030204"/>
              </a:rPr>
              <a:t>•  </a:t>
            </a:r>
            <a:r>
              <a:rPr sz="1300" b="0" i="0">
                <a:solidFill>
                  <a:srgbClr val="1A2B26"/>
                </a:solidFill>
                <a:latin typeface="Calibri" panose="020F0502020204030204"/>
              </a:rPr>
              <a:t>Discomfort when inhaling smoke that comes from burning waste.</a:t>
            </a:r>
            <a:endParaRPr sz="1300" b="0" i="0">
              <a:solidFill>
                <a:srgbClr val="1A2B26"/>
              </a:solidFill>
              <a:latin typeface="Calibri" panose="020F0502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99A00"/>
                </a:solidFill>
                <a:latin typeface="Calibri" panose="020F0502020204030204"/>
              </a:rPr>
              <a:t>•  </a:t>
            </a:r>
            <a:r>
              <a:rPr sz="1300" b="0" i="0">
                <a:solidFill>
                  <a:srgbClr val="1A2B26"/>
                </a:solidFill>
                <a:latin typeface="Calibri" panose="020F0502020204030204"/>
              </a:rPr>
              <a:t>Some students avoid entering classrooms because they cannot breathe comfortably.</a:t>
            </a:r>
            <a:endParaRPr sz="1300" b="0" i="0">
              <a:solidFill>
                <a:srgbClr val="1A2B26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68680" y="5989320"/>
            <a:ext cx="10424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E3B2E"/>
                </a:solidFill>
                <a:latin typeface="Calibri" panose="020F0502020204030204"/>
              </a:rPr>
              <a:t>Clean air is not a luxury — it is a learning condition.</a:t>
            </a:r>
            <a:endParaRPr sz="1400" b="1" i="0">
              <a:solidFill>
                <a:srgbClr val="0E3B2E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128016" cy="713232"/>
          </a:xfrm>
          <a:prstGeom prst="roundRect">
            <a:avLst>
              <a:gd name="adj" fmla="val 50000"/>
            </a:avLst>
          </a:prstGeom>
          <a:solidFill>
            <a:srgbClr val="E9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65760"/>
            <a:ext cx="8778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B7A4E"/>
                </a:solidFill>
                <a:latin typeface="Calibri" panose="020F0502020204030204"/>
              </a:rPr>
              <a:t>THE LOCAL CONTEXT</a:t>
            </a:r>
            <a:endParaRPr sz="1250" b="1" i="0">
              <a:solidFill>
                <a:srgbClr val="1B7A4E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68680" y="640080"/>
            <a:ext cx="103327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E3B2E"/>
                </a:solidFill>
                <a:latin typeface="Calibri" panose="020F0502020204030204"/>
              </a:rPr>
              <a:t>My Community Challenge</a:t>
            </a:r>
            <a:endParaRPr sz="3000" b="1" i="0">
              <a:solidFill>
                <a:srgbClr val="0E3B2E"/>
              </a:solidFill>
              <a:latin typeface="Calibri" panose="020F050202020403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68680" y="1444752"/>
            <a:ext cx="10515600" cy="25603"/>
          </a:xfrm>
          <a:prstGeom prst="rect">
            <a:avLst/>
          </a:prstGeom>
          <a:solidFill>
            <a:srgbClr val="1B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28832" y="411480"/>
            <a:ext cx="658368" cy="658368"/>
          </a:xfrm>
          <a:prstGeom prst="ellipse">
            <a:avLst/>
          </a:prstGeom>
          <a:solidFill>
            <a:srgbClr val="0E3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 panose="020F0502020204030204"/>
              </a:rPr>
              <a:t>04</a:t>
            </a:r>
            <a:endParaRPr sz="17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8680" y="6473952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A6B66"/>
                </a:solidFill>
                <a:latin typeface="Calibri" panose="020F0502020204030204"/>
              </a:rPr>
              <a:t>BIOCLEAN SMART BIOGAS SYSTEM  ·  BSBS</a:t>
            </a:r>
            <a:endParaRPr sz="900" b="1" i="0">
              <a:solidFill>
                <a:srgbClr val="5A6B66"/>
              </a:solidFill>
              <a:latin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68680" y="1591056"/>
            <a:ext cx="1042416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A2B26"/>
                </a:solidFill>
                <a:latin typeface="Calibri" panose="020F0502020204030204"/>
              </a:rPr>
              <a:t>Nowadays, most homes in my community utilise </a:t>
            </a:r>
            <a:r>
              <a:rPr sz="1350" b="1" i="0">
                <a:solidFill>
                  <a:srgbClr val="0E3B2E"/>
                </a:solidFill>
                <a:latin typeface="Calibri" panose="020F0502020204030204"/>
              </a:rPr>
              <a:t>charcoal, stoves and generators</a:t>
            </a:r>
            <a:r>
              <a:rPr sz="1350" b="0" i="0">
                <a:solidFill>
                  <a:srgbClr val="1A2B26"/>
                </a:solidFill>
                <a:latin typeface="Calibri" panose="020F0502020204030204"/>
              </a:rPr>
              <a:t> for cooking and powering their houses. As we all know, coal burns in a limited supply of air to release </a:t>
            </a:r>
            <a:r>
              <a:rPr sz="1350" b="1" i="0">
                <a:solidFill>
                  <a:srgbClr val="0E3B2E"/>
                </a:solidFill>
                <a:latin typeface="Calibri" panose="020F0502020204030204"/>
              </a:rPr>
              <a:t>carbon monoxide (CO)</a:t>
            </a:r>
            <a:r>
              <a:rPr sz="1350" b="0" i="0">
                <a:solidFill>
                  <a:srgbClr val="1A2B26"/>
                </a:solidFill>
                <a:latin typeface="Calibri" panose="020F0502020204030204"/>
              </a:rPr>
              <a:t>, a colourless and odourless gas which, when inhaled excessively, accumulates in the body and reacts with the haemoglobin in our blood to form </a:t>
            </a:r>
            <a:r>
              <a:rPr sz="1350" b="1" i="0">
                <a:solidFill>
                  <a:srgbClr val="0E3B2E"/>
                </a:solidFill>
                <a:latin typeface="Calibri" panose="020F0502020204030204"/>
              </a:rPr>
              <a:t>carboxyhaemoglobin</a:t>
            </a:r>
            <a:r>
              <a:rPr sz="1350" b="0" i="0">
                <a:solidFill>
                  <a:srgbClr val="1A2B26"/>
                </a:solidFill>
                <a:latin typeface="Calibri" panose="020F0502020204030204"/>
              </a:rPr>
              <a:t>. This cuts down the level of oxygen delivered in the body, leading to severe cardiovascular issues or even death.</a:t>
            </a:r>
            <a:endParaRPr sz="1350" b="0" i="0">
              <a:solidFill>
                <a:srgbClr val="1A2B26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68680" y="3566160"/>
            <a:ext cx="104241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A2B26"/>
                </a:solidFill>
                <a:latin typeface="Calibri" panose="020F0502020204030204"/>
              </a:rPr>
              <a:t>Furthermore, most houses in my community still use poor sewage systems. These include </a:t>
            </a:r>
            <a:r>
              <a:rPr sz="1350" b="1" i="0">
                <a:solidFill>
                  <a:srgbClr val="0E3B2E"/>
                </a:solidFill>
                <a:latin typeface="Calibri" panose="020F0502020204030204"/>
              </a:rPr>
              <a:t>broken septic tanks and leaking sewage pipes</a:t>
            </a:r>
            <a:r>
              <a:rPr sz="1350" b="0" i="0">
                <a:solidFill>
                  <a:srgbClr val="1A2B26"/>
                </a:solidFill>
                <a:latin typeface="Calibri" panose="020F0502020204030204"/>
              </a:rPr>
              <a:t>, which cause air pollution.</a:t>
            </a:r>
            <a:endParaRPr sz="1350" b="0" i="0">
              <a:solidFill>
                <a:srgbClr val="1A2B26"/>
              </a:solidFill>
              <a:latin typeface="Calibri" panose="020F050202020403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68680" y="4709160"/>
            <a:ext cx="10424160" cy="1371600"/>
          </a:xfrm>
          <a:prstGeom prst="roundRect">
            <a:avLst>
              <a:gd name="adj" fmla="val 10000"/>
            </a:avLst>
          </a:prstGeom>
          <a:solidFill>
            <a:srgbClr val="E8F3EC"/>
          </a:solidFill>
          <a:ln w="12700">
            <a:solidFill>
              <a:srgbClr val="1B7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64008" rIns="256032" bIns="6400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B7A4E"/>
                </a:solidFill>
                <a:latin typeface="Calibri" panose="020F0502020204030204"/>
              </a:rPr>
              <a:t>The community need</a:t>
            </a:r>
            <a:endParaRPr sz="1200" b="1" i="0">
              <a:solidFill>
                <a:srgbClr val="1B7A4E"/>
              </a:solidFill>
              <a:latin typeface="Calibri" panose="020F050202020403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0E3B2E"/>
                </a:solidFill>
                <a:latin typeface="Calibri" panose="020F0502020204030204"/>
              </a:rPr>
              <a:t>Safer waste handling  +  cleaner energy  +  better sanitation  →  healthier, more productive homes and schools.</a:t>
            </a:r>
            <a:endParaRPr sz="1400" b="0" i="0">
              <a:solidFill>
                <a:srgbClr val="0E3B2E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128016" cy="713232"/>
          </a:xfrm>
          <a:prstGeom prst="roundRect">
            <a:avLst>
              <a:gd name="adj" fmla="val 50000"/>
            </a:avLst>
          </a:prstGeom>
          <a:solidFill>
            <a:srgbClr val="E9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65760"/>
            <a:ext cx="8778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B7A4E"/>
                </a:solidFill>
                <a:latin typeface="Calibri" panose="020F0502020204030204"/>
              </a:rPr>
              <a:t>THE IMPACT</a:t>
            </a:r>
            <a:endParaRPr sz="1250" b="1" i="0">
              <a:solidFill>
                <a:srgbClr val="1B7A4E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68680" y="640080"/>
            <a:ext cx="103327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E3B2E"/>
                </a:solidFill>
                <a:latin typeface="Calibri" panose="020F0502020204030204"/>
              </a:rPr>
              <a:t>The Effects of Air Pollution in Our Schools and Communities</a:t>
            </a:r>
            <a:endParaRPr sz="2700" b="1" i="0">
              <a:solidFill>
                <a:srgbClr val="0E3B2E"/>
              </a:solidFill>
              <a:latin typeface="Calibri" panose="020F050202020403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68680" y="1444752"/>
            <a:ext cx="10515600" cy="25603"/>
          </a:xfrm>
          <a:prstGeom prst="rect">
            <a:avLst/>
          </a:prstGeom>
          <a:solidFill>
            <a:srgbClr val="1B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28832" y="411480"/>
            <a:ext cx="658368" cy="658368"/>
          </a:xfrm>
          <a:prstGeom prst="ellipse">
            <a:avLst/>
          </a:prstGeom>
          <a:solidFill>
            <a:srgbClr val="0E3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 panose="020F0502020204030204"/>
              </a:rPr>
              <a:t>05</a:t>
            </a:r>
            <a:endParaRPr sz="17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8680" y="6473952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A6B66"/>
                </a:solidFill>
                <a:latin typeface="Calibri" panose="020F0502020204030204"/>
              </a:rPr>
              <a:t>BIOCLEAN SMART BIOGAS SYSTEM  ·  BSBS</a:t>
            </a:r>
            <a:endParaRPr sz="900" b="1" i="0">
              <a:solidFill>
                <a:srgbClr val="5A6B66"/>
              </a:solidFill>
              <a:latin typeface="Calibri" panose="020F05020202040302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68680" y="1627632"/>
            <a:ext cx="5257800" cy="2048256"/>
          </a:xfrm>
          <a:prstGeom prst="roundRect">
            <a:avLst>
              <a:gd name="adj" fmla="val 8000"/>
            </a:avLst>
          </a:prstGeom>
          <a:solidFill>
            <a:srgbClr val="F4F9F6"/>
          </a:solidFill>
          <a:ln w="12700">
            <a:solidFill>
              <a:srgbClr val="E8F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64008" rIns="182880" bIns="6400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E99A00"/>
                </a:solidFill>
                <a:latin typeface="Calibri" panose="020F0502020204030204"/>
              </a:rPr>
              <a:t>01</a:t>
            </a:r>
            <a:r>
              <a:rPr sz="1500" b="1" i="0">
                <a:solidFill>
                  <a:srgbClr val="0E3B2E"/>
                </a:solidFill>
                <a:latin typeface="Calibri" panose="020F0502020204030204"/>
              </a:rPr>
              <a:t>   Health effects</a:t>
            </a:r>
            <a:endParaRPr sz="1500" b="1" i="0">
              <a:solidFill>
                <a:srgbClr val="0E3B2E"/>
              </a:solidFill>
              <a:latin typeface="Calibri" panose="020F050202020403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1A2B26"/>
                </a:solidFill>
                <a:latin typeface="Calibri" panose="020F0502020204030204"/>
              </a:rPr>
              <a:t>Air pollution affects our health through diseases like asthma, pneumonia and lung cancer.</a:t>
            </a:r>
            <a:endParaRPr sz="1200" b="0" i="0">
              <a:solidFill>
                <a:srgbClr val="1A2B26"/>
              </a:solidFill>
              <a:latin typeface="Calibri" panose="020F050202020403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309360" y="1627632"/>
            <a:ext cx="5257800" cy="2048256"/>
          </a:xfrm>
          <a:prstGeom prst="roundRect">
            <a:avLst>
              <a:gd name="adj" fmla="val 8000"/>
            </a:avLst>
          </a:prstGeom>
          <a:solidFill>
            <a:srgbClr val="F4F9F6"/>
          </a:solidFill>
          <a:ln w="12700">
            <a:solidFill>
              <a:srgbClr val="E8F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64008" rIns="182880" bIns="6400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E99A00"/>
                </a:solidFill>
                <a:latin typeface="Calibri" panose="020F0502020204030204"/>
              </a:rPr>
              <a:t>02</a:t>
            </a:r>
            <a:r>
              <a:rPr sz="1500" b="1" i="0">
                <a:solidFill>
                  <a:srgbClr val="0E3B2E"/>
                </a:solidFill>
                <a:latin typeface="Calibri" panose="020F0502020204030204"/>
              </a:rPr>
              <a:t>   Academic effects</a:t>
            </a:r>
            <a:endParaRPr sz="1500" b="1" i="0">
              <a:solidFill>
                <a:srgbClr val="0E3B2E"/>
              </a:solidFill>
              <a:latin typeface="Calibri" panose="020F050202020403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1A2B26"/>
                </a:solidFill>
                <a:latin typeface="Calibri" panose="020F0502020204030204"/>
              </a:rPr>
              <a:t>Students find it difficult to learn in polluted environments, leading to poor grades; teachers may also lose interest in teaching.</a:t>
            </a:r>
            <a:endParaRPr sz="1200" b="0" i="0">
              <a:solidFill>
                <a:srgbClr val="1A2B26"/>
              </a:solidFill>
              <a:latin typeface="Calibri" panose="020F050202020403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68680" y="3794760"/>
            <a:ext cx="5257800" cy="2048256"/>
          </a:xfrm>
          <a:prstGeom prst="roundRect">
            <a:avLst>
              <a:gd name="adj" fmla="val 8000"/>
            </a:avLst>
          </a:prstGeom>
          <a:solidFill>
            <a:srgbClr val="F4F9F6"/>
          </a:solidFill>
          <a:ln w="12700">
            <a:solidFill>
              <a:srgbClr val="E8F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64008" rIns="182880" bIns="6400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E99A00"/>
                </a:solidFill>
                <a:latin typeface="Calibri" panose="020F0502020204030204"/>
              </a:rPr>
              <a:t>03</a:t>
            </a:r>
            <a:r>
              <a:rPr sz="1500" b="1" i="0">
                <a:solidFill>
                  <a:srgbClr val="0E3B2E"/>
                </a:solidFill>
                <a:latin typeface="Calibri" panose="020F0502020204030204"/>
              </a:rPr>
              <a:t>   Economic effects</a:t>
            </a:r>
            <a:endParaRPr sz="1500" b="1" i="0">
              <a:solidFill>
                <a:srgbClr val="0E3B2E"/>
              </a:solidFill>
              <a:latin typeface="Calibri" panose="020F050202020403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1A2B26"/>
                </a:solidFill>
                <a:latin typeface="Calibri" panose="020F0502020204030204"/>
              </a:rPr>
              <a:t>Families spend income on treatment and medical expenses, while illness reduces workers’ productive days.</a:t>
            </a:r>
            <a:endParaRPr sz="1200" b="0" i="0">
              <a:solidFill>
                <a:srgbClr val="1A2B26"/>
              </a:solidFill>
              <a:latin typeface="Calibri" panose="020F050202020403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309360" y="3794760"/>
            <a:ext cx="5257800" cy="2048256"/>
          </a:xfrm>
          <a:prstGeom prst="roundRect">
            <a:avLst>
              <a:gd name="adj" fmla="val 8000"/>
            </a:avLst>
          </a:prstGeom>
          <a:solidFill>
            <a:srgbClr val="F4F9F6"/>
          </a:solidFill>
          <a:ln w="12700">
            <a:solidFill>
              <a:srgbClr val="E8F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64008" rIns="182880" bIns="6400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E99A00"/>
                </a:solidFill>
                <a:latin typeface="Calibri" panose="020F0502020204030204"/>
              </a:rPr>
              <a:t>04</a:t>
            </a:r>
            <a:r>
              <a:rPr sz="1500" b="1" i="0">
                <a:solidFill>
                  <a:srgbClr val="0E3B2E"/>
                </a:solidFill>
                <a:latin typeface="Calibri" panose="020F0502020204030204"/>
              </a:rPr>
              <a:t>   Social effects</a:t>
            </a:r>
            <a:endParaRPr sz="1500" b="1" i="0">
              <a:solidFill>
                <a:srgbClr val="0E3B2E"/>
              </a:solidFill>
              <a:latin typeface="Calibri" panose="020F050202020403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1A2B26"/>
                </a:solidFill>
                <a:latin typeface="Calibri" panose="020F0502020204030204"/>
              </a:rPr>
              <a:t>Smoke, smog and bad odour reduce interaction; students face embarrassment and stigma over fears of airborne disease.</a:t>
            </a:r>
            <a:endParaRPr sz="1200" b="0" i="0">
              <a:solidFill>
                <a:srgbClr val="1A2B26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128016" cy="713232"/>
          </a:xfrm>
          <a:prstGeom prst="roundRect">
            <a:avLst>
              <a:gd name="adj" fmla="val 50000"/>
            </a:avLst>
          </a:prstGeom>
          <a:solidFill>
            <a:srgbClr val="E9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65760"/>
            <a:ext cx="8778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B7A4E"/>
                </a:solidFill>
                <a:latin typeface="Calibri" panose="020F0502020204030204"/>
              </a:rPr>
              <a:t>THE SCIENCE</a:t>
            </a:r>
            <a:endParaRPr sz="1250" b="1" i="0">
              <a:solidFill>
                <a:srgbClr val="1B7A4E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68680" y="640080"/>
            <a:ext cx="103327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E3B2E"/>
                </a:solidFill>
                <a:latin typeface="Calibri" panose="020F0502020204030204"/>
              </a:rPr>
              <a:t>The Research and Science Behind the Innovation: Bioclean Smart Biogas System (BSBS)</a:t>
            </a:r>
            <a:endParaRPr sz="2400" b="1" i="0">
              <a:solidFill>
                <a:srgbClr val="0E3B2E"/>
              </a:solidFill>
              <a:latin typeface="Calibri" panose="020F050202020403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68680" y="1444752"/>
            <a:ext cx="10515600" cy="25603"/>
          </a:xfrm>
          <a:prstGeom prst="rect">
            <a:avLst/>
          </a:prstGeom>
          <a:solidFill>
            <a:srgbClr val="1B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28832" y="411480"/>
            <a:ext cx="658368" cy="658368"/>
          </a:xfrm>
          <a:prstGeom prst="ellipse">
            <a:avLst/>
          </a:prstGeom>
          <a:solidFill>
            <a:srgbClr val="0E3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 panose="020F0502020204030204"/>
              </a:rPr>
              <a:t>06</a:t>
            </a:r>
            <a:endParaRPr sz="17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8680" y="6473952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A6B66"/>
                </a:solidFill>
                <a:latin typeface="Calibri" panose="020F0502020204030204"/>
              </a:rPr>
              <a:t>BIOCLEAN SMART BIOGAS SYSTEM  ·  BSBS</a:t>
            </a:r>
            <a:endParaRPr sz="900" b="1" i="0">
              <a:solidFill>
                <a:srgbClr val="5A6B66"/>
              </a:solidFill>
              <a:latin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68680" y="1554480"/>
            <a:ext cx="10424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B7A4E"/>
                </a:solidFill>
                <a:latin typeface="Calibri" panose="020F0502020204030204"/>
              </a:rPr>
              <a:t>What is biogas?</a:t>
            </a:r>
            <a:endParaRPr sz="1500" b="1" i="0">
              <a:solidFill>
                <a:srgbClr val="1B7A4E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68680" y="1883664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A2B26"/>
                </a:solidFill>
                <a:latin typeface="Calibri" panose="020F0502020204030204"/>
              </a:rPr>
              <a:t>Biogas is a renewable fuel produced when microorganisms break down waste without oxygen.</a:t>
            </a:r>
            <a:endParaRPr sz="1350" b="0" i="0">
              <a:solidFill>
                <a:srgbClr val="1A2B26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68680" y="2247138"/>
            <a:ext cx="10424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B7A4E"/>
                </a:solidFill>
                <a:latin typeface="Calibri" panose="020F0502020204030204"/>
              </a:rPr>
              <a:t>The process</a:t>
            </a:r>
            <a:endParaRPr sz="1500" b="1" i="0">
              <a:solidFill>
                <a:srgbClr val="1B7A4E"/>
              </a:solidFill>
              <a:latin typeface="Calibri" panose="020F050202020403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68680" y="2633472"/>
            <a:ext cx="2395728" cy="566928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64008" rIns="45720" bIns="6400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Calibri" panose="020F0502020204030204"/>
              </a:rPr>
              <a:t>Organic Waste</a:t>
            </a:r>
            <a:endParaRPr sz="125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264408" y="2816352"/>
            <a:ext cx="3657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E99A00"/>
                </a:solidFill>
                <a:latin typeface="Calibri" panose="020F0502020204030204"/>
              </a:rPr>
              <a:t>→</a:t>
            </a:r>
            <a:endParaRPr sz="1600" b="1" i="0">
              <a:solidFill>
                <a:srgbClr val="E99A00"/>
              </a:solidFill>
              <a:latin typeface="Calibri" panose="020F05020202040302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630168" y="2622042"/>
            <a:ext cx="2395728" cy="566928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64008" rIns="45720" bIns="6400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Calibri" panose="020F0502020204030204"/>
              </a:rPr>
              <a:t>Anaerobic Digestion</a:t>
            </a:r>
            <a:endParaRPr sz="125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025896" y="2816352"/>
            <a:ext cx="3657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E99A00"/>
                </a:solidFill>
                <a:latin typeface="Calibri" panose="020F0502020204030204"/>
              </a:rPr>
              <a:t>→</a:t>
            </a:r>
            <a:endParaRPr sz="1600" b="1" i="0">
              <a:solidFill>
                <a:srgbClr val="E99A00"/>
              </a:solidFill>
              <a:latin typeface="Calibri" panose="020F050202020403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391656" y="2622042"/>
            <a:ext cx="2395728" cy="566928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64008" rIns="45720" bIns="6400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Calibri" panose="020F0502020204030204"/>
              </a:rPr>
              <a:t>Biogas</a:t>
            </a:r>
            <a:endParaRPr sz="125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787384" y="2816352"/>
            <a:ext cx="3657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E99A00"/>
                </a:solidFill>
                <a:latin typeface="Calibri" panose="020F0502020204030204"/>
              </a:rPr>
              <a:t>→</a:t>
            </a:r>
            <a:endParaRPr sz="1600" b="1" i="0">
              <a:solidFill>
                <a:srgbClr val="E99A00"/>
              </a:solidFill>
              <a:latin typeface="Calibri" panose="020F0502020204030204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153144" y="2587752"/>
            <a:ext cx="2395728" cy="566928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64008" rIns="45720" bIns="6400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Calibri" panose="020F0502020204030204"/>
              </a:rPr>
              <a:t>Clean Energy</a:t>
            </a:r>
            <a:endParaRPr sz="1250" b="1" i="0">
              <a:solidFill>
                <a:srgbClr val="FFFFFF"/>
              </a:solidFill>
              <a:latin typeface="Calibri" panose="020F0502020204030204"/>
            </a:endParaRP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868680" y="3252978"/>
          <a:ext cx="104241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3474720"/>
                <a:gridCol w="347472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lang="en-US" sz="1800" b="1" i="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Stages</a:t>
                      </a:r>
                      <a:endParaRPr lang="en-US" sz="1800" b="1" i="0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T="36576" marB="36576">
                    <a:solidFill>
                      <a:srgbClr val="1B7A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2000" b="1" i="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Components</a:t>
                      </a:r>
                      <a:endParaRPr lang="en-US" sz="2000" b="1" i="0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T="36576" marB="36576">
                    <a:solidFill>
                      <a:srgbClr val="1B7A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2000" b="1" i="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Functions</a:t>
                      </a:r>
                      <a:endParaRPr lang="en-US" sz="2000" b="1" i="0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T="36576" marB="36576">
                    <a:solidFill>
                      <a:srgbClr val="1B7A4E"/>
                    </a:solidFill>
                  </a:tcPr>
                </a:tc>
              </a:tr>
              <a:tr h="857885">
                <a:tc>
                  <a:txBody>
                    <a:bodyPr/>
                    <a:lstStyle/>
                    <a:p>
                      <a:r>
                        <a:rPr lang="en-US"/>
                        <a:t>Inlet plumbing</a:t>
                      </a:r>
                      <a:endParaRPr lang="en-US"/>
                    </a:p>
                  </a:txBody>
                  <a:tcPr>
                    <a:solidFill>
                      <a:srgbClr val="F4F9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Waste collections system from toilets, Kitchens and farms(Livestock farms) A mobile tank and farm hopper</a:t>
                      </a:r>
                      <a:endParaRPr lang="en-US"/>
                    </a:p>
                  </a:txBody>
                  <a:tcPr>
                    <a:solidFill>
                      <a:srgbClr val="F4F9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Plumbing from Hostels, Class, Refectory kitchens</a:t>
                      </a:r>
                      <a:endParaRPr lang="en-US"/>
                    </a:p>
                  </a:txBody>
                  <a:tcPr>
                    <a:solidFill>
                      <a:srgbClr val="F4F9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lang="en-US"/>
                        <a:t>Pre-treatment</a:t>
                      </a:r>
                      <a:endParaRPr lang="en-US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Prefilter and mixing tank</a:t>
                      </a:r>
                      <a:endParaRPr lang="en-US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Remove plastics and sand mixes waste with water for microbes</a:t>
                      </a:r>
                      <a:endParaRPr lang="en-US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lang="en-US"/>
                        <a:t>Process</a:t>
                      </a:r>
                      <a:endParaRPr lang="en-US"/>
                    </a:p>
                  </a:txBody>
                  <a:tcPr>
                    <a:solidFill>
                      <a:srgbClr val="F4F9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Modular digestion, accelerated microbe action. Temperature control</a:t>
                      </a:r>
                      <a:endParaRPr lang="en-US"/>
                    </a:p>
                  </a:txBody>
                  <a:tcPr>
                    <a:solidFill>
                      <a:srgbClr val="F4F9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7-days gas production instead of  days</a:t>
                      </a:r>
                      <a:endParaRPr lang="en-US"/>
                    </a:p>
                  </a:txBody>
                  <a:tcPr>
                    <a:solidFill>
                      <a:srgbClr val="F4F9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128016" cy="713232"/>
          </a:xfrm>
          <a:prstGeom prst="roundRect">
            <a:avLst>
              <a:gd name="adj" fmla="val 50000"/>
            </a:avLst>
          </a:prstGeom>
          <a:solidFill>
            <a:srgbClr val="E9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65760"/>
            <a:ext cx="8778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B7A4E"/>
                </a:solidFill>
                <a:latin typeface="Calibri" panose="020F0502020204030204"/>
              </a:rPr>
              <a:t>THE PLAN</a:t>
            </a:r>
            <a:endParaRPr sz="1250" b="1" i="0">
              <a:solidFill>
                <a:srgbClr val="1B7A4E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68680" y="640080"/>
            <a:ext cx="103327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E3B2E"/>
                </a:solidFill>
                <a:latin typeface="Calibri" panose="020F0502020204030204"/>
              </a:rPr>
              <a:t>Project Cost and Funding Plan</a:t>
            </a:r>
            <a:endParaRPr sz="3000" b="1" i="0">
              <a:solidFill>
                <a:srgbClr val="0E3B2E"/>
              </a:solidFill>
              <a:latin typeface="Calibri" panose="020F050202020403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68680" y="1444752"/>
            <a:ext cx="10515600" cy="25603"/>
          </a:xfrm>
          <a:prstGeom prst="rect">
            <a:avLst/>
          </a:prstGeom>
          <a:solidFill>
            <a:srgbClr val="1B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28832" y="411480"/>
            <a:ext cx="658368" cy="658368"/>
          </a:xfrm>
          <a:prstGeom prst="ellipse">
            <a:avLst/>
          </a:prstGeom>
          <a:solidFill>
            <a:srgbClr val="0E3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 panose="020F0502020204030204"/>
              </a:rPr>
              <a:t>08</a:t>
            </a:r>
            <a:endParaRPr sz="17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8680" y="6473952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A6B66"/>
                </a:solidFill>
                <a:latin typeface="Calibri" panose="020F0502020204030204"/>
              </a:rPr>
              <a:t>BIOCLEAN SMART BIOGAS SYSTEM  ·  BSBS</a:t>
            </a:r>
            <a:endParaRPr sz="900" b="1" i="0">
              <a:solidFill>
                <a:srgbClr val="5A6B66"/>
              </a:solidFill>
              <a:latin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68680" y="160020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B7A4E"/>
                </a:solidFill>
                <a:latin typeface="Calibri" panose="020F0502020204030204"/>
              </a:rPr>
              <a:t>Funding breakdown</a:t>
            </a:r>
            <a:endParaRPr sz="1500" b="1" i="0">
              <a:solidFill>
                <a:srgbClr val="1B7A4E"/>
              </a:solidFill>
              <a:latin typeface="Calibri" panose="020F050202020403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68680" y="1965960"/>
            <a:ext cx="5486400" cy="658368"/>
          </a:xfrm>
          <a:prstGeom prst="roundRect">
            <a:avLst>
              <a:gd name="adj" fmla="val 10000"/>
            </a:avLst>
          </a:prstGeom>
          <a:solidFill>
            <a:srgbClr val="F4F9F6"/>
          </a:solidFill>
          <a:ln w="12700">
            <a:solidFill>
              <a:srgbClr val="E8F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64008" rIns="146304" bIns="6400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A2B26"/>
                </a:solidFill>
                <a:latin typeface="Calibri" panose="020F0502020204030204"/>
              </a:rPr>
              <a:t>LILAN</a:t>
            </a:r>
            <a:endParaRPr sz="1300" b="1" i="0">
              <a:solidFill>
                <a:srgbClr val="1A2B26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51560" y="2112264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B7A4E"/>
                </a:solidFill>
                <a:latin typeface="Calibri" panose="020F0502020204030204"/>
              </a:rPr>
              <a:t>₦1,000,000</a:t>
            </a:r>
            <a:endParaRPr sz="1500" b="1" i="0">
              <a:solidFill>
                <a:srgbClr val="1B7A4E"/>
              </a:solidFill>
              <a:latin typeface="Calibri" panose="020F050202020403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68680" y="2752344"/>
            <a:ext cx="5486400" cy="658368"/>
          </a:xfrm>
          <a:prstGeom prst="roundRect">
            <a:avLst>
              <a:gd name="adj" fmla="val 10000"/>
            </a:avLst>
          </a:prstGeom>
          <a:solidFill>
            <a:srgbClr val="F4F9F6"/>
          </a:solidFill>
          <a:ln w="12700">
            <a:solidFill>
              <a:srgbClr val="E8F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64008" rIns="146304" bIns="6400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A2B26"/>
                </a:solidFill>
                <a:latin typeface="Calibri" panose="020F0502020204030204"/>
              </a:rPr>
              <a:t>School Management, P.T.A. &amp; CSR Partners</a:t>
            </a:r>
            <a:endParaRPr sz="1300" b="1" i="0">
              <a:solidFill>
                <a:srgbClr val="1A2B26"/>
              </a:solidFill>
              <a:latin typeface="Calibri" panose="020F0502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51560" y="2898648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E3B2E"/>
                </a:solidFill>
                <a:latin typeface="Calibri" panose="020F0502020204030204"/>
              </a:rPr>
              <a:t>₦1,650,000</a:t>
            </a:r>
            <a:endParaRPr sz="1500" b="1" i="0">
              <a:solidFill>
                <a:srgbClr val="0E3B2E"/>
              </a:solidFill>
              <a:latin typeface="Calibri" panose="020F05020202040302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68680" y="3538727"/>
            <a:ext cx="5486400" cy="658368"/>
          </a:xfrm>
          <a:prstGeom prst="roundRect">
            <a:avLst>
              <a:gd name="adj" fmla="val 10000"/>
            </a:avLst>
          </a:prstGeom>
          <a:solidFill>
            <a:srgbClr val="0E3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64008" rIns="146304" bIns="6400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 panose="020F0502020204030204"/>
              </a:rPr>
              <a:t>Total</a:t>
            </a:r>
            <a:endParaRPr sz="13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51560" y="3685031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E99A00"/>
                </a:solidFill>
                <a:latin typeface="Calibri" panose="020F0502020204030204"/>
              </a:rPr>
              <a:t>₦2,650,000</a:t>
            </a:r>
            <a:endParaRPr sz="1600" b="1" i="0">
              <a:solidFill>
                <a:srgbClr val="E99A00"/>
              </a:solidFill>
              <a:latin typeface="Calibri" panose="020F050202020403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68680" y="4407407"/>
            <a:ext cx="5486400" cy="1051560"/>
          </a:xfrm>
          <a:prstGeom prst="roundRect">
            <a:avLst>
              <a:gd name="adj" fmla="val 10000"/>
            </a:avLst>
          </a:prstGeom>
          <a:solidFill>
            <a:srgbClr val="FCEFDC"/>
          </a:solidFill>
          <a:ln w="12700">
            <a:solidFill>
              <a:srgbClr val="E99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64008" rIns="164592" bIns="6400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B33A2E"/>
                </a:solidFill>
                <a:latin typeface="Calibri" panose="020F0502020204030204"/>
              </a:rPr>
              <a:t>Motto</a:t>
            </a:r>
            <a:endParaRPr sz="1200" b="1" i="0">
              <a:solidFill>
                <a:srgbClr val="B33A2E"/>
              </a:solidFill>
              <a:latin typeface="Calibri" panose="020F050202020403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0E3B2E"/>
                </a:solidFill>
                <a:latin typeface="Calibri" panose="020F0502020204030204"/>
              </a:rPr>
              <a:t>This investment pays for itself in 17 months and generates savings for 15 years.</a:t>
            </a:r>
            <a:endParaRPr sz="1300" b="0" i="0">
              <a:solidFill>
                <a:srgbClr val="0E3B2E"/>
              </a:solidFill>
              <a:latin typeface="Calibri" panose="020F050202020403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629400" y="160020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B7A4E"/>
                </a:solidFill>
                <a:latin typeface="Calibri" panose="020F0502020204030204"/>
              </a:rPr>
              <a:t>Cost allocation</a:t>
            </a:r>
            <a:endParaRPr sz="1350" b="1" i="0">
              <a:solidFill>
                <a:srgbClr val="1B7A4E"/>
              </a:solidFill>
              <a:latin typeface="Calibri" panose="020F0502020204030204"/>
            </a:endParaRP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6629400" y="1920240"/>
          <a:ext cx="228600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9" name="Chart 18"/>
          <p:cNvGraphicFramePr>
            <a:graphicFrameLocks noGrp="1"/>
          </p:cNvGraphicFramePr>
          <p:nvPr/>
        </p:nvGraphicFramePr>
        <p:xfrm>
          <a:off x="9052560" y="1920240"/>
          <a:ext cx="237744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629400" y="4572000"/>
            <a:ext cx="47548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5A6B66"/>
                </a:solidFill>
                <a:latin typeface="Calibri" panose="020F0502020204030204"/>
              </a:rPr>
              <a:t>Pie chart: 70% equipment, 21% installation, 9% others.</a:t>
            </a:r>
            <a:endParaRPr sz="1150" b="0" i="0">
              <a:solidFill>
                <a:srgbClr val="5A6B66"/>
              </a:solidFill>
              <a:latin typeface="Calibri" panose="020F050202020403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A6B66"/>
                </a:solidFill>
                <a:latin typeface="Calibri" panose="020F0502020204030204"/>
              </a:rPr>
              <a:t>Bar chart: LILAN ₦1,000,000 vs Partners ₦1,650,000.</a:t>
            </a:r>
            <a:endParaRPr sz="1150" b="0" i="0">
              <a:solidFill>
                <a:srgbClr val="5A6B66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128016" cy="713232"/>
          </a:xfrm>
          <a:prstGeom prst="roundRect">
            <a:avLst>
              <a:gd name="adj" fmla="val 50000"/>
            </a:avLst>
          </a:prstGeom>
          <a:solidFill>
            <a:srgbClr val="E9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65760"/>
            <a:ext cx="8778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B7A4E"/>
                </a:solidFill>
                <a:latin typeface="Calibri" panose="020F0502020204030204"/>
              </a:rPr>
              <a:t>THE BUSINESS CASE</a:t>
            </a:r>
            <a:endParaRPr sz="1250" b="1" i="0">
              <a:solidFill>
                <a:srgbClr val="1B7A4E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68680" y="640080"/>
            <a:ext cx="103327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E3B2E"/>
                </a:solidFill>
                <a:latin typeface="Calibri" panose="020F0502020204030204"/>
              </a:rPr>
              <a:t>Financial Viability and Sustainability</a:t>
            </a:r>
            <a:endParaRPr sz="3000" b="1" i="0">
              <a:solidFill>
                <a:srgbClr val="0E3B2E"/>
              </a:solidFill>
              <a:latin typeface="Calibri" panose="020F050202020403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68680" y="1444752"/>
            <a:ext cx="10515600" cy="25603"/>
          </a:xfrm>
          <a:prstGeom prst="rect">
            <a:avLst/>
          </a:prstGeom>
          <a:solidFill>
            <a:srgbClr val="1B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28832" y="411480"/>
            <a:ext cx="658368" cy="658368"/>
          </a:xfrm>
          <a:prstGeom prst="ellipse">
            <a:avLst/>
          </a:prstGeom>
          <a:solidFill>
            <a:srgbClr val="0E3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 panose="020F0502020204030204"/>
              </a:rPr>
              <a:t>09</a:t>
            </a:r>
            <a:endParaRPr sz="17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8680" y="6473952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A6B66"/>
                </a:solidFill>
                <a:latin typeface="Calibri" panose="020F0502020204030204"/>
              </a:rPr>
              <a:t>BIOCLEAN SMART BIOGAS SYSTEM  ·  BSBS</a:t>
            </a:r>
            <a:endParaRPr sz="900" b="1" i="0">
              <a:solidFill>
                <a:srgbClr val="5A6B66"/>
              </a:solidFill>
              <a:latin typeface="Calibri" panose="020F05020202040302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68680" y="1591056"/>
            <a:ext cx="10424160" cy="868680"/>
          </a:xfrm>
          <a:prstGeom prst="roundRect">
            <a:avLst>
              <a:gd name="adj" fmla="val 8000"/>
            </a:avLst>
          </a:prstGeom>
          <a:solidFill>
            <a:srgbClr val="0E3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64008" rIns="146304" bIns="6400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E8F3EC"/>
                </a:solidFill>
                <a:latin typeface="Calibri" panose="020F0502020204030204"/>
              </a:rPr>
              <a:t>Annual net benefit to school</a:t>
            </a:r>
            <a:endParaRPr sz="1300" b="0" i="0">
              <a:solidFill>
                <a:srgbClr val="E8F3EC"/>
              </a:solidFill>
              <a:latin typeface="Calibri" panose="020F050202020403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E99A00"/>
                </a:solidFill>
                <a:latin typeface="Calibri" panose="020F0502020204030204"/>
              </a:rPr>
              <a:t>₦1,880,000</a:t>
            </a:r>
            <a:endParaRPr sz="3000" b="1" i="0">
              <a:solidFill>
                <a:srgbClr val="E99A00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68680" y="2606040"/>
            <a:ext cx="10424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B7A4E"/>
                </a:solidFill>
                <a:latin typeface="Calibri" panose="020F0502020204030204"/>
              </a:rPr>
              <a:t>How we make / save money</a:t>
            </a:r>
            <a:endParaRPr sz="1500" b="1" i="0">
              <a:solidFill>
                <a:srgbClr val="1B7A4E"/>
              </a:solidFill>
              <a:latin typeface="Calibri" panose="020F050202020403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68680" y="2926080"/>
            <a:ext cx="10424160" cy="566928"/>
          </a:xfrm>
          <a:prstGeom prst="roundRect">
            <a:avLst>
              <a:gd name="adj" fmla="val 10000"/>
            </a:avLst>
          </a:prstGeom>
          <a:solidFill>
            <a:srgbClr val="F4F9F6"/>
          </a:solidFill>
          <a:ln w="12700">
            <a:solidFill>
              <a:srgbClr val="E8F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64008" rIns="146304" bIns="6400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B7A4E"/>
                </a:solidFill>
                <a:latin typeface="Calibri" panose="020F0502020204030204"/>
              </a:rPr>
              <a:t>₦1,860,000</a:t>
            </a:r>
            <a:r>
              <a:rPr sz="1350" b="1" i="0">
                <a:solidFill>
                  <a:srgbClr val="0E3B2E"/>
                </a:solidFill>
                <a:latin typeface="Calibri" panose="020F0502020204030204"/>
              </a:rPr>
              <a:t>   Savings</a:t>
            </a:r>
            <a:endParaRPr sz="1350" b="1" i="0">
              <a:solidFill>
                <a:srgbClr val="0E3B2E"/>
              </a:solidFill>
              <a:latin typeface="Calibri" panose="020F0502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97280" y="3063240"/>
            <a:ext cx="9966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A6B66"/>
                </a:solidFill>
                <a:latin typeface="Calibri" panose="020F0502020204030204"/>
              </a:rPr>
              <a:t>No LPG and no waste-truck fees.</a:t>
            </a:r>
            <a:endParaRPr sz="1150" b="0" i="0">
              <a:solidFill>
                <a:srgbClr val="5A6B66"/>
              </a:solidFill>
              <a:latin typeface="Calibri" panose="020F0502020204030204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68680" y="3593592"/>
            <a:ext cx="10424160" cy="566928"/>
          </a:xfrm>
          <a:prstGeom prst="roundRect">
            <a:avLst>
              <a:gd name="adj" fmla="val 10000"/>
            </a:avLst>
          </a:prstGeom>
          <a:solidFill>
            <a:srgbClr val="F4F9F6"/>
          </a:solidFill>
          <a:ln w="12700">
            <a:solidFill>
              <a:srgbClr val="E8F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64008" rIns="146304" bIns="6400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2E8B57"/>
                </a:solidFill>
                <a:latin typeface="Calibri" panose="020F0502020204030204"/>
              </a:rPr>
              <a:t>₦320,000</a:t>
            </a:r>
            <a:r>
              <a:rPr sz="1350" b="1" i="0">
                <a:solidFill>
                  <a:srgbClr val="0E3B2E"/>
                </a:solidFill>
                <a:latin typeface="Calibri" panose="020F0502020204030204"/>
              </a:rPr>
              <a:t>   Revenue</a:t>
            </a:r>
            <a:endParaRPr sz="1350" b="1" i="0">
              <a:solidFill>
                <a:srgbClr val="0E3B2E"/>
              </a:solidFill>
              <a:latin typeface="Calibri" panose="020F0502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97280" y="3730752"/>
            <a:ext cx="9966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A6B66"/>
                </a:solidFill>
                <a:latin typeface="Calibri" panose="020F0502020204030204"/>
              </a:rPr>
              <a:t>Organic fertilisers and carbon credits.</a:t>
            </a:r>
            <a:endParaRPr sz="1150" b="0" i="0">
              <a:solidFill>
                <a:srgbClr val="5A6B66"/>
              </a:solidFill>
              <a:latin typeface="Calibri" panose="020F0502020204030204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68680" y="4261104"/>
            <a:ext cx="10424160" cy="566928"/>
          </a:xfrm>
          <a:prstGeom prst="roundRect">
            <a:avLst>
              <a:gd name="adj" fmla="val 10000"/>
            </a:avLst>
          </a:prstGeom>
          <a:solidFill>
            <a:srgbClr val="F4F9F6"/>
          </a:solidFill>
          <a:ln w="12700">
            <a:solidFill>
              <a:srgbClr val="E8F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64008" rIns="146304" bIns="6400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B33A2E"/>
                </a:solidFill>
                <a:latin typeface="Calibri" panose="020F0502020204030204"/>
              </a:rPr>
              <a:t>₦80,000</a:t>
            </a:r>
            <a:r>
              <a:rPr sz="1350" b="1" i="0">
                <a:solidFill>
                  <a:srgbClr val="0E3B2E"/>
                </a:solidFill>
                <a:latin typeface="Calibri" panose="020F0502020204030204"/>
              </a:rPr>
              <a:t>   Running cost</a:t>
            </a:r>
            <a:endParaRPr sz="1350" b="1" i="0">
              <a:solidFill>
                <a:srgbClr val="0E3B2E"/>
              </a:solidFill>
              <a:latin typeface="Calibri" panose="020F0502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97280" y="4398264"/>
            <a:ext cx="9966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A6B66"/>
                </a:solidFill>
                <a:latin typeface="Calibri" panose="020F0502020204030204"/>
              </a:rPr>
              <a:t>Maintenance and stipends.</a:t>
            </a:r>
            <a:endParaRPr sz="1150" b="0" i="0">
              <a:solidFill>
                <a:srgbClr val="5A6B66"/>
              </a:solidFill>
              <a:latin typeface="Calibri" panose="020F0502020204030204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68680" y="4928616"/>
            <a:ext cx="10424160" cy="566928"/>
          </a:xfrm>
          <a:prstGeom prst="roundRect">
            <a:avLst>
              <a:gd name="adj" fmla="val 10000"/>
            </a:avLst>
          </a:prstGeom>
          <a:solidFill>
            <a:srgbClr val="F4F9F6"/>
          </a:solidFill>
          <a:ln w="12700">
            <a:solidFill>
              <a:srgbClr val="E8F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64008" rIns="146304" bIns="6400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0E3B2E"/>
                </a:solidFill>
                <a:latin typeface="Calibri" panose="020F0502020204030204"/>
              </a:rPr>
              <a:t>₦1,880,000</a:t>
            </a:r>
            <a:r>
              <a:rPr sz="1350" b="1" i="0">
                <a:solidFill>
                  <a:srgbClr val="0E3B2E"/>
                </a:solidFill>
                <a:latin typeface="Calibri" panose="020F0502020204030204"/>
              </a:rPr>
              <a:t>   Net gain every year</a:t>
            </a:r>
            <a:endParaRPr sz="1350" b="1" i="0">
              <a:solidFill>
                <a:srgbClr val="0E3B2E"/>
              </a:solidFill>
              <a:latin typeface="Calibri" panose="020F050202020403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97280" y="5065776"/>
            <a:ext cx="9966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A6B66"/>
                </a:solidFill>
                <a:latin typeface="Calibri" panose="020F0502020204030204"/>
              </a:rPr>
              <a:t>Reported annual net benefit.</a:t>
            </a:r>
            <a:endParaRPr sz="1150" b="0" i="0">
              <a:solidFill>
                <a:srgbClr val="5A6B66"/>
              </a:solidFill>
              <a:latin typeface="Calibri" panose="020F0502020204030204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868680" y="5596128"/>
            <a:ext cx="3291840" cy="777240"/>
          </a:xfrm>
          <a:prstGeom prst="roundRect">
            <a:avLst>
              <a:gd name="adj" fmla="val 12000"/>
            </a:avLst>
          </a:prstGeom>
          <a:solidFill>
            <a:srgbClr val="E8F3EC"/>
          </a:solidFill>
          <a:ln w="12700">
            <a:solidFill>
              <a:srgbClr val="1B7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6400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0E3B2E"/>
                </a:solidFill>
                <a:latin typeface="Calibri" panose="020F0502020204030204"/>
              </a:rPr>
              <a:t>₦1,880,000</a:t>
            </a:r>
            <a:endParaRPr sz="1700" b="1" i="0">
              <a:solidFill>
                <a:srgbClr val="0E3B2E"/>
              </a:solidFill>
              <a:latin typeface="Calibri" panose="020F050202020403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A6B66"/>
                </a:solidFill>
                <a:latin typeface="Calibri" panose="020F0502020204030204"/>
              </a:rPr>
              <a:t>Net benefit</a:t>
            </a:r>
            <a:endParaRPr sz="1100" b="0" i="0">
              <a:solidFill>
                <a:srgbClr val="5A6B66"/>
              </a:solidFill>
              <a:latin typeface="Calibri" panose="020F0502020204030204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434840" y="5596128"/>
            <a:ext cx="3291840" cy="777240"/>
          </a:xfrm>
          <a:prstGeom prst="roundRect">
            <a:avLst>
              <a:gd name="adj" fmla="val 12000"/>
            </a:avLst>
          </a:prstGeom>
          <a:solidFill>
            <a:srgbClr val="E8F3EC"/>
          </a:solidFill>
          <a:ln w="12700">
            <a:solidFill>
              <a:srgbClr val="1B7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6400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0E3B2E"/>
                </a:solidFill>
                <a:latin typeface="Calibri" panose="020F0502020204030204"/>
              </a:rPr>
              <a:t>17</a:t>
            </a:r>
            <a:endParaRPr sz="1700" b="1" i="0">
              <a:solidFill>
                <a:srgbClr val="0E3B2E"/>
              </a:solidFill>
              <a:latin typeface="Calibri" panose="020F050202020403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A6B66"/>
                </a:solidFill>
                <a:latin typeface="Calibri" panose="020F0502020204030204"/>
              </a:rPr>
              <a:t>Months payback</a:t>
            </a:r>
            <a:endParaRPr sz="1100" b="0" i="0">
              <a:solidFill>
                <a:srgbClr val="5A6B66"/>
              </a:solidFill>
              <a:latin typeface="Calibri" panose="020F0502020204030204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8001000" y="5596128"/>
            <a:ext cx="3291840" cy="777240"/>
          </a:xfrm>
          <a:prstGeom prst="roundRect">
            <a:avLst>
              <a:gd name="adj" fmla="val 12000"/>
            </a:avLst>
          </a:prstGeom>
          <a:solidFill>
            <a:srgbClr val="E8F3EC"/>
          </a:solidFill>
          <a:ln w="12700">
            <a:solidFill>
              <a:srgbClr val="1B7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6400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0E3B2E"/>
                </a:solidFill>
                <a:latin typeface="Calibri" panose="020F0502020204030204"/>
              </a:rPr>
              <a:t>71%</a:t>
            </a:r>
            <a:endParaRPr sz="1700" b="1" i="0">
              <a:solidFill>
                <a:srgbClr val="0E3B2E"/>
              </a:solidFill>
              <a:latin typeface="Calibri" panose="020F050202020403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A6B66"/>
                </a:solidFill>
                <a:latin typeface="Calibri" panose="020F0502020204030204"/>
              </a:rPr>
              <a:t>Year-1 ROI</a:t>
            </a:r>
            <a:endParaRPr sz="1100" b="0" i="0">
              <a:solidFill>
                <a:srgbClr val="5A6B66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128016" cy="713232"/>
          </a:xfrm>
          <a:prstGeom prst="roundRect">
            <a:avLst>
              <a:gd name="adj" fmla="val 50000"/>
            </a:avLst>
          </a:prstGeom>
          <a:solidFill>
            <a:srgbClr val="E9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65760"/>
            <a:ext cx="8778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B7A4E"/>
                </a:solidFill>
                <a:latin typeface="Calibri" panose="020F0502020204030204"/>
              </a:rPr>
              <a:t>THE PEOPLE</a:t>
            </a:r>
            <a:endParaRPr sz="1250" b="1" i="0">
              <a:solidFill>
                <a:srgbClr val="1B7A4E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68680" y="640080"/>
            <a:ext cx="103327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E3B2E"/>
                </a:solidFill>
                <a:latin typeface="Calibri" panose="020F0502020204030204"/>
              </a:rPr>
              <a:t>Key Metrics &amp; Sustainability and Leadership Plan</a:t>
            </a:r>
            <a:endParaRPr sz="2600" b="1" i="0">
              <a:solidFill>
                <a:srgbClr val="0E3B2E"/>
              </a:solidFill>
              <a:latin typeface="Calibri" panose="020F050202020403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68680" y="1444752"/>
            <a:ext cx="10515600" cy="25603"/>
          </a:xfrm>
          <a:prstGeom prst="rect">
            <a:avLst/>
          </a:prstGeom>
          <a:solidFill>
            <a:srgbClr val="1B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28832" y="411480"/>
            <a:ext cx="658368" cy="658368"/>
          </a:xfrm>
          <a:prstGeom prst="ellipse">
            <a:avLst/>
          </a:prstGeom>
          <a:solidFill>
            <a:srgbClr val="0E3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 panose="020F0502020204030204"/>
              </a:rPr>
              <a:t>10</a:t>
            </a:r>
            <a:endParaRPr sz="17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8680" y="6473952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A6B66"/>
                </a:solidFill>
                <a:latin typeface="Calibri" panose="020F0502020204030204"/>
              </a:rPr>
              <a:t>BIOCLEAN SMART BIOGAS SYSTEM  ·  BSBS</a:t>
            </a:r>
            <a:endParaRPr sz="900" b="1" i="0">
              <a:solidFill>
                <a:srgbClr val="5A6B66"/>
              </a:solidFill>
              <a:latin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68680" y="1591056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B7A4E"/>
                </a:solidFill>
                <a:latin typeface="Calibri" panose="020F0502020204030204"/>
              </a:rPr>
              <a:t>Key metrics</a:t>
            </a:r>
            <a:endParaRPr sz="1500" b="1" i="0">
              <a:solidFill>
                <a:srgbClr val="1B7A4E"/>
              </a:solidFill>
              <a:latin typeface="Calibri" panose="020F050202020403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68680" y="1956816"/>
            <a:ext cx="4937760" cy="841248"/>
          </a:xfrm>
          <a:prstGeom prst="roundRect">
            <a:avLst>
              <a:gd name="adj" fmla="val 10000"/>
            </a:avLst>
          </a:prstGeom>
          <a:solidFill>
            <a:srgbClr val="F4F9F6"/>
          </a:solidFill>
          <a:ln w="12700">
            <a:solidFill>
              <a:srgbClr val="E8F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64008" rIns="146304" bIns="6400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1B7A4E"/>
                </a:solidFill>
                <a:latin typeface="Calibri" panose="020F0502020204030204"/>
              </a:rPr>
              <a:t>Payback period</a:t>
            </a:r>
            <a:endParaRPr sz="1250" b="1" i="0">
              <a:solidFill>
                <a:srgbClr val="1B7A4E"/>
              </a:solidFill>
              <a:latin typeface="Calibri" panose="020F050202020403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E3B2E"/>
                </a:solidFill>
                <a:latin typeface="Calibri" panose="020F0502020204030204"/>
              </a:rPr>
              <a:t>17 months</a:t>
            </a:r>
            <a:endParaRPr sz="1450" b="1" i="0">
              <a:solidFill>
                <a:srgbClr val="0E3B2E"/>
              </a:solidFill>
              <a:latin typeface="Calibri" panose="020F050202020403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68680" y="2926080"/>
            <a:ext cx="4937760" cy="841248"/>
          </a:xfrm>
          <a:prstGeom prst="roundRect">
            <a:avLst>
              <a:gd name="adj" fmla="val 10000"/>
            </a:avLst>
          </a:prstGeom>
          <a:solidFill>
            <a:srgbClr val="F4F9F6"/>
          </a:solidFill>
          <a:ln w="12700">
            <a:solidFill>
              <a:srgbClr val="E8F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64008" rIns="146304" bIns="6400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1B7A4E"/>
                </a:solidFill>
                <a:latin typeface="Calibri" panose="020F0502020204030204"/>
              </a:rPr>
              <a:t>ROI Year 1</a:t>
            </a:r>
            <a:endParaRPr sz="1250" b="1" i="0">
              <a:solidFill>
                <a:srgbClr val="1B7A4E"/>
              </a:solidFill>
              <a:latin typeface="Calibri" panose="020F050202020403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E3B2E"/>
                </a:solidFill>
                <a:latin typeface="Calibri" panose="020F0502020204030204"/>
              </a:rPr>
              <a:t>71%</a:t>
            </a:r>
            <a:endParaRPr sz="1450" b="1" i="0">
              <a:solidFill>
                <a:srgbClr val="0E3B2E"/>
              </a:solidFill>
              <a:latin typeface="Calibri" panose="020F050202020403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68680" y="3895344"/>
            <a:ext cx="4937760" cy="841248"/>
          </a:xfrm>
          <a:prstGeom prst="roundRect">
            <a:avLst>
              <a:gd name="adj" fmla="val 10000"/>
            </a:avLst>
          </a:prstGeom>
          <a:solidFill>
            <a:srgbClr val="F4F9F6"/>
          </a:solidFill>
          <a:ln w="12700">
            <a:solidFill>
              <a:srgbClr val="E8F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64008" rIns="146304" bIns="6400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1B7A4E"/>
                </a:solidFill>
                <a:latin typeface="Calibri" panose="020F0502020204030204"/>
              </a:rPr>
              <a:t>5-year savings</a:t>
            </a:r>
            <a:endParaRPr sz="1250" b="1" i="0">
              <a:solidFill>
                <a:srgbClr val="1B7A4E"/>
              </a:solidFill>
              <a:latin typeface="Calibri" panose="020F050202020403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E3B2E"/>
                </a:solidFill>
                <a:latin typeface="Calibri" panose="020F0502020204030204"/>
              </a:rPr>
              <a:t>₦6,750,000 for our labs, infrastructure and scholarships.</a:t>
            </a:r>
            <a:endParaRPr sz="1450" b="1" i="0">
              <a:solidFill>
                <a:srgbClr val="0E3B2E"/>
              </a:solidFill>
              <a:latin typeface="Calibri" panose="020F0502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126480" y="1591056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B7A4E"/>
                </a:solidFill>
                <a:latin typeface="Calibri" panose="020F0502020204030204"/>
              </a:rPr>
              <a:t>Sustainability and leadership plan</a:t>
            </a:r>
            <a:endParaRPr sz="1500" b="1" i="0">
              <a:solidFill>
                <a:srgbClr val="1B7A4E"/>
              </a:solidFill>
              <a:latin typeface="Calibri" panose="020F05020202040302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126480" y="1956816"/>
            <a:ext cx="5212080" cy="3200400"/>
          </a:xfrm>
          <a:prstGeom prst="roundRect">
            <a:avLst>
              <a:gd name="adj" fmla="val 7000"/>
            </a:avLst>
          </a:prstGeom>
          <a:solidFill>
            <a:srgbClr val="F4F9F6"/>
          </a:solidFill>
          <a:ln w="12700">
            <a:solidFill>
              <a:srgbClr val="E8F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bIns="6400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A2B26"/>
                </a:solidFill>
                <a:latin typeface="Calibri" panose="020F0502020204030204"/>
              </a:rPr>
              <a:t>As the Head Girl of my college, I will sustain this innovation by:</a:t>
            </a:r>
            <a:endParaRPr sz="1250" b="0" i="0">
              <a:solidFill>
                <a:srgbClr val="1A2B26"/>
              </a:solidFill>
              <a:latin typeface="Calibri" panose="020F050202020403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E99A00"/>
                </a:solidFill>
                <a:latin typeface="Calibri" panose="020F0502020204030204"/>
              </a:rPr>
              <a:t>01</a:t>
            </a:r>
            <a:r>
              <a:rPr sz="1250" b="0" i="0">
                <a:solidFill>
                  <a:srgbClr val="1A2B26"/>
                </a:solidFill>
                <a:latin typeface="Calibri" panose="020F0502020204030204"/>
              </a:rPr>
              <a:t>   Organise 10 reliable students from our Green Club to manage its operations.</a:t>
            </a:r>
            <a:endParaRPr sz="1250" b="0" i="0">
              <a:solidFill>
                <a:srgbClr val="1A2B26"/>
              </a:solidFill>
              <a:latin typeface="Calibri" panose="020F050202020403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E99A00"/>
                </a:solidFill>
                <a:latin typeface="Calibri" panose="020F0502020204030204"/>
              </a:rPr>
              <a:t>02</a:t>
            </a:r>
            <a:r>
              <a:rPr sz="1250" b="0" i="0">
                <a:solidFill>
                  <a:srgbClr val="1A2B26"/>
                </a:solidFill>
                <a:latin typeface="Calibri" panose="020F0502020204030204"/>
              </a:rPr>
              <a:t>   Train two (2) juniors for continuity.</a:t>
            </a:r>
            <a:endParaRPr sz="1250" b="0" i="0">
              <a:solidFill>
                <a:srgbClr val="1A2B26"/>
              </a:solidFill>
              <a:latin typeface="Calibri" panose="020F050202020403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E99A00"/>
                </a:solidFill>
                <a:latin typeface="Calibri" panose="020F0502020204030204"/>
              </a:rPr>
              <a:t>03</a:t>
            </a:r>
            <a:r>
              <a:rPr sz="1250" b="0" i="0">
                <a:solidFill>
                  <a:srgbClr val="1A2B26"/>
                </a:solidFill>
                <a:latin typeface="Calibri" panose="020F0502020204030204"/>
              </a:rPr>
              <a:t>   Enhance scalability so more models can be replicated in other schools and communities.</a:t>
            </a:r>
            <a:endParaRPr sz="1250" b="0" i="0">
              <a:solidFill>
                <a:srgbClr val="1A2B26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128016" cy="713232"/>
          </a:xfrm>
          <a:prstGeom prst="roundRect">
            <a:avLst>
              <a:gd name="adj" fmla="val 50000"/>
            </a:avLst>
          </a:prstGeom>
          <a:solidFill>
            <a:srgbClr val="E9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65760"/>
            <a:ext cx="8778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B7A4E"/>
                </a:solidFill>
                <a:latin typeface="Calibri" panose="020F0502020204030204"/>
              </a:rPr>
              <a:t>THE SOLUTION</a:t>
            </a:r>
            <a:endParaRPr sz="1250" b="1" i="0">
              <a:solidFill>
                <a:srgbClr val="1B7A4E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68680" y="640080"/>
            <a:ext cx="103327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E3B2E"/>
                </a:solidFill>
                <a:latin typeface="Calibri" panose="020F0502020204030204"/>
              </a:rPr>
              <a:t>How My Smart Bioclean Biogas System (BSBS) Combats Air Pollution</a:t>
            </a:r>
            <a:endParaRPr sz="2500" b="1" i="0">
              <a:solidFill>
                <a:srgbClr val="0E3B2E"/>
              </a:solidFill>
              <a:latin typeface="Calibri" panose="020F050202020403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68680" y="1444752"/>
            <a:ext cx="10515600" cy="25603"/>
          </a:xfrm>
          <a:prstGeom prst="rect">
            <a:avLst/>
          </a:prstGeom>
          <a:solidFill>
            <a:srgbClr val="1B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28832" y="411480"/>
            <a:ext cx="658368" cy="658368"/>
          </a:xfrm>
          <a:prstGeom prst="ellipse">
            <a:avLst/>
          </a:prstGeom>
          <a:solidFill>
            <a:srgbClr val="0E3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 panose="020F0502020204030204"/>
              </a:rPr>
              <a:t>11</a:t>
            </a:r>
            <a:endParaRPr sz="17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8680" y="6473952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A6B66"/>
                </a:solidFill>
                <a:latin typeface="Calibri" panose="020F0502020204030204"/>
              </a:rPr>
              <a:t>BIOCLEAN SMART BIOGAS SYSTEM  ·  BSBS</a:t>
            </a:r>
            <a:endParaRPr sz="900" b="1" i="0">
              <a:solidFill>
                <a:srgbClr val="5A6B66"/>
              </a:solidFill>
              <a:latin typeface="Calibri" panose="020F05020202040302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68680" y="1591056"/>
            <a:ext cx="5120640" cy="960120"/>
          </a:xfrm>
          <a:prstGeom prst="roundRect">
            <a:avLst>
              <a:gd name="adj" fmla="val 8000"/>
            </a:avLst>
          </a:prstGeom>
          <a:solidFill>
            <a:srgbClr val="FBEAEA"/>
          </a:solidFill>
          <a:ln w="12700">
            <a:solidFill>
              <a:srgbClr val="B3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64008" rIns="146304" bIns="6400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B33A2E"/>
                </a:solidFill>
                <a:latin typeface="Calibri" panose="020F0502020204030204"/>
              </a:rPr>
              <a:t>BEFORE</a:t>
            </a:r>
            <a:endParaRPr sz="1200" b="1" i="0">
              <a:solidFill>
                <a:srgbClr val="B33A2E"/>
              </a:solidFill>
              <a:latin typeface="Calibri" panose="020F050202020403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A2B26"/>
                </a:solidFill>
                <a:latin typeface="Calibri" panose="020F0502020204030204"/>
              </a:rPr>
              <a:t>Waste burning  →  Smoke  →  Air pollution  →  Health problems</a:t>
            </a:r>
            <a:endParaRPr sz="1250" b="0" i="0">
              <a:solidFill>
                <a:srgbClr val="1A2B26"/>
              </a:solidFill>
              <a:latin typeface="Calibri" panose="020F050202020403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172200" y="1591056"/>
            <a:ext cx="5120640" cy="960120"/>
          </a:xfrm>
          <a:prstGeom prst="roundRect">
            <a:avLst>
              <a:gd name="adj" fmla="val 8000"/>
            </a:avLst>
          </a:prstGeom>
          <a:solidFill>
            <a:srgbClr val="E8F3EC"/>
          </a:solidFill>
          <a:ln w="12700">
            <a:solidFill>
              <a:srgbClr val="1B7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64008" rIns="146304" bIns="6400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B7A4E"/>
                </a:solidFill>
                <a:latin typeface="Calibri" panose="020F0502020204030204"/>
              </a:rPr>
              <a:t>AFTER</a:t>
            </a:r>
            <a:endParaRPr sz="1200" b="1" i="0">
              <a:solidFill>
                <a:srgbClr val="1B7A4E"/>
              </a:solidFill>
              <a:latin typeface="Calibri" panose="020F050202020403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A2B26"/>
                </a:solidFill>
                <a:latin typeface="Calibri" panose="020F0502020204030204"/>
              </a:rPr>
              <a:t>Waste collection  →  Biogas production  →  Clean energy  →  Cleaner environment</a:t>
            </a:r>
            <a:endParaRPr sz="1250" b="0" i="0">
              <a:solidFill>
                <a:srgbClr val="1A2B26"/>
              </a:solidFill>
              <a:latin typeface="Calibri" panose="020F050202020403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68680" y="2697480"/>
            <a:ext cx="5120640" cy="1261872"/>
          </a:xfrm>
          <a:prstGeom prst="roundRect">
            <a:avLst>
              <a:gd name="adj" fmla="val 10000"/>
            </a:avLst>
          </a:prstGeom>
          <a:solidFill>
            <a:srgbClr val="F4F9F6"/>
          </a:solidFill>
          <a:ln w="12700">
            <a:solidFill>
              <a:srgbClr val="E8F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64008" rIns="164592" bIns="6400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B7A4E"/>
                </a:solidFill>
                <a:latin typeface="Calibri" panose="020F0502020204030204"/>
              </a:rPr>
              <a:t>Health</a:t>
            </a:r>
            <a:endParaRPr sz="1350" b="1" i="0">
              <a:solidFill>
                <a:srgbClr val="1B7A4E"/>
              </a:solidFill>
              <a:latin typeface="Calibri" panose="020F050202020403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1A2B26"/>
                </a:solidFill>
                <a:latin typeface="Calibri" panose="020F0502020204030204"/>
              </a:rPr>
              <a:t>Biogas burns clean and releases no smoke, reducing risks from firewood, charcoal and generator fumes.</a:t>
            </a:r>
            <a:endParaRPr sz="1150" b="0" i="0">
              <a:solidFill>
                <a:srgbClr val="1A2B26"/>
              </a:solidFill>
              <a:latin typeface="Calibri" panose="020F050202020403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72200" y="2697480"/>
            <a:ext cx="5120640" cy="1261872"/>
          </a:xfrm>
          <a:prstGeom prst="roundRect">
            <a:avLst>
              <a:gd name="adj" fmla="val 10000"/>
            </a:avLst>
          </a:prstGeom>
          <a:solidFill>
            <a:srgbClr val="F4F9F6"/>
          </a:solidFill>
          <a:ln w="12700">
            <a:solidFill>
              <a:srgbClr val="E8F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64008" rIns="164592" bIns="6400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B7A4E"/>
                </a:solidFill>
                <a:latin typeface="Calibri" panose="020F0502020204030204"/>
              </a:rPr>
              <a:t>Economic</a:t>
            </a:r>
            <a:endParaRPr sz="1350" b="1" i="0">
              <a:solidFill>
                <a:srgbClr val="1B7A4E"/>
              </a:solidFill>
              <a:latin typeface="Calibri" panose="020F050202020403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1A2B26"/>
                </a:solidFill>
                <a:latin typeface="Calibri" panose="020F0502020204030204"/>
              </a:rPr>
              <a:t>Biogas comes from decomposing organic materials, so BSBS is affordable for most families and schools.</a:t>
            </a:r>
            <a:endParaRPr sz="1150" b="0" i="0">
              <a:solidFill>
                <a:srgbClr val="1A2B26"/>
              </a:solidFill>
              <a:latin typeface="Calibri" panose="020F0502020204030204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68680" y="4069080"/>
            <a:ext cx="5120640" cy="1261872"/>
          </a:xfrm>
          <a:prstGeom prst="roundRect">
            <a:avLst>
              <a:gd name="adj" fmla="val 10000"/>
            </a:avLst>
          </a:prstGeom>
          <a:solidFill>
            <a:srgbClr val="F4F9F6"/>
          </a:solidFill>
          <a:ln w="12700">
            <a:solidFill>
              <a:srgbClr val="E8F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64008" rIns="164592" bIns="6400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B7A4E"/>
                </a:solidFill>
                <a:latin typeface="Calibri" panose="020F0502020204030204"/>
              </a:rPr>
              <a:t>Agricultural</a:t>
            </a:r>
            <a:endParaRPr sz="1350" b="1" i="0">
              <a:solidFill>
                <a:srgbClr val="1B7A4E"/>
              </a:solidFill>
              <a:latin typeface="Calibri" panose="020F050202020403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1A2B26"/>
                </a:solidFill>
                <a:latin typeface="Calibri" panose="020F0502020204030204"/>
              </a:rPr>
              <a:t>The slurry residue is collected and dried, then sold to farmers — fostering agriculture.</a:t>
            </a:r>
            <a:endParaRPr sz="1150" b="0" i="0">
              <a:solidFill>
                <a:srgbClr val="1A2B26"/>
              </a:solidFill>
              <a:latin typeface="Calibri" panose="020F05020202040302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172200" y="4069080"/>
            <a:ext cx="5120640" cy="1261872"/>
          </a:xfrm>
          <a:prstGeom prst="roundRect">
            <a:avLst>
              <a:gd name="adj" fmla="val 10000"/>
            </a:avLst>
          </a:prstGeom>
          <a:solidFill>
            <a:srgbClr val="F4F9F6"/>
          </a:solidFill>
          <a:ln w="12700">
            <a:solidFill>
              <a:srgbClr val="E8F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64008" rIns="164592" bIns="6400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B7A4E"/>
                </a:solidFill>
                <a:latin typeface="Calibri" panose="020F0502020204030204"/>
              </a:rPr>
              <a:t>Social</a:t>
            </a:r>
            <a:endParaRPr sz="1350" b="1" i="0">
              <a:solidFill>
                <a:srgbClr val="1B7A4E"/>
              </a:solidFill>
              <a:latin typeface="Calibri" panose="020F050202020403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1A2B26"/>
                </a:solidFill>
                <a:latin typeface="Calibri" panose="020F0502020204030204"/>
              </a:rPr>
              <a:t>Students are no longer isolated or stigmatised; clean air for everyone, with BSBS in every home.</a:t>
            </a:r>
            <a:endParaRPr sz="1150" b="0" i="0">
              <a:solidFill>
                <a:srgbClr val="1A2B26"/>
              </a:solidFill>
              <a:latin typeface="Calibri" panose="020F0502020204030204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68680" y="5440680"/>
            <a:ext cx="5120640" cy="1261872"/>
          </a:xfrm>
          <a:prstGeom prst="roundRect">
            <a:avLst>
              <a:gd name="adj" fmla="val 10000"/>
            </a:avLst>
          </a:prstGeom>
          <a:solidFill>
            <a:srgbClr val="F4F9F6"/>
          </a:solidFill>
          <a:ln w="12700">
            <a:solidFill>
              <a:srgbClr val="E8F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64008" rIns="164592" bIns="6400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B7A4E"/>
                </a:solidFill>
                <a:latin typeface="Calibri" panose="020F0502020204030204"/>
              </a:rPr>
              <a:t>Environmental</a:t>
            </a:r>
            <a:endParaRPr sz="1350" b="1" i="0">
              <a:solidFill>
                <a:srgbClr val="1B7A4E"/>
              </a:solidFill>
              <a:latin typeface="Calibri" panose="020F050202020403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1A2B26"/>
                </a:solidFill>
                <a:latin typeface="Calibri" panose="020F0502020204030204"/>
              </a:rPr>
              <a:t>BSBS traps methane (a greenhouse gas) and offers an alternative to firewood and charcoal.</a:t>
            </a:r>
            <a:endParaRPr sz="1150" b="0" i="0">
              <a:solidFill>
                <a:srgbClr val="1A2B26"/>
              </a:solidFill>
              <a:latin typeface="Calibri" panose="020F050202020403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172200" y="5440680"/>
            <a:ext cx="5120640" cy="1261872"/>
          </a:xfrm>
          <a:prstGeom prst="roundRect">
            <a:avLst>
              <a:gd name="adj" fmla="val 10000"/>
            </a:avLst>
          </a:prstGeom>
          <a:solidFill>
            <a:srgbClr val="F4F9F6"/>
          </a:solidFill>
          <a:ln w="12700">
            <a:solidFill>
              <a:srgbClr val="E8F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64008" rIns="164592" bIns="6400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B7A4E"/>
                </a:solidFill>
                <a:latin typeface="Calibri" panose="020F0502020204030204"/>
              </a:rPr>
              <a:t>Transparency</a:t>
            </a:r>
            <a:endParaRPr sz="1350" b="1" i="0">
              <a:solidFill>
                <a:srgbClr val="1B7A4E"/>
              </a:solidFill>
              <a:latin typeface="Calibri" panose="020F050202020403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1A2B26"/>
                </a:solidFill>
                <a:latin typeface="Calibri" panose="020F0502020204030204"/>
              </a:rPr>
              <a:t>App-based monitoring ensures accountability.</a:t>
            </a:r>
            <a:endParaRPr sz="1150" b="0" i="0">
              <a:solidFill>
                <a:srgbClr val="1A2B26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128016" cy="713232"/>
          </a:xfrm>
          <a:prstGeom prst="roundRect">
            <a:avLst>
              <a:gd name="adj" fmla="val 50000"/>
            </a:avLst>
          </a:prstGeom>
          <a:solidFill>
            <a:srgbClr val="E9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65760"/>
            <a:ext cx="8778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B7A4E"/>
                </a:solidFill>
                <a:latin typeface="Calibri" panose="020F0502020204030204"/>
              </a:rPr>
              <a:t>THANK YOU</a:t>
            </a:r>
            <a:endParaRPr sz="1250" b="1" i="0">
              <a:solidFill>
                <a:srgbClr val="1B7A4E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68680" y="640080"/>
            <a:ext cx="103327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E3B2E"/>
                </a:solidFill>
                <a:latin typeface="Calibri" panose="020F0502020204030204"/>
              </a:rPr>
              <a:t>Conclusion and Gratitude</a:t>
            </a:r>
            <a:endParaRPr sz="3000" b="1" i="0">
              <a:solidFill>
                <a:srgbClr val="0E3B2E"/>
              </a:solidFill>
              <a:latin typeface="Calibri" panose="020F050202020403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68680" y="1444752"/>
            <a:ext cx="10515600" cy="25603"/>
          </a:xfrm>
          <a:prstGeom prst="rect">
            <a:avLst/>
          </a:prstGeom>
          <a:solidFill>
            <a:srgbClr val="1B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28832" y="411480"/>
            <a:ext cx="658368" cy="658368"/>
          </a:xfrm>
          <a:prstGeom prst="ellipse">
            <a:avLst/>
          </a:prstGeom>
          <a:solidFill>
            <a:srgbClr val="0E3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 panose="020F0502020204030204"/>
              </a:rPr>
              <a:t>12</a:t>
            </a:r>
            <a:endParaRPr sz="17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8680" y="6473952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A6B66"/>
                </a:solidFill>
                <a:latin typeface="Calibri" panose="020F0502020204030204"/>
              </a:rPr>
              <a:t>BIOCLEAN SMART BIOGAS SYSTEM  ·  BSBS</a:t>
            </a:r>
            <a:endParaRPr sz="900" b="1" i="0">
              <a:solidFill>
                <a:srgbClr val="5A6B66"/>
              </a:solidFill>
              <a:latin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68680" y="1572768"/>
            <a:ext cx="10424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7A4E"/>
                </a:solidFill>
                <a:latin typeface="Calibri" panose="020F0502020204030204"/>
              </a:rPr>
              <a:t>Bioclean Smart Biogas System (BSBS) — From Waste to Wealth: From Problem to Power.</a:t>
            </a:r>
            <a:endParaRPr sz="1600" b="1" i="0">
              <a:solidFill>
                <a:srgbClr val="1B7A4E"/>
              </a:solidFill>
              <a:latin typeface="Calibri" panose="020F050202020403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68680" y="2139696"/>
            <a:ext cx="5120640" cy="1298448"/>
          </a:xfrm>
          <a:prstGeom prst="roundRect">
            <a:avLst>
              <a:gd name="adj" fmla="val 8000"/>
            </a:avLst>
          </a:prstGeom>
          <a:solidFill>
            <a:srgbClr val="F4F9F6"/>
          </a:solidFill>
          <a:ln w="12700">
            <a:solidFill>
              <a:srgbClr val="E8F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64008" rIns="164592" bIns="6400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E99A00"/>
                </a:solidFill>
                <a:latin typeface="Calibri" panose="020F0502020204030204"/>
              </a:rPr>
              <a:t>01</a:t>
            </a:r>
            <a:r>
              <a:rPr sz="1350" b="1" i="0">
                <a:solidFill>
                  <a:srgbClr val="0E3B2E"/>
                </a:solidFill>
                <a:latin typeface="Calibri" panose="020F0502020204030204"/>
              </a:rPr>
              <a:t>   The problem is real</a:t>
            </a:r>
            <a:endParaRPr sz="1350" b="1" i="0">
              <a:solidFill>
                <a:srgbClr val="0E3B2E"/>
              </a:solidFill>
              <a:latin typeface="Calibri" panose="020F050202020403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1A2B26"/>
                </a:solidFill>
                <a:latin typeface="Calibri" panose="020F0502020204030204"/>
              </a:rPr>
              <a:t>300 students suffer daily from gas fumes; waste causes bad odour and ₦1.8m is wasted every year.</a:t>
            </a:r>
            <a:endParaRPr sz="1150" b="0" i="0">
              <a:solidFill>
                <a:srgbClr val="1A2B26"/>
              </a:solidFill>
              <a:latin typeface="Calibri" panose="020F050202020403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172200" y="2139696"/>
            <a:ext cx="5120640" cy="1298448"/>
          </a:xfrm>
          <a:prstGeom prst="roundRect">
            <a:avLst>
              <a:gd name="adj" fmla="val 8000"/>
            </a:avLst>
          </a:prstGeom>
          <a:solidFill>
            <a:srgbClr val="F4F9F6"/>
          </a:solidFill>
          <a:ln w="12700">
            <a:solidFill>
              <a:srgbClr val="E8F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64008" rIns="164592" bIns="6400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E99A00"/>
                </a:solidFill>
                <a:latin typeface="Calibri" panose="020F0502020204030204"/>
              </a:rPr>
              <a:t>02</a:t>
            </a:r>
            <a:r>
              <a:rPr sz="1350" b="1" i="0">
                <a:solidFill>
                  <a:srgbClr val="0E3B2E"/>
                </a:solidFill>
                <a:latin typeface="Calibri" panose="020F0502020204030204"/>
              </a:rPr>
              <a:t>   The solution works</a:t>
            </a:r>
            <a:endParaRPr sz="1350" b="1" i="0">
              <a:solidFill>
                <a:srgbClr val="0E3B2E"/>
              </a:solidFill>
              <a:latin typeface="Calibri" panose="020F050202020403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1A2B26"/>
                </a:solidFill>
                <a:latin typeface="Calibri" panose="020F0502020204030204"/>
              </a:rPr>
              <a:t>Biogas turns our biggest problem into our biggest asset: clean cooking, clean hostels, plus ₦1.8m net gain every year.</a:t>
            </a:r>
            <a:endParaRPr sz="1150" b="0" i="0">
              <a:solidFill>
                <a:srgbClr val="1A2B26"/>
              </a:solidFill>
              <a:latin typeface="Calibri" panose="020F050202020403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68680" y="3529584"/>
            <a:ext cx="5120640" cy="1298448"/>
          </a:xfrm>
          <a:prstGeom prst="roundRect">
            <a:avLst>
              <a:gd name="adj" fmla="val 8000"/>
            </a:avLst>
          </a:prstGeom>
          <a:solidFill>
            <a:srgbClr val="F4F9F6"/>
          </a:solidFill>
          <a:ln w="12700">
            <a:solidFill>
              <a:srgbClr val="E8F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64008" rIns="164592" bIns="6400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E99A00"/>
                </a:solidFill>
                <a:latin typeface="Calibri" panose="020F0502020204030204"/>
              </a:rPr>
              <a:t>03</a:t>
            </a:r>
            <a:r>
              <a:rPr sz="1350" b="1" i="0">
                <a:solidFill>
                  <a:srgbClr val="0E3B2E"/>
                </a:solidFill>
                <a:latin typeface="Calibri" panose="020F0502020204030204"/>
              </a:rPr>
              <a:t>   The plan is ready</a:t>
            </a:r>
            <a:endParaRPr sz="1350" b="1" i="0">
              <a:solidFill>
                <a:srgbClr val="0E3B2E"/>
              </a:solidFill>
              <a:latin typeface="Calibri" panose="020F050202020403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1A2B26"/>
                </a:solidFill>
                <a:latin typeface="Calibri" panose="020F0502020204030204"/>
              </a:rPr>
              <a:t>₦2.65m total cost: ₦1m from LILAN, ₦1.65m from partners; 17-month payback and 15 years of impact.</a:t>
            </a:r>
            <a:endParaRPr sz="1150" b="0" i="0">
              <a:solidFill>
                <a:srgbClr val="1A2B26"/>
              </a:solidFill>
              <a:latin typeface="Calibri" panose="020F0502020204030204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172200" y="3529584"/>
            <a:ext cx="5120640" cy="1298448"/>
          </a:xfrm>
          <a:prstGeom prst="roundRect">
            <a:avLst>
              <a:gd name="adj" fmla="val 8000"/>
            </a:avLst>
          </a:prstGeom>
          <a:solidFill>
            <a:srgbClr val="F4F9F6"/>
          </a:solidFill>
          <a:ln w="12700">
            <a:solidFill>
              <a:srgbClr val="E8F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64008" rIns="164592" bIns="6400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E99A00"/>
                </a:solidFill>
                <a:latin typeface="Calibri" panose="020F0502020204030204"/>
              </a:rPr>
              <a:t>04</a:t>
            </a:r>
            <a:r>
              <a:rPr sz="1350" b="1" i="0">
                <a:solidFill>
                  <a:srgbClr val="0E3B2E"/>
                </a:solidFill>
                <a:latin typeface="Calibri" panose="020F0502020204030204"/>
              </a:rPr>
              <a:t>   The leadership is here</a:t>
            </a:r>
            <a:endParaRPr sz="1350" b="1" i="0">
              <a:solidFill>
                <a:srgbClr val="0E3B2E"/>
              </a:solidFill>
              <a:latin typeface="Calibri" panose="020F050202020403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1A2B26"/>
                </a:solidFill>
                <a:latin typeface="Calibri" panose="020F0502020204030204"/>
              </a:rPr>
              <a:t>With the BSBS Green Club and annual training, this impact will outlive me and inspire other schools in Enugu.</a:t>
            </a:r>
            <a:endParaRPr sz="1150" b="0" i="0">
              <a:solidFill>
                <a:srgbClr val="1A2B26"/>
              </a:solidFill>
              <a:latin typeface="Calibri" panose="020F0502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68680" y="5029200"/>
            <a:ext cx="10424160" cy="137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E3B2E"/>
                </a:solidFill>
                <a:latin typeface="Calibri" panose="020F0502020204030204"/>
              </a:rPr>
              <a:t>Invest ₦1,000,000 in me today. In return, LILAN gets a national model of student-led climate action that saves money, saves the planet and saves lives.</a:t>
            </a:r>
            <a:endParaRPr sz="1400" b="1" i="0">
              <a:solidFill>
                <a:srgbClr val="0E3B2E"/>
              </a:solidFill>
              <a:latin typeface="Calibri" panose="020F0502020204030204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A2B26"/>
                </a:solidFill>
                <a:latin typeface="Calibri" panose="020F0502020204030204"/>
              </a:rPr>
              <a:t>This is not just a project — this is my legacy.</a:t>
            </a:r>
            <a:endParaRPr sz="1350" b="0" i="0">
              <a:solidFill>
                <a:srgbClr val="1A2B26"/>
              </a:solidFill>
              <a:latin typeface="Calibri" panose="020F0502020204030204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7A4E"/>
                </a:solidFill>
                <a:latin typeface="Calibri" panose="020F0502020204030204"/>
              </a:rPr>
              <a:t>Let’s Breathe In Clean Air together.</a:t>
            </a:r>
            <a:endParaRPr sz="1600" b="1" i="0">
              <a:solidFill>
                <a:srgbClr val="1B7A4E"/>
              </a:solidFill>
              <a:latin typeface="Calibri" panose="020F0502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68680" y="5989320"/>
            <a:ext cx="10424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B66"/>
                </a:solidFill>
                <a:latin typeface="Calibri" panose="020F0502020204030204"/>
              </a:rPr>
              <a:t>Thank you, LILAN, for this opportunity to change my school, community, nation, continent and the whole world.</a:t>
            </a:r>
            <a:endParaRPr sz="1200" b="0" i="0">
              <a:solidFill>
                <a:srgbClr val="5A6B66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7170</Words>
  <Application>WPS Presentation</Application>
  <PresentationFormat>On-screen Show (4:3)</PresentationFormat>
  <Paragraphs>301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0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akach</cp:lastModifiedBy>
  <cp:revision>2</cp:revision>
  <dcterms:created xsi:type="dcterms:W3CDTF">2013-01-27T09:14:00Z</dcterms:created>
  <dcterms:modified xsi:type="dcterms:W3CDTF">2026-09-10T23:22:14Z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6E2AC3D6F4D240F1A0E2462DC4AED790_12</vt:lpwstr>
  </property>
  <property fmtid="{D5CDD505-2E9C-101B-9397-08002B2CF9AE}" pid="3" name="KSOProductBuildVer">
    <vt:lpwstr>2057-12.2.0.23206</vt:lpwstr>
  </property>
</Properties>
</file>